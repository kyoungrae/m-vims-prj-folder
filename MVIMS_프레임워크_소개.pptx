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43"/>
    <p:restoredTop sz="79302"/>
  </p:normalViewPr>
  <p:slideViewPr>
    <p:cSldViewPr snapToGrid="0" snapToObjects="1">
      <p:cViewPr varScale="1">
        <p:scale>
          <a:sx n="110" d="100"/>
          <a:sy n="110" d="100"/>
        </p:scale>
        <p:origin x="23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937983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오늘은 저희가 운영하는 MVIMS, 차량 검사 관리 시스템의 기술적 뼈대인 '프레임워크'를 보고드리겠습니다.
어려운 기술 용어보다는, 이 구조가 회사에 어떤 이익을 주는지에 초점을 맞추겠습니다. 핵심은 세 가지입니다. 개발 효율과 비용 절감, 보안과 안정성, 그리고 확장성. 이 세 가지를 기억하시면서 들어주시면 됩니다.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말씀드릴 순서입니다. 먼저 시스템이 무엇인지 한눈에 보고, 그 중심인 'Core'의 역할을 설명드립니다. 이어서 보안과 안정성, 각 업무 모듈과 파일 관리, 확장성, 그리고 마지막으로 회사가 얻는 실질적 효과를 정리하겠습니다.
전체적으로 '하나를 잘 만들어 여러 곳이 함께 쓴다'는 한 가지 흐름으로 이어집니다.
(약 30초)</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MVIMS를 쉽게 비유하면 '잘 지어진 건물'입니다. 튼튼한 기초와 골조가 'Core'이고, 그 위에 로그인·접수·검사·관리 같은 사무실, 즉 각 업무 서비스가 들어섭니다.
중요한 점은, 전기나 수도처럼 모든 사무실이 공통으로 쓰는 것 — 보안, 데이터 처리 같은 기능을 건물 전체가 함께 쓴다는 겁니다. 기초가 튼튼하니 </a:t>
            </a:r>
            <a:r>
              <a:rPr lang="en-US" dirty="0" err="1"/>
              <a:t>새</a:t>
            </a:r>
            <a:r>
              <a:rPr lang="en-US" dirty="0"/>
              <a:t> </a:t>
            </a:r>
            <a:r>
              <a:rPr lang="en-US" dirty="0" err="1"/>
              <a:t>사무실</a:t>
            </a:r>
            <a:r>
              <a:rPr lang="ko-KR" altLang="en-US" dirty="0"/>
              <a:t> 즉 새로운 서비스를</a:t>
            </a:r>
            <a:r>
              <a:rPr lang="en-US" dirty="0"/>
              <a:t> 올리기도 쉽습니다.
(약 45초)</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시스템의 가장 중요한 개념입니다. 'Core'는 모든 서비스의 공용 엔진입니다. 보안·데이터 처리·기록 같은 공통 기능을 Core에 딱 한 번만 만들어두면, 6개 서비스가 그대로 가져다 씁니다.
</a:t>
            </a:r>
            <a:r>
              <a:rPr lang="ko-KR" altLang="en-US" dirty="0"/>
              <a:t>왼쪽</a:t>
            </a:r>
            <a:r>
              <a:rPr lang="en-US" dirty="0" err="1"/>
              <a:t>을</a:t>
            </a:r>
            <a:r>
              <a:rPr lang="en-US" dirty="0"/>
              <a:t> 보시면, 예전 방식은 서비스마다 따로 만들어 제각각이고 고칠 때 일일이 손봐야 했습니다. MVIMS 방식은 한 곳만 고치면 전체에 반영됩니다. 이것이 비용과 품질의 차이를 만듭니다.
(약 50초)</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구조입니다. 사용자가 접속하면 먼저 'Gateway'라는 관문을 통과합니다. 여기서 신원을 확인한 뒤 알맞은 업무 서비스로 연결됩니다.
로그인, 파일관리, 시스템관리, 접수, 검사 등 여섯 개 서비스가 각자 일을 하지만, 화면 아래쪽 'Core 라이브러리'라는 공통 토대를 모두 함께 사용합니다. 복잡해 보여도 핵심은 '관문 하나, 공통 토대 하나' 입니다.
(약 45초)</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Core는 구체적으로 무슨 일을 하느냐. 크게 네 가지입니다.
첫째 인증과 보안, 즉 아무나 못 들어오게 막는 역할. 둘째 조회·등록·수정·삭제 같은 공통 업무 기능. 셋째 데이터를 자동으로 정리해주는 처리. 넷째 누가 무엇을 했는지 남기는 기록과 운영 관리입니다.
다음 장부터 이 네 가지를 하나씩 보겠습니다.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보안입니다. 로그인을 하면 위·변조가 불가능한 '디지털 출입증'을 발급하고, 요청이 올 때마다 이 출입증을 자동으로 확인합니다.
또한 권한을 일반·관리자·매니저로 나누고, 조회·등록·수정·삭제까지 세분화해 딱 필요한 만큼만 접근을 허용합니다. 비밀번호 규칙도 시스템이 강제하고, 모든 접근이 관문 한 곳을 지나므로 통제가 일원화돼 있습니다. 안심하셔도 됩니다.
(약 50초)</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보안과 연결되는 기록 기능입니다. 누군가 데이터를 등록·수정·삭제하면, 그리고 시스템에 접속하면, Core가 그 이력을 자동으로 남깁니다.
담당자가 따로 신경 쓰지 않아도 시스템이 빠짐없이 기록하기 때문에, 혹시 문제가 생겼을 때 '누가 언제 무엇을 했는지'를 즉시 확인할 수 있습니다. 사고 대응과 책임 소재 확인이 명확해진다는 점이 핵심입니다.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Core의 두 번째 역할, 공통 업무 기능입니다. 어떤 시스템이든 결국 정보를 '찾고, 넣고, 고치고, 지우는' 네 가지가 기본입니다. Core가 이 표준 골격을 미리 제공합니다.
그래서 새 서비스를 만들 때 처음부터 짜지 않고 가져다 쓰니 개발이 빨라지고, 모두 같은 방식으로 동작하니 일관성이 높고 오류가 줄며, 결국 중복 개발이 사라져 비용이 절감됩니다.
(약 45초)</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역할, 데이터 자동 정리입니다. 표를 보시면 왼쪽은 사람이 입력한 원본, 오른쪽은 시스템이 자동으로 바꿔준 결과입니다.
주민번호·전화번호에 하이픈을 넣고, 금액에 콤마를 찍고, 날짜 형식을 맞추는 일을 사람이 일일이 하지 않아도 됩니다. 이런 자잘한 작업이 사실 실수와 데이터 불일치의 주된 원인인데, Core가 알아서 통일해주니 품질이 올라갑니다.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 업무 모듈입니다. 업무 성격에 따라 여섯 개로 나눴습니다. 관문 역할의 Gateway, 로그인, 파일관리 FMS, 시스템관리, 접수, 그리고 차량 검사입니다.
나눠 놓은 이유는, 한 곳에 문제가 생겨도 전체가 멈추지 않고, 각각을 따로 개선할 수 있기 때문입니다. 그러면서도 앞서 말씀드린 Core는 모두가 똑같이 공유합니다.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모듈 중 파일관리시스템, FMS를 조금 더 보겠습니다. 문서나 엑셀 같은 파일을 받아서 검증·처리하고, 체계적으로 보관했다가 필요할 때 다시 꺼내 쓰는 흐름입니다.
특히 엑셀을 올리면 대량 데이터를 한 번에 읽어 처리할 수 있어, 손으로 하나씩 입력하는 수고를 덜어줍니다. 파일 처리를 별도 서비스로 분리해 안정적이고, 보안과 기록 기능은 역시 Core를 그대로 씁니다.
(약 45초)</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미래는 어떠냐. 새로운 업무가 생기면 기존 시스템을 건드리지 않고 모듈만 새로 끼워 넣으면 됩니다. 위험 없이 확장할 수 있습니다.
새 모듈도 보안·공통기능을 Core에서 바로 물려받으니 빠르게, 안정적으로 출시됩니다. 또 데이터가 쌓이는 표는 매일 새벽 시스템이 자동으로 정비해, 시간이 지나도 속도가 느려지지 않습니다. 한마디로 '커져도 흔들리지 않는' 구조입니다.
(약 45초)</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이 기술적 선택이 회사에 주는 효과는 세 가지입니다.
첫째 개발 효율과 비용 절감 — 공통 기능을 한 번만 만들어 재사용하니 시간과 인건비가 줄어듭니다. 둘째 품질과 표준화 — 모든 서비스가 같은 규칙으로 동작해 오류가 적고 유지보수가 쉽습니다. 셋째 확장성 — 새 업무를 빠르게 흡수해 사업 변화에 신속히 대응합니다.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마무리하겠습니다. MVIMS는 'Core'라는 하나의 공용 토대 위에 업무 서비스를 쌓는 구조입니다. 보안과 공통 기능은 한 번 만들어 모두가 함께 쓰고, 새 업무는 모듈 추가만으로 흡수합니다.
이것이 곧 더 낮은 비용, 더 높은 품질, 더 유연한 성장으로 이어집니다. 이상으로 발표를 마치겠습니다. 질문 있으시면 편하게 말씀해 주십시오. 감사합니다.
(약 30초)</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F45"/>
        </a:solidFill>
        <a:effectLst/>
      </p:bgPr>
    </p:bg>
    <p:spTree>
      <p:nvGrpSpPr>
        <p:cNvPr id="1" name=""/>
        <p:cNvGrpSpPr/>
        <p:nvPr/>
      </p:nvGrpSpPr>
      <p:grpSpPr>
        <a:xfrm>
          <a:off x="0" y="0"/>
          <a:ext cx="0" cy="0"/>
          <a:chOff x="0" y="0"/>
          <a:chExt cx="0" cy="0"/>
        </a:xfrm>
      </p:grpSpPr>
      <p:sp>
        <p:nvSpPr>
          <p:cNvPr id="2" name="Shape 0"/>
          <p:cNvSpPr/>
          <p:nvPr/>
        </p:nvSpPr>
        <p:spPr>
          <a:xfrm>
            <a:off x="8869680" y="-1920240"/>
            <a:ext cx="5120640" cy="5120640"/>
          </a:xfrm>
          <a:prstGeom prst="ellipse">
            <a:avLst/>
          </a:prstGeom>
          <a:solidFill>
            <a:srgbClr val="14264F"/>
          </a:solidFill>
          <a:ln/>
        </p:spPr>
      </p:sp>
      <p:sp>
        <p:nvSpPr>
          <p:cNvPr id="3" name="Shape 1"/>
          <p:cNvSpPr/>
          <p:nvPr/>
        </p:nvSpPr>
        <p:spPr>
          <a:xfrm>
            <a:off x="10149840" y="3840480"/>
            <a:ext cx="4023360" cy="4023360"/>
          </a:xfrm>
          <a:prstGeom prst="ellipse">
            <a:avLst/>
          </a:prstGeom>
          <a:solidFill>
            <a:srgbClr val="1D4ED8">
              <a:alpha val="22000"/>
            </a:srgbClr>
          </a:solidFill>
          <a:ln/>
        </p:spPr>
      </p:sp>
      <p:sp>
        <p:nvSpPr>
          <p:cNvPr id="4" name="Shape 2"/>
          <p:cNvSpPr/>
          <p:nvPr/>
        </p:nvSpPr>
        <p:spPr>
          <a:xfrm>
            <a:off x="502920" y="1874520"/>
            <a:ext cx="566928" cy="91440"/>
          </a:xfrm>
          <a:prstGeom prst="rect">
            <a:avLst/>
          </a:prstGeom>
          <a:solidFill>
            <a:srgbClr val="F4B740"/>
          </a:solidFill>
          <a:ln/>
        </p:spPr>
      </p:sp>
      <p:sp>
        <p:nvSpPr>
          <p:cNvPr id="5" name="Text 3"/>
          <p:cNvSpPr/>
          <p:nvPr/>
        </p:nvSpPr>
        <p:spPr>
          <a:xfrm>
            <a:off x="502920" y="1371600"/>
            <a:ext cx="7315200" cy="365760"/>
          </a:xfrm>
          <a:prstGeom prst="rect">
            <a:avLst/>
          </a:prstGeom>
          <a:noFill/>
          <a:ln/>
        </p:spPr>
        <p:txBody>
          <a:bodyPr wrap="square" rtlCol="0" anchor="ctr"/>
          <a:lstStyle/>
          <a:p>
            <a:pPr marL="0" indent="0">
              <a:buNone/>
            </a:pPr>
            <a:r>
              <a:rPr lang="en-US" sz="1300" b="1" kern="0" spc="200" dirty="0">
                <a:solidFill>
                  <a:srgbClr val="3B82F6"/>
                </a:solidFill>
                <a:latin typeface="맑은 고딕" pitchFamily="34" charset="0"/>
                <a:ea typeface="맑은 고딕" pitchFamily="34" charset="-122"/>
                <a:cs typeface="맑은 고딕" pitchFamily="34" charset="-120"/>
              </a:rPr>
              <a:t>내부 기술 발표 자료</a:t>
            </a:r>
            <a:endParaRPr lang="en-US" sz="1300" dirty="0"/>
          </a:p>
        </p:txBody>
      </p:sp>
      <p:sp>
        <p:nvSpPr>
          <p:cNvPr id="6" name="Text 4"/>
          <p:cNvSpPr/>
          <p:nvPr/>
        </p:nvSpPr>
        <p:spPr>
          <a:xfrm>
            <a:off x="457200" y="2057400"/>
            <a:ext cx="10972800" cy="914400"/>
          </a:xfrm>
          <a:prstGeom prst="rect">
            <a:avLst/>
          </a:prstGeom>
          <a:noFill/>
          <a:ln/>
        </p:spPr>
        <p:txBody>
          <a:bodyPr wrap="square" rtlCol="0" anchor="ctr"/>
          <a:lstStyle/>
          <a:p>
            <a:pPr marL="0" indent="0">
              <a:buNone/>
            </a:pPr>
            <a:r>
              <a:rPr lang="en-US" sz="4800" b="1" dirty="0">
                <a:solidFill>
                  <a:srgbClr val="FFFFFF"/>
                </a:solidFill>
                <a:latin typeface="맑은 고딕" pitchFamily="34" charset="0"/>
                <a:ea typeface="맑은 고딕" pitchFamily="34" charset="-122"/>
                <a:cs typeface="맑은 고딕" pitchFamily="34" charset="-120"/>
              </a:rPr>
              <a:t>MVIMS 통합 프레임워크</a:t>
            </a:r>
            <a:endParaRPr lang="en-US" sz="4800" dirty="0"/>
          </a:p>
        </p:txBody>
      </p:sp>
      <p:sp>
        <p:nvSpPr>
          <p:cNvPr id="7" name="Text 5"/>
          <p:cNvSpPr/>
          <p:nvPr/>
        </p:nvSpPr>
        <p:spPr>
          <a:xfrm>
            <a:off x="502920" y="3063240"/>
            <a:ext cx="10972800" cy="548640"/>
          </a:xfrm>
          <a:prstGeom prst="rect">
            <a:avLst/>
          </a:prstGeom>
          <a:noFill/>
          <a:ln/>
        </p:spPr>
        <p:txBody>
          <a:bodyPr wrap="square" rtlCol="0" anchor="ctr"/>
          <a:lstStyle/>
          <a:p>
            <a:pPr marL="0" indent="0">
              <a:buNone/>
            </a:pPr>
            <a:r>
              <a:rPr lang="en-US" sz="2400" dirty="0">
                <a:solidFill>
                  <a:srgbClr val="DBE7FB"/>
                </a:solidFill>
                <a:latin typeface="맑은 고딕" pitchFamily="34" charset="0"/>
                <a:ea typeface="맑은 고딕" pitchFamily="34" charset="-122"/>
                <a:cs typeface="맑은 고딕" pitchFamily="34" charset="-120"/>
              </a:rPr>
              <a:t>Core 라이브러리 기반의 차량 검사 관리 시스템</a:t>
            </a:r>
            <a:endParaRPr lang="en-US" sz="2400" dirty="0"/>
          </a:p>
        </p:txBody>
      </p:sp>
      <p:sp>
        <p:nvSpPr>
          <p:cNvPr id="8" name="Text 6"/>
          <p:cNvSpPr/>
          <p:nvPr/>
        </p:nvSpPr>
        <p:spPr>
          <a:xfrm>
            <a:off x="521208" y="3886200"/>
            <a:ext cx="10515600" cy="457200"/>
          </a:xfrm>
          <a:prstGeom prst="rect">
            <a:avLst/>
          </a:prstGeom>
          <a:noFill/>
          <a:ln/>
        </p:spPr>
        <p:txBody>
          <a:bodyPr wrap="square" rtlCol="0" anchor="ctr"/>
          <a:lstStyle/>
          <a:p>
            <a:pPr marL="0" indent="0">
              <a:buNone/>
            </a:pPr>
            <a:r>
              <a:rPr lang="en-US" sz="1500" dirty="0">
                <a:solidFill>
                  <a:srgbClr val="B9C9E6"/>
                </a:solidFill>
                <a:latin typeface="맑은 고딕" pitchFamily="34" charset="0"/>
                <a:ea typeface="맑은 고딕" pitchFamily="34" charset="-122"/>
                <a:cs typeface="맑은 고딕" pitchFamily="34" charset="-120"/>
              </a:rPr>
              <a:t>하나의 토대(Core)로 모든 서비스를 — 더 빠르게, 더 안전하게, 더 일관되게</a:t>
            </a:r>
            <a:endParaRPr lang="en-US" sz="1500" dirty="0"/>
          </a:p>
        </p:txBody>
      </p:sp>
      <p:sp>
        <p:nvSpPr>
          <p:cNvPr id="9" name="Shape 7"/>
          <p:cNvSpPr/>
          <p:nvPr/>
        </p:nvSpPr>
        <p:spPr>
          <a:xfrm>
            <a:off x="502920" y="4892040"/>
            <a:ext cx="2478024" cy="457200"/>
          </a:xfrm>
          <a:prstGeom prst="roundRect">
            <a:avLst>
              <a:gd name="adj" fmla="val 50000"/>
            </a:avLst>
          </a:prstGeom>
          <a:solidFill>
            <a:srgbClr val="14264F"/>
          </a:solidFill>
          <a:ln w="12700">
            <a:solidFill>
              <a:srgbClr val="3B82F6"/>
            </a:solidFill>
            <a:prstDash val="solid"/>
          </a:ln>
        </p:spPr>
      </p:sp>
      <p:sp>
        <p:nvSpPr>
          <p:cNvPr id="10" name="Text 8"/>
          <p:cNvSpPr/>
          <p:nvPr/>
        </p:nvSpPr>
        <p:spPr>
          <a:xfrm>
            <a:off x="502920" y="4892040"/>
            <a:ext cx="2478024" cy="457200"/>
          </a:xfrm>
          <a:prstGeom prst="rect">
            <a:avLst/>
          </a:prstGeom>
          <a:noFill/>
          <a:ln/>
        </p:spPr>
        <p:txBody>
          <a:bodyPr wrap="square" rtlCol="0" anchor="ctr"/>
          <a:lstStyle/>
          <a:p>
            <a:pPr marL="0" indent="0" algn="ctr">
              <a:buNone/>
            </a:pPr>
            <a:r>
              <a:rPr lang="en-US" sz="1250" dirty="0">
                <a:solidFill>
                  <a:srgbClr val="DBE7FB"/>
                </a:solidFill>
                <a:latin typeface="맑은 고딕" pitchFamily="34" charset="0"/>
                <a:ea typeface="맑은 고딕" pitchFamily="34" charset="-122"/>
                <a:cs typeface="맑은 고딕" pitchFamily="34" charset="-120"/>
              </a:rPr>
              <a:t>개발 효율·비용 절감</a:t>
            </a:r>
            <a:endParaRPr lang="en-US" sz="1250" dirty="0"/>
          </a:p>
        </p:txBody>
      </p:sp>
      <p:sp>
        <p:nvSpPr>
          <p:cNvPr id="11" name="Shape 9"/>
          <p:cNvSpPr/>
          <p:nvPr/>
        </p:nvSpPr>
        <p:spPr>
          <a:xfrm>
            <a:off x="3209544" y="4892040"/>
            <a:ext cx="1517904" cy="457200"/>
          </a:xfrm>
          <a:prstGeom prst="roundRect">
            <a:avLst>
              <a:gd name="adj" fmla="val 50000"/>
            </a:avLst>
          </a:prstGeom>
          <a:solidFill>
            <a:srgbClr val="14264F"/>
          </a:solidFill>
          <a:ln w="12700">
            <a:solidFill>
              <a:srgbClr val="3B82F6"/>
            </a:solidFill>
            <a:prstDash val="solid"/>
          </a:ln>
        </p:spPr>
      </p:sp>
      <p:sp>
        <p:nvSpPr>
          <p:cNvPr id="12" name="Text 10"/>
          <p:cNvSpPr/>
          <p:nvPr/>
        </p:nvSpPr>
        <p:spPr>
          <a:xfrm>
            <a:off x="3209544" y="4892040"/>
            <a:ext cx="1517904" cy="457200"/>
          </a:xfrm>
          <a:prstGeom prst="rect">
            <a:avLst/>
          </a:prstGeom>
          <a:noFill/>
          <a:ln/>
        </p:spPr>
        <p:txBody>
          <a:bodyPr wrap="square" rtlCol="0" anchor="ctr"/>
          <a:lstStyle/>
          <a:p>
            <a:pPr marL="0" indent="0" algn="ctr">
              <a:buNone/>
            </a:pPr>
            <a:r>
              <a:rPr lang="en-US" sz="1250" dirty="0">
                <a:solidFill>
                  <a:srgbClr val="DBE7FB"/>
                </a:solidFill>
                <a:latin typeface="맑은 고딕" pitchFamily="34" charset="0"/>
                <a:ea typeface="맑은 고딕" pitchFamily="34" charset="-122"/>
                <a:cs typeface="맑은 고딕" pitchFamily="34" charset="-120"/>
              </a:rPr>
              <a:t>보안·안정성</a:t>
            </a:r>
            <a:endParaRPr lang="en-US" sz="1250" dirty="0"/>
          </a:p>
        </p:txBody>
      </p:sp>
      <p:sp>
        <p:nvSpPr>
          <p:cNvPr id="13" name="Shape 11"/>
          <p:cNvSpPr/>
          <p:nvPr/>
        </p:nvSpPr>
        <p:spPr>
          <a:xfrm>
            <a:off x="4956048" y="4892040"/>
            <a:ext cx="2093976" cy="457200"/>
          </a:xfrm>
          <a:prstGeom prst="roundRect">
            <a:avLst>
              <a:gd name="adj" fmla="val 50000"/>
            </a:avLst>
          </a:prstGeom>
          <a:solidFill>
            <a:srgbClr val="14264F"/>
          </a:solidFill>
          <a:ln w="12700">
            <a:solidFill>
              <a:srgbClr val="3B82F6"/>
            </a:solidFill>
            <a:prstDash val="solid"/>
          </a:ln>
        </p:spPr>
      </p:sp>
      <p:sp>
        <p:nvSpPr>
          <p:cNvPr id="14" name="Text 12"/>
          <p:cNvSpPr/>
          <p:nvPr/>
        </p:nvSpPr>
        <p:spPr>
          <a:xfrm>
            <a:off x="4956048" y="4892040"/>
            <a:ext cx="2093976" cy="457200"/>
          </a:xfrm>
          <a:prstGeom prst="rect">
            <a:avLst/>
          </a:prstGeom>
          <a:noFill/>
          <a:ln/>
        </p:spPr>
        <p:txBody>
          <a:bodyPr wrap="square" rtlCol="0" anchor="ctr"/>
          <a:lstStyle/>
          <a:p>
            <a:pPr marL="0" indent="0" algn="ctr">
              <a:buNone/>
            </a:pPr>
            <a:r>
              <a:rPr lang="en-US" sz="1250" dirty="0">
                <a:solidFill>
                  <a:srgbClr val="DBE7FB"/>
                </a:solidFill>
                <a:latin typeface="맑은 고딕" pitchFamily="34" charset="0"/>
                <a:ea typeface="맑은 고딕" pitchFamily="34" charset="-122"/>
                <a:cs typeface="맑은 고딕" pitchFamily="34" charset="-120"/>
              </a:rPr>
              <a:t>확장성·미래 대응</a:t>
            </a:r>
            <a:endParaRPr lang="en-US" sz="1250" dirty="0"/>
          </a:p>
        </p:txBody>
      </p:sp>
      <p:sp>
        <p:nvSpPr>
          <p:cNvPr id="15" name="Text 13"/>
          <p:cNvSpPr/>
          <p:nvPr/>
        </p:nvSpPr>
        <p:spPr>
          <a:xfrm>
            <a:off x="502920" y="5989320"/>
            <a:ext cx="10058400" cy="365760"/>
          </a:xfrm>
          <a:prstGeom prst="rect">
            <a:avLst/>
          </a:prstGeom>
          <a:noFill/>
          <a:ln/>
        </p:spPr>
        <p:txBody>
          <a:bodyPr wrap="square" rtlCol="0" anchor="ctr"/>
          <a:lstStyle/>
          <a:p>
            <a:pPr marL="0" indent="0">
              <a:buNone/>
            </a:pPr>
            <a:r>
              <a:rPr lang="en-US" sz="1200" dirty="0">
                <a:solidFill>
                  <a:srgbClr val="8FA6CC"/>
                </a:solidFill>
                <a:latin typeface="맑은 고딕" pitchFamily="34" charset="0"/>
                <a:ea typeface="맑은 고딕" pitchFamily="34" charset="-122"/>
                <a:cs typeface="맑은 고딕" pitchFamily="34" charset="-120"/>
              </a:rPr>
              <a:t>발표 대상: 사장님 · 부사장님 및 임직원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AGENDA</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오늘 말씀드릴 내용</a:t>
            </a:r>
            <a:endParaRPr lang="en-US" sz="3000" dirty="0"/>
          </a:p>
        </p:txBody>
      </p:sp>
      <p:sp>
        <p:nvSpPr>
          <p:cNvPr id="4" name="Shape 2"/>
          <p:cNvSpPr/>
          <p:nvPr/>
        </p:nvSpPr>
        <p:spPr>
          <a:xfrm>
            <a:off x="502920" y="1965960"/>
            <a:ext cx="5394960" cy="128016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5" name="Text 3"/>
          <p:cNvSpPr/>
          <p:nvPr/>
        </p:nvSpPr>
        <p:spPr>
          <a:xfrm>
            <a:off x="731520" y="2130552"/>
            <a:ext cx="914400" cy="914400"/>
          </a:xfrm>
          <a:prstGeom prst="rect">
            <a:avLst/>
          </a:prstGeom>
          <a:noFill/>
          <a:ln/>
        </p:spPr>
        <p:txBody>
          <a:bodyPr wrap="square" rtlCol="0" anchor="ctr"/>
          <a:lstStyle/>
          <a:p>
            <a:pPr marL="0" indent="0">
              <a:buNone/>
            </a:pPr>
            <a:r>
              <a:rPr lang="en-US" sz="3400" b="1" dirty="0">
                <a:solidFill>
                  <a:srgbClr val="DBE7FB"/>
                </a:solidFill>
                <a:latin typeface="맑은 고딕" pitchFamily="34" charset="0"/>
                <a:ea typeface="맑은 고딕" pitchFamily="34" charset="-122"/>
                <a:cs typeface="맑은 고딕" pitchFamily="34" charset="-120"/>
              </a:rPr>
              <a:t>01</a:t>
            </a:r>
            <a:endParaRPr lang="en-US" sz="3400" dirty="0"/>
          </a:p>
        </p:txBody>
      </p:sp>
      <p:pic>
        <p:nvPicPr>
          <p:cNvPr id="6" name="Image 0" descr="preencoded.png"/>
          <p:cNvPicPr>
            <a:picLocks noChangeAspect="1"/>
          </p:cNvPicPr>
          <p:nvPr/>
        </p:nvPicPr>
        <p:blipFill>
          <a:blip r:embed="rId3"/>
          <a:stretch>
            <a:fillRect/>
          </a:stretch>
        </p:blipFill>
        <p:spPr>
          <a:xfrm>
            <a:off x="1737360" y="2386584"/>
            <a:ext cx="457200" cy="457200"/>
          </a:xfrm>
          <a:prstGeom prst="rect">
            <a:avLst/>
          </a:prstGeom>
        </p:spPr>
      </p:pic>
      <p:sp>
        <p:nvSpPr>
          <p:cNvPr id="7" name="Text 4"/>
          <p:cNvSpPr/>
          <p:nvPr/>
        </p:nvSpPr>
        <p:spPr>
          <a:xfrm>
            <a:off x="2377440" y="2221992"/>
            <a:ext cx="3383280" cy="41148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시스템 한눈에 보기</a:t>
            </a:r>
            <a:endParaRPr lang="en-US" sz="1600" dirty="0"/>
          </a:p>
        </p:txBody>
      </p:sp>
      <p:sp>
        <p:nvSpPr>
          <p:cNvPr id="8" name="Text 5"/>
          <p:cNvSpPr/>
          <p:nvPr/>
        </p:nvSpPr>
        <p:spPr>
          <a:xfrm>
            <a:off x="2377440" y="2642616"/>
            <a:ext cx="3383280" cy="457200"/>
          </a:xfrm>
          <a:prstGeom prst="rect">
            <a:avLst/>
          </a:prstGeom>
          <a:noFill/>
          <a:ln/>
        </p:spPr>
        <p:txBody>
          <a:bodyPr wrap="square" rtlCol="0" anchor="ctr"/>
          <a:lstStyle/>
          <a:p>
            <a:pPr marL="0" indent="0">
              <a:buNone/>
            </a:pPr>
            <a:r>
              <a:rPr lang="en-US" sz="1200" dirty="0">
                <a:solidFill>
                  <a:srgbClr val="5B6B85"/>
                </a:solidFill>
                <a:latin typeface="맑은 고딕" pitchFamily="34" charset="0"/>
                <a:ea typeface="맑은 고딕" pitchFamily="34" charset="-122"/>
                <a:cs typeface="맑은 고딕" pitchFamily="34" charset="-120"/>
              </a:rPr>
              <a:t>MVIMS가 무엇이고 어떻게 생겼는지</a:t>
            </a:r>
            <a:endParaRPr lang="en-US" sz="1200" dirty="0"/>
          </a:p>
        </p:txBody>
      </p:sp>
      <p:sp>
        <p:nvSpPr>
          <p:cNvPr id="9" name="Shape 6"/>
          <p:cNvSpPr/>
          <p:nvPr/>
        </p:nvSpPr>
        <p:spPr>
          <a:xfrm>
            <a:off x="6263640" y="1965960"/>
            <a:ext cx="5394960" cy="128016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0" name="Text 7"/>
          <p:cNvSpPr/>
          <p:nvPr/>
        </p:nvSpPr>
        <p:spPr>
          <a:xfrm>
            <a:off x="6492240" y="2130552"/>
            <a:ext cx="914400" cy="914400"/>
          </a:xfrm>
          <a:prstGeom prst="rect">
            <a:avLst/>
          </a:prstGeom>
          <a:noFill/>
          <a:ln/>
        </p:spPr>
        <p:txBody>
          <a:bodyPr wrap="square" rtlCol="0" anchor="ctr"/>
          <a:lstStyle/>
          <a:p>
            <a:pPr marL="0" indent="0">
              <a:buNone/>
            </a:pPr>
            <a:r>
              <a:rPr lang="en-US" sz="3400" b="1" dirty="0">
                <a:solidFill>
                  <a:srgbClr val="DBE7FB"/>
                </a:solidFill>
                <a:latin typeface="맑은 고딕" pitchFamily="34" charset="0"/>
                <a:ea typeface="맑은 고딕" pitchFamily="34" charset="-122"/>
                <a:cs typeface="맑은 고딕" pitchFamily="34" charset="-120"/>
              </a:rPr>
              <a:t>02</a:t>
            </a:r>
            <a:endParaRPr lang="en-US" sz="3400" dirty="0"/>
          </a:p>
        </p:txBody>
      </p:sp>
      <p:pic>
        <p:nvPicPr>
          <p:cNvPr id="11" name="Image 1" descr="preencoded.png"/>
          <p:cNvPicPr>
            <a:picLocks noChangeAspect="1"/>
          </p:cNvPicPr>
          <p:nvPr/>
        </p:nvPicPr>
        <p:blipFill>
          <a:blip r:embed="rId4"/>
          <a:stretch>
            <a:fillRect/>
          </a:stretch>
        </p:blipFill>
        <p:spPr>
          <a:xfrm>
            <a:off x="7498080" y="2386584"/>
            <a:ext cx="457200" cy="457200"/>
          </a:xfrm>
          <a:prstGeom prst="rect">
            <a:avLst/>
          </a:prstGeom>
        </p:spPr>
      </p:pic>
      <p:sp>
        <p:nvSpPr>
          <p:cNvPr id="12" name="Text 8"/>
          <p:cNvSpPr/>
          <p:nvPr/>
        </p:nvSpPr>
        <p:spPr>
          <a:xfrm>
            <a:off x="8138160" y="2221992"/>
            <a:ext cx="3383280" cy="41148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Core(코어)의 역할</a:t>
            </a:r>
            <a:endParaRPr lang="en-US" sz="1600" dirty="0"/>
          </a:p>
        </p:txBody>
      </p:sp>
      <p:sp>
        <p:nvSpPr>
          <p:cNvPr id="13" name="Text 9"/>
          <p:cNvSpPr/>
          <p:nvPr/>
        </p:nvSpPr>
        <p:spPr>
          <a:xfrm>
            <a:off x="8138160" y="2642616"/>
            <a:ext cx="3383280" cy="457200"/>
          </a:xfrm>
          <a:prstGeom prst="rect">
            <a:avLst/>
          </a:prstGeom>
          <a:noFill/>
          <a:ln/>
        </p:spPr>
        <p:txBody>
          <a:bodyPr wrap="square" rtlCol="0" anchor="ctr"/>
          <a:lstStyle/>
          <a:p>
            <a:pPr marL="0" indent="0">
              <a:buNone/>
            </a:pPr>
            <a:r>
              <a:rPr lang="en-US" sz="1200" dirty="0">
                <a:solidFill>
                  <a:srgbClr val="5B6B85"/>
                </a:solidFill>
                <a:latin typeface="맑은 고딕" pitchFamily="34" charset="0"/>
                <a:ea typeface="맑은 고딕" pitchFamily="34" charset="-122"/>
                <a:cs typeface="맑은 고딕" pitchFamily="34" charset="-120"/>
              </a:rPr>
              <a:t>모든 서비스가 공유하는 핵심 토대</a:t>
            </a:r>
            <a:endParaRPr lang="en-US" sz="1200" dirty="0"/>
          </a:p>
        </p:txBody>
      </p:sp>
      <p:sp>
        <p:nvSpPr>
          <p:cNvPr id="14" name="Shape 10"/>
          <p:cNvSpPr/>
          <p:nvPr/>
        </p:nvSpPr>
        <p:spPr>
          <a:xfrm>
            <a:off x="502920" y="3538728"/>
            <a:ext cx="5394960" cy="128016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5" name="Text 11"/>
          <p:cNvSpPr/>
          <p:nvPr/>
        </p:nvSpPr>
        <p:spPr>
          <a:xfrm>
            <a:off x="731520" y="3703320"/>
            <a:ext cx="914400" cy="914400"/>
          </a:xfrm>
          <a:prstGeom prst="rect">
            <a:avLst/>
          </a:prstGeom>
          <a:noFill/>
          <a:ln/>
        </p:spPr>
        <p:txBody>
          <a:bodyPr wrap="square" rtlCol="0" anchor="ctr"/>
          <a:lstStyle/>
          <a:p>
            <a:pPr marL="0" indent="0">
              <a:buNone/>
            </a:pPr>
            <a:r>
              <a:rPr lang="en-US" sz="3400" b="1" dirty="0">
                <a:solidFill>
                  <a:srgbClr val="DBE7FB"/>
                </a:solidFill>
                <a:latin typeface="맑은 고딕" pitchFamily="34" charset="0"/>
                <a:ea typeface="맑은 고딕" pitchFamily="34" charset="-122"/>
                <a:cs typeface="맑은 고딕" pitchFamily="34" charset="-120"/>
              </a:rPr>
              <a:t>03</a:t>
            </a:r>
            <a:endParaRPr lang="en-US" sz="3400" dirty="0"/>
          </a:p>
        </p:txBody>
      </p:sp>
      <p:pic>
        <p:nvPicPr>
          <p:cNvPr id="16" name="Image 2" descr="preencoded.png"/>
          <p:cNvPicPr>
            <a:picLocks noChangeAspect="1"/>
          </p:cNvPicPr>
          <p:nvPr/>
        </p:nvPicPr>
        <p:blipFill>
          <a:blip r:embed="rId5"/>
          <a:stretch>
            <a:fillRect/>
          </a:stretch>
        </p:blipFill>
        <p:spPr>
          <a:xfrm>
            <a:off x="1737360" y="3959352"/>
            <a:ext cx="457200" cy="457200"/>
          </a:xfrm>
          <a:prstGeom prst="rect">
            <a:avLst/>
          </a:prstGeom>
        </p:spPr>
      </p:pic>
      <p:sp>
        <p:nvSpPr>
          <p:cNvPr id="17" name="Text 12"/>
          <p:cNvSpPr/>
          <p:nvPr/>
        </p:nvSpPr>
        <p:spPr>
          <a:xfrm>
            <a:off x="2377440" y="3794760"/>
            <a:ext cx="3383280" cy="41148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보안과 안정성</a:t>
            </a:r>
            <a:endParaRPr lang="en-US" sz="1600" dirty="0"/>
          </a:p>
        </p:txBody>
      </p:sp>
      <p:sp>
        <p:nvSpPr>
          <p:cNvPr id="18" name="Text 13"/>
          <p:cNvSpPr/>
          <p:nvPr/>
        </p:nvSpPr>
        <p:spPr>
          <a:xfrm>
            <a:off x="2377440" y="4215384"/>
            <a:ext cx="3383280" cy="457200"/>
          </a:xfrm>
          <a:prstGeom prst="rect">
            <a:avLst/>
          </a:prstGeom>
          <a:noFill/>
          <a:ln/>
        </p:spPr>
        <p:txBody>
          <a:bodyPr wrap="square" rtlCol="0" anchor="ctr"/>
          <a:lstStyle/>
          <a:p>
            <a:pPr marL="0" indent="0">
              <a:buNone/>
            </a:pPr>
            <a:r>
              <a:rPr lang="en-US" sz="1200" dirty="0">
                <a:solidFill>
                  <a:srgbClr val="5B6B85"/>
                </a:solidFill>
                <a:latin typeface="맑은 고딕" pitchFamily="34" charset="0"/>
                <a:ea typeface="맑은 고딕" pitchFamily="34" charset="-122"/>
                <a:cs typeface="맑은 고딕" pitchFamily="34" charset="-120"/>
              </a:rPr>
              <a:t>믿고 맡길 수 있는 이유</a:t>
            </a:r>
            <a:endParaRPr lang="en-US" sz="1200" dirty="0"/>
          </a:p>
        </p:txBody>
      </p:sp>
      <p:sp>
        <p:nvSpPr>
          <p:cNvPr id="19" name="Shape 14"/>
          <p:cNvSpPr/>
          <p:nvPr/>
        </p:nvSpPr>
        <p:spPr>
          <a:xfrm>
            <a:off x="6263640" y="3538728"/>
            <a:ext cx="5394960" cy="128016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0" name="Text 15"/>
          <p:cNvSpPr/>
          <p:nvPr/>
        </p:nvSpPr>
        <p:spPr>
          <a:xfrm>
            <a:off x="6492240" y="3703320"/>
            <a:ext cx="914400" cy="914400"/>
          </a:xfrm>
          <a:prstGeom prst="rect">
            <a:avLst/>
          </a:prstGeom>
          <a:noFill/>
          <a:ln/>
        </p:spPr>
        <p:txBody>
          <a:bodyPr wrap="square" rtlCol="0" anchor="ctr"/>
          <a:lstStyle/>
          <a:p>
            <a:pPr marL="0" indent="0">
              <a:buNone/>
            </a:pPr>
            <a:r>
              <a:rPr lang="en-US" sz="3400" b="1" dirty="0">
                <a:solidFill>
                  <a:srgbClr val="DBE7FB"/>
                </a:solidFill>
                <a:latin typeface="맑은 고딕" pitchFamily="34" charset="0"/>
                <a:ea typeface="맑은 고딕" pitchFamily="34" charset="-122"/>
                <a:cs typeface="맑은 고딕" pitchFamily="34" charset="-120"/>
              </a:rPr>
              <a:t>04</a:t>
            </a:r>
            <a:endParaRPr lang="en-US" sz="3400" dirty="0"/>
          </a:p>
        </p:txBody>
      </p:sp>
      <p:pic>
        <p:nvPicPr>
          <p:cNvPr id="21" name="Image 3" descr="preencoded.png"/>
          <p:cNvPicPr>
            <a:picLocks noChangeAspect="1"/>
          </p:cNvPicPr>
          <p:nvPr/>
        </p:nvPicPr>
        <p:blipFill>
          <a:blip r:embed="rId6"/>
          <a:stretch>
            <a:fillRect/>
          </a:stretch>
        </p:blipFill>
        <p:spPr>
          <a:xfrm>
            <a:off x="7498080" y="3959352"/>
            <a:ext cx="457200" cy="457200"/>
          </a:xfrm>
          <a:prstGeom prst="rect">
            <a:avLst/>
          </a:prstGeom>
        </p:spPr>
      </p:pic>
      <p:sp>
        <p:nvSpPr>
          <p:cNvPr id="22" name="Text 16"/>
          <p:cNvSpPr/>
          <p:nvPr/>
        </p:nvSpPr>
        <p:spPr>
          <a:xfrm>
            <a:off x="8138160" y="3794760"/>
            <a:ext cx="3383280" cy="41148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서브 모듈 · 파일 시스템</a:t>
            </a:r>
            <a:endParaRPr lang="en-US" sz="1600" dirty="0"/>
          </a:p>
        </p:txBody>
      </p:sp>
      <p:sp>
        <p:nvSpPr>
          <p:cNvPr id="23" name="Text 17"/>
          <p:cNvSpPr/>
          <p:nvPr/>
        </p:nvSpPr>
        <p:spPr>
          <a:xfrm>
            <a:off x="8138160" y="4215384"/>
            <a:ext cx="3383280" cy="457200"/>
          </a:xfrm>
          <a:prstGeom prst="rect">
            <a:avLst/>
          </a:prstGeom>
          <a:noFill/>
          <a:ln/>
        </p:spPr>
        <p:txBody>
          <a:bodyPr wrap="square" rtlCol="0" anchor="ctr"/>
          <a:lstStyle/>
          <a:p>
            <a:pPr marL="0" indent="0">
              <a:buNone/>
            </a:pPr>
            <a:r>
              <a:rPr lang="en-US" sz="1200" dirty="0">
                <a:solidFill>
                  <a:srgbClr val="5B6B85"/>
                </a:solidFill>
                <a:latin typeface="맑은 고딕" pitchFamily="34" charset="0"/>
                <a:ea typeface="맑은 고딕" pitchFamily="34" charset="-122"/>
                <a:cs typeface="맑은 고딕" pitchFamily="34" charset="-120"/>
              </a:rPr>
              <a:t>각 업무 서비스와 파일 관리</a:t>
            </a:r>
            <a:endParaRPr lang="en-US" sz="1200" dirty="0"/>
          </a:p>
        </p:txBody>
      </p:sp>
      <p:sp>
        <p:nvSpPr>
          <p:cNvPr id="24" name="Shape 18"/>
          <p:cNvSpPr/>
          <p:nvPr/>
        </p:nvSpPr>
        <p:spPr>
          <a:xfrm>
            <a:off x="502920" y="5111496"/>
            <a:ext cx="5394960" cy="128016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5" name="Text 19"/>
          <p:cNvSpPr/>
          <p:nvPr/>
        </p:nvSpPr>
        <p:spPr>
          <a:xfrm>
            <a:off x="731520" y="5276088"/>
            <a:ext cx="914400" cy="914400"/>
          </a:xfrm>
          <a:prstGeom prst="rect">
            <a:avLst/>
          </a:prstGeom>
          <a:noFill/>
          <a:ln/>
        </p:spPr>
        <p:txBody>
          <a:bodyPr wrap="square" rtlCol="0" anchor="ctr"/>
          <a:lstStyle/>
          <a:p>
            <a:pPr marL="0" indent="0">
              <a:buNone/>
            </a:pPr>
            <a:r>
              <a:rPr lang="en-US" sz="3400" b="1" dirty="0">
                <a:solidFill>
                  <a:srgbClr val="DBE7FB"/>
                </a:solidFill>
                <a:latin typeface="맑은 고딕" pitchFamily="34" charset="0"/>
                <a:ea typeface="맑은 고딕" pitchFamily="34" charset="-122"/>
                <a:cs typeface="맑은 고딕" pitchFamily="34" charset="-120"/>
              </a:rPr>
              <a:t>05</a:t>
            </a:r>
            <a:endParaRPr lang="en-US" sz="3400" dirty="0"/>
          </a:p>
        </p:txBody>
      </p:sp>
      <p:pic>
        <p:nvPicPr>
          <p:cNvPr id="26" name="Image 4" descr="preencoded.png"/>
          <p:cNvPicPr>
            <a:picLocks noChangeAspect="1"/>
          </p:cNvPicPr>
          <p:nvPr/>
        </p:nvPicPr>
        <p:blipFill>
          <a:blip r:embed="rId7"/>
          <a:stretch>
            <a:fillRect/>
          </a:stretch>
        </p:blipFill>
        <p:spPr>
          <a:xfrm>
            <a:off x="1737360" y="5532120"/>
            <a:ext cx="457200" cy="457200"/>
          </a:xfrm>
          <a:prstGeom prst="rect">
            <a:avLst/>
          </a:prstGeom>
        </p:spPr>
      </p:pic>
      <p:sp>
        <p:nvSpPr>
          <p:cNvPr id="27" name="Text 20"/>
          <p:cNvSpPr/>
          <p:nvPr/>
        </p:nvSpPr>
        <p:spPr>
          <a:xfrm>
            <a:off x="2377440" y="5367528"/>
            <a:ext cx="3383280" cy="41148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확장성과 운영</a:t>
            </a:r>
            <a:endParaRPr lang="en-US" sz="1600" dirty="0"/>
          </a:p>
        </p:txBody>
      </p:sp>
      <p:sp>
        <p:nvSpPr>
          <p:cNvPr id="28" name="Text 21"/>
          <p:cNvSpPr/>
          <p:nvPr/>
        </p:nvSpPr>
        <p:spPr>
          <a:xfrm>
            <a:off x="2377440" y="5788152"/>
            <a:ext cx="3383280" cy="457200"/>
          </a:xfrm>
          <a:prstGeom prst="rect">
            <a:avLst/>
          </a:prstGeom>
          <a:noFill/>
          <a:ln/>
        </p:spPr>
        <p:txBody>
          <a:bodyPr wrap="square" rtlCol="0" anchor="ctr"/>
          <a:lstStyle/>
          <a:p>
            <a:pPr marL="0" indent="0">
              <a:buNone/>
            </a:pPr>
            <a:r>
              <a:rPr lang="en-US" sz="1200" dirty="0">
                <a:solidFill>
                  <a:srgbClr val="5B6B85"/>
                </a:solidFill>
                <a:latin typeface="맑은 고딕" pitchFamily="34" charset="0"/>
                <a:ea typeface="맑은 고딕" pitchFamily="34" charset="-122"/>
                <a:cs typeface="맑은 고딕" pitchFamily="34" charset="-120"/>
              </a:rPr>
              <a:t>새 업무가 생겨도 끄떡없는 구조</a:t>
            </a:r>
            <a:endParaRPr lang="en-US" sz="1200" dirty="0"/>
          </a:p>
        </p:txBody>
      </p:sp>
      <p:sp>
        <p:nvSpPr>
          <p:cNvPr id="29" name="Shape 22"/>
          <p:cNvSpPr/>
          <p:nvPr/>
        </p:nvSpPr>
        <p:spPr>
          <a:xfrm>
            <a:off x="6263640" y="5111496"/>
            <a:ext cx="5394960" cy="128016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30" name="Text 23"/>
          <p:cNvSpPr/>
          <p:nvPr/>
        </p:nvSpPr>
        <p:spPr>
          <a:xfrm>
            <a:off x="6492240" y="5276088"/>
            <a:ext cx="914400" cy="914400"/>
          </a:xfrm>
          <a:prstGeom prst="rect">
            <a:avLst/>
          </a:prstGeom>
          <a:noFill/>
          <a:ln/>
        </p:spPr>
        <p:txBody>
          <a:bodyPr wrap="square" rtlCol="0" anchor="ctr"/>
          <a:lstStyle/>
          <a:p>
            <a:pPr marL="0" indent="0">
              <a:buNone/>
            </a:pPr>
            <a:r>
              <a:rPr lang="en-US" sz="3400" b="1" dirty="0">
                <a:solidFill>
                  <a:srgbClr val="DBE7FB"/>
                </a:solidFill>
                <a:latin typeface="맑은 고딕" pitchFamily="34" charset="0"/>
                <a:ea typeface="맑은 고딕" pitchFamily="34" charset="-122"/>
                <a:cs typeface="맑은 고딕" pitchFamily="34" charset="-120"/>
              </a:rPr>
              <a:t>06</a:t>
            </a:r>
            <a:endParaRPr lang="en-US" sz="3400" dirty="0"/>
          </a:p>
        </p:txBody>
      </p:sp>
      <p:pic>
        <p:nvPicPr>
          <p:cNvPr id="31" name="Image 5" descr="preencoded.png"/>
          <p:cNvPicPr>
            <a:picLocks noChangeAspect="1"/>
          </p:cNvPicPr>
          <p:nvPr/>
        </p:nvPicPr>
        <p:blipFill>
          <a:blip r:embed="rId8"/>
          <a:stretch>
            <a:fillRect/>
          </a:stretch>
        </p:blipFill>
        <p:spPr>
          <a:xfrm>
            <a:off x="7498080" y="5532120"/>
            <a:ext cx="457200" cy="457200"/>
          </a:xfrm>
          <a:prstGeom prst="rect">
            <a:avLst/>
          </a:prstGeom>
        </p:spPr>
      </p:pic>
      <p:sp>
        <p:nvSpPr>
          <p:cNvPr id="32" name="Text 24"/>
          <p:cNvSpPr/>
          <p:nvPr/>
        </p:nvSpPr>
        <p:spPr>
          <a:xfrm>
            <a:off x="8138160" y="5367528"/>
            <a:ext cx="3383280" cy="41148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비즈니스 효과</a:t>
            </a:r>
            <a:endParaRPr lang="en-US" sz="1600" dirty="0"/>
          </a:p>
        </p:txBody>
      </p:sp>
      <p:sp>
        <p:nvSpPr>
          <p:cNvPr id="33" name="Text 25"/>
          <p:cNvSpPr/>
          <p:nvPr/>
        </p:nvSpPr>
        <p:spPr>
          <a:xfrm>
            <a:off x="8138160" y="5788152"/>
            <a:ext cx="3383280" cy="457200"/>
          </a:xfrm>
          <a:prstGeom prst="rect">
            <a:avLst/>
          </a:prstGeom>
          <a:noFill/>
          <a:ln/>
        </p:spPr>
        <p:txBody>
          <a:bodyPr wrap="square" rtlCol="0" anchor="ctr"/>
          <a:lstStyle/>
          <a:p>
            <a:pPr marL="0" indent="0">
              <a:buNone/>
            </a:pPr>
            <a:r>
              <a:rPr lang="en-US" sz="1200" dirty="0">
                <a:solidFill>
                  <a:srgbClr val="5B6B85"/>
                </a:solidFill>
                <a:latin typeface="맑은 고딕" pitchFamily="34" charset="0"/>
                <a:ea typeface="맑은 고딕" pitchFamily="34" charset="-122"/>
                <a:cs typeface="맑은 고딕" pitchFamily="34" charset="-120"/>
              </a:rPr>
              <a:t>회사가 얻는 실질적 이익</a:t>
            </a:r>
            <a:endParaRPr lang="en-US" sz="1200" dirty="0"/>
          </a:p>
        </p:txBody>
      </p:sp>
      <p:sp>
        <p:nvSpPr>
          <p:cNvPr id="35" name="Text 26"/>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36" name="Text 27"/>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OVERVIEW</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MVIMS는 한마디로?</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여러 업무 시스템을 하나로 묶은 '차량 검사 관리 통합 시스템'</a:t>
            </a:r>
            <a:endParaRPr lang="en-US" sz="1350" dirty="0"/>
          </a:p>
        </p:txBody>
      </p:sp>
      <p:sp>
        <p:nvSpPr>
          <p:cNvPr id="5" name="Shape 3"/>
          <p:cNvSpPr/>
          <p:nvPr/>
        </p:nvSpPr>
        <p:spPr>
          <a:xfrm>
            <a:off x="502920" y="2057400"/>
            <a:ext cx="5669280" cy="4114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Text 4"/>
          <p:cNvSpPr/>
          <p:nvPr/>
        </p:nvSpPr>
        <p:spPr>
          <a:xfrm>
            <a:off x="777240" y="2286000"/>
            <a:ext cx="5120640" cy="365760"/>
          </a:xfrm>
          <a:prstGeom prst="rect">
            <a:avLst/>
          </a:prstGeom>
          <a:noFill/>
          <a:ln/>
        </p:spPr>
        <p:txBody>
          <a:bodyPr wrap="square" rtlCol="0" anchor="ctr"/>
          <a:lstStyle/>
          <a:p>
            <a:pPr marL="0" indent="0">
              <a:buNone/>
            </a:pPr>
            <a:r>
              <a:rPr lang="en-US" sz="1500" b="1" dirty="0">
                <a:solidFill>
                  <a:srgbClr val="2563EB"/>
                </a:solidFill>
                <a:latin typeface="맑은 고딕" pitchFamily="34" charset="0"/>
                <a:ea typeface="맑은 고딕" pitchFamily="34" charset="-122"/>
                <a:cs typeface="맑은 고딕" pitchFamily="34" charset="-120"/>
              </a:rPr>
              <a:t>쉽게 비유하면</a:t>
            </a:r>
            <a:endParaRPr lang="en-US" sz="1500" dirty="0"/>
          </a:p>
        </p:txBody>
      </p:sp>
      <p:sp>
        <p:nvSpPr>
          <p:cNvPr id="7" name="Text 5"/>
          <p:cNvSpPr/>
          <p:nvPr/>
        </p:nvSpPr>
        <p:spPr>
          <a:xfrm>
            <a:off x="777240" y="2743200"/>
            <a:ext cx="5120640" cy="3200400"/>
          </a:xfrm>
          <a:prstGeom prst="rect">
            <a:avLst/>
          </a:prstGeom>
          <a:noFill/>
          <a:ln/>
        </p:spPr>
        <p:txBody>
          <a:bodyPr wrap="square" rtlCol="0" anchor="t"/>
          <a:lstStyle/>
          <a:p>
            <a:pPr marL="0" indent="0">
              <a:lnSpc>
                <a:spcPct val="125000"/>
              </a:lnSpc>
              <a:buNone/>
            </a:pPr>
            <a:r>
              <a:rPr lang="en-US" sz="1450" b="1" dirty="0">
                <a:solidFill>
                  <a:srgbClr val="1E293B"/>
                </a:solidFill>
                <a:latin typeface="맑은 고딕" pitchFamily="34" charset="0"/>
                <a:ea typeface="맑은 고딕" pitchFamily="34" charset="-122"/>
                <a:cs typeface="맑은 고딕" pitchFamily="34" charset="-120"/>
              </a:rPr>
              <a:t>잘 지어진 건물</a:t>
            </a:r>
            <a:r>
              <a:rPr lang="en-US" sz="1450" dirty="0">
                <a:solidFill>
                  <a:srgbClr val="1E293B"/>
                </a:solidFill>
                <a:latin typeface="맑은 고딕" pitchFamily="34" charset="0"/>
                <a:ea typeface="맑은 고딕" pitchFamily="34" charset="-122"/>
                <a:cs typeface="맑은 고딕" pitchFamily="34" charset="-120"/>
              </a:rPr>
              <a:t>과 같습니다.
</a:t>
            </a:r>
            <a:r>
              <a:rPr lang="en-US" sz="1450" dirty="0">
                <a:solidFill>
                  <a:srgbClr val="5B6B85"/>
                </a:solidFill>
                <a:latin typeface="맑은 고딕" pitchFamily="34" charset="0"/>
                <a:ea typeface="맑은 고딕" pitchFamily="34" charset="-122"/>
                <a:cs typeface="맑은 고딕" pitchFamily="34" charset="-120"/>
              </a:rPr>
              <a:t>튼튼한 </a:t>
            </a:r>
            <a:r>
              <a:rPr lang="en-US" sz="1450" b="1" dirty="0">
                <a:solidFill>
                  <a:srgbClr val="2563EB"/>
                </a:solidFill>
                <a:latin typeface="맑은 고딕" pitchFamily="34" charset="0"/>
                <a:ea typeface="맑은 고딕" pitchFamily="34" charset="-122"/>
                <a:cs typeface="맑은 고딕" pitchFamily="34" charset="-120"/>
              </a:rPr>
              <a:t>기초·골조(Core)</a:t>
            </a:r>
            <a:r>
              <a:rPr lang="en-US" sz="1450" dirty="0">
                <a:solidFill>
                  <a:srgbClr val="5B6B85"/>
                </a:solidFill>
                <a:latin typeface="맑은 고딕" pitchFamily="34" charset="0"/>
                <a:ea typeface="맑은 고딕" pitchFamily="34" charset="-122"/>
                <a:cs typeface="맑은 고딕" pitchFamily="34" charset="-120"/>
              </a:rPr>
              <a:t> 위에</a:t>
            </a:r>
            <a:endParaRPr lang="en-US" sz="1450" dirty="0"/>
          </a:p>
          <a:p>
            <a:pPr marL="0" indent="0">
              <a:lnSpc>
                <a:spcPct val="125000"/>
              </a:lnSpc>
              <a:buNone/>
            </a:pPr>
            <a:r>
              <a:rPr lang="en-US" sz="1450" dirty="0">
                <a:solidFill>
                  <a:srgbClr val="5B6B85"/>
                </a:solidFill>
                <a:latin typeface="맑은 고딕" pitchFamily="34" charset="0"/>
                <a:ea typeface="맑은 고딕" pitchFamily="34" charset="-122"/>
                <a:cs typeface="맑은 고딕" pitchFamily="34" charset="-120"/>
              </a:rPr>
              <a:t>로그인·검사·관리 같은 </a:t>
            </a:r>
            <a:endParaRPr lang="en-US" sz="1450" dirty="0"/>
          </a:p>
          <a:p>
            <a:pPr marL="0" indent="0">
              <a:lnSpc>
                <a:spcPct val="125000"/>
              </a:lnSpc>
              <a:buNone/>
            </a:pPr>
            <a:r>
              <a:rPr lang="en-US" sz="1450" b="1" dirty="0">
                <a:solidFill>
                  <a:srgbClr val="2563EB"/>
                </a:solidFill>
                <a:latin typeface="맑은 고딕" pitchFamily="34" charset="0"/>
                <a:ea typeface="맑은 고딕" pitchFamily="34" charset="-122"/>
                <a:cs typeface="맑은 고딕" pitchFamily="34" charset="-120"/>
              </a:rPr>
              <a:t>각 사무실(서비스)</a:t>
            </a:r>
            <a:r>
              <a:rPr lang="en-US" sz="1450" dirty="0">
                <a:solidFill>
                  <a:srgbClr val="5B6B85"/>
                </a:solidFill>
                <a:latin typeface="맑은 고딕" pitchFamily="34" charset="0"/>
                <a:ea typeface="맑은 고딕" pitchFamily="34" charset="-122"/>
                <a:cs typeface="맑은 고딕" pitchFamily="34" charset="-120"/>
              </a:rPr>
              <a:t>이 들어섭니다.</a:t>
            </a:r>
            <a:endParaRPr lang="en-US" sz="1450" dirty="0"/>
          </a:p>
          <a:p>
            <a:pPr marL="0" indent="0">
              <a:lnSpc>
                <a:spcPct val="125000"/>
              </a:lnSpc>
              <a:buNone/>
            </a:pPr>
            <a:endParaRPr lang="en-US" sz="1450" dirty="0"/>
          </a:p>
          <a:p>
            <a:pPr marL="0" indent="0">
              <a:lnSpc>
                <a:spcPct val="125000"/>
              </a:lnSpc>
              <a:buNone/>
            </a:pPr>
            <a:r>
              <a:rPr lang="en-US" sz="1450" dirty="0">
                <a:solidFill>
                  <a:srgbClr val="5B6B85"/>
                </a:solidFill>
                <a:latin typeface="맑은 고딕" pitchFamily="34" charset="0"/>
                <a:ea typeface="맑은 고딕" pitchFamily="34" charset="-122"/>
                <a:cs typeface="맑은 고딕" pitchFamily="34" charset="-120"/>
              </a:rPr>
              <a:t>기초가 튼튼하니 사무실을 추가하기 쉽고,</a:t>
            </a:r>
            <a:endParaRPr lang="en-US" sz="1450" dirty="0"/>
          </a:p>
          <a:p>
            <a:pPr marL="0" indent="0">
              <a:lnSpc>
                <a:spcPct val="125000"/>
              </a:lnSpc>
              <a:buNone/>
            </a:pPr>
            <a:r>
              <a:rPr lang="en-US" sz="1450" dirty="0">
                <a:solidFill>
                  <a:srgbClr val="5B6B85"/>
                </a:solidFill>
                <a:latin typeface="맑은 고딕" pitchFamily="34" charset="0"/>
                <a:ea typeface="맑은 고딕" pitchFamily="34" charset="-122"/>
                <a:cs typeface="맑은 고딕" pitchFamily="34" charset="-120"/>
              </a:rPr>
              <a:t>전기·수도(보안·공통기능)는 건물 전체가 함께 씁니다.</a:t>
            </a:r>
            <a:endParaRPr lang="en-US" sz="1450" dirty="0"/>
          </a:p>
        </p:txBody>
      </p:sp>
      <p:sp>
        <p:nvSpPr>
          <p:cNvPr id="8" name="Shape 6"/>
          <p:cNvSpPr/>
          <p:nvPr/>
        </p:nvSpPr>
        <p:spPr>
          <a:xfrm>
            <a:off x="6583680" y="2057400"/>
            <a:ext cx="5074920" cy="4114800"/>
          </a:xfrm>
          <a:prstGeom prst="rect">
            <a:avLst/>
          </a:prstGeom>
          <a:solidFill>
            <a:srgbClr val="0E1F45"/>
          </a:solidFill>
          <a:ln/>
          <a:effectLst>
            <a:outerShdw blurRad="114300" dist="38100" dir="5400000" algn="bl" rotWithShape="0">
              <a:srgbClr val="0E1F45">
                <a:alpha val="14000"/>
              </a:srgbClr>
            </a:outerShdw>
          </a:effectLst>
        </p:spPr>
      </p:sp>
      <p:sp>
        <p:nvSpPr>
          <p:cNvPr id="9" name="Shape 7"/>
          <p:cNvSpPr/>
          <p:nvPr/>
        </p:nvSpPr>
        <p:spPr>
          <a:xfrm>
            <a:off x="6995160" y="2395728"/>
            <a:ext cx="4251960" cy="566928"/>
          </a:xfrm>
          <a:prstGeom prst="rect">
            <a:avLst/>
          </a:prstGeom>
          <a:solidFill>
            <a:srgbClr val="14264F"/>
          </a:solidFill>
          <a:ln w="12700">
            <a:solidFill>
              <a:srgbClr val="3B82F6"/>
            </a:solidFill>
            <a:prstDash val="solid"/>
          </a:ln>
        </p:spPr>
      </p:sp>
      <p:sp>
        <p:nvSpPr>
          <p:cNvPr id="10" name="Text 8"/>
          <p:cNvSpPr/>
          <p:nvPr/>
        </p:nvSpPr>
        <p:spPr>
          <a:xfrm>
            <a:off x="7178040" y="2395728"/>
            <a:ext cx="3977640" cy="566928"/>
          </a:xfrm>
          <a:prstGeom prst="rect">
            <a:avLst/>
          </a:prstGeom>
          <a:noFill/>
          <a:ln/>
        </p:spPr>
        <p:txBody>
          <a:bodyPr wrap="square" rtlCol="0" anchor="ctr"/>
          <a:lstStyle/>
          <a:p>
            <a:pPr marL="0" indent="0">
              <a:buNone/>
            </a:pPr>
            <a:r>
              <a:rPr lang="en-US" sz="1300" dirty="0">
                <a:solidFill>
                  <a:srgbClr val="DBE7FB"/>
                </a:solidFill>
                <a:latin typeface="맑은 고딕" pitchFamily="34" charset="0"/>
                <a:ea typeface="맑은 고딕" pitchFamily="34" charset="-122"/>
                <a:cs typeface="맑은 고딕" pitchFamily="34" charset="-120"/>
              </a:rPr>
              <a:t>검사 (Inspection)</a:t>
            </a:r>
            <a:endParaRPr lang="en-US" sz="1300" dirty="0"/>
          </a:p>
        </p:txBody>
      </p:sp>
      <p:sp>
        <p:nvSpPr>
          <p:cNvPr id="11" name="Shape 9"/>
          <p:cNvSpPr/>
          <p:nvPr/>
        </p:nvSpPr>
        <p:spPr>
          <a:xfrm>
            <a:off x="6995160" y="3072384"/>
            <a:ext cx="4251960" cy="566928"/>
          </a:xfrm>
          <a:prstGeom prst="rect">
            <a:avLst/>
          </a:prstGeom>
          <a:solidFill>
            <a:srgbClr val="14264F"/>
          </a:solidFill>
          <a:ln w="12700">
            <a:solidFill>
              <a:srgbClr val="3B82F6"/>
            </a:solidFill>
            <a:prstDash val="solid"/>
          </a:ln>
        </p:spPr>
      </p:sp>
      <p:sp>
        <p:nvSpPr>
          <p:cNvPr id="12" name="Text 10"/>
          <p:cNvSpPr/>
          <p:nvPr/>
        </p:nvSpPr>
        <p:spPr>
          <a:xfrm>
            <a:off x="7178040" y="3072384"/>
            <a:ext cx="3977640" cy="566928"/>
          </a:xfrm>
          <a:prstGeom prst="rect">
            <a:avLst/>
          </a:prstGeom>
          <a:noFill/>
          <a:ln/>
        </p:spPr>
        <p:txBody>
          <a:bodyPr wrap="square" rtlCol="0" anchor="ctr"/>
          <a:lstStyle/>
          <a:p>
            <a:pPr marL="0" indent="0">
              <a:buNone/>
            </a:pPr>
            <a:r>
              <a:rPr lang="en-US" sz="1300" dirty="0">
                <a:solidFill>
                  <a:srgbClr val="DBE7FB"/>
                </a:solidFill>
                <a:latin typeface="맑은 고딕" pitchFamily="34" charset="0"/>
                <a:ea typeface="맑은 고딕" pitchFamily="34" charset="-122"/>
                <a:cs typeface="맑은 고딕" pitchFamily="34" charset="-120"/>
              </a:rPr>
              <a:t>관리 (Management)</a:t>
            </a:r>
            <a:endParaRPr lang="en-US" sz="1300" dirty="0"/>
          </a:p>
        </p:txBody>
      </p:sp>
      <p:sp>
        <p:nvSpPr>
          <p:cNvPr id="13" name="Shape 11"/>
          <p:cNvSpPr/>
          <p:nvPr/>
        </p:nvSpPr>
        <p:spPr>
          <a:xfrm>
            <a:off x="6995160" y="3749040"/>
            <a:ext cx="4251960" cy="566928"/>
          </a:xfrm>
          <a:prstGeom prst="rect">
            <a:avLst/>
          </a:prstGeom>
          <a:solidFill>
            <a:srgbClr val="14264F"/>
          </a:solidFill>
          <a:ln w="12700">
            <a:solidFill>
              <a:srgbClr val="3B82F6"/>
            </a:solidFill>
            <a:prstDash val="solid"/>
          </a:ln>
        </p:spPr>
      </p:sp>
      <p:sp>
        <p:nvSpPr>
          <p:cNvPr id="14" name="Text 12"/>
          <p:cNvSpPr/>
          <p:nvPr/>
        </p:nvSpPr>
        <p:spPr>
          <a:xfrm>
            <a:off x="7178040" y="3749040"/>
            <a:ext cx="3977640" cy="566928"/>
          </a:xfrm>
          <a:prstGeom prst="rect">
            <a:avLst/>
          </a:prstGeom>
          <a:noFill/>
          <a:ln/>
        </p:spPr>
        <p:txBody>
          <a:bodyPr wrap="square" rtlCol="0" anchor="ctr"/>
          <a:lstStyle/>
          <a:p>
            <a:pPr marL="0" indent="0">
              <a:buNone/>
            </a:pPr>
            <a:r>
              <a:rPr lang="en-US" sz="1300" dirty="0">
                <a:solidFill>
                  <a:srgbClr val="DBE7FB"/>
                </a:solidFill>
                <a:latin typeface="맑은 고딕" pitchFamily="34" charset="0"/>
                <a:ea typeface="맑은 고딕" pitchFamily="34" charset="-122"/>
                <a:cs typeface="맑은 고딕" pitchFamily="34" charset="-120"/>
              </a:rPr>
              <a:t>접수 (Register)</a:t>
            </a:r>
            <a:endParaRPr lang="en-US" sz="1300" dirty="0"/>
          </a:p>
        </p:txBody>
      </p:sp>
      <p:sp>
        <p:nvSpPr>
          <p:cNvPr id="15" name="Shape 13"/>
          <p:cNvSpPr/>
          <p:nvPr/>
        </p:nvSpPr>
        <p:spPr>
          <a:xfrm>
            <a:off x="6995160" y="4425696"/>
            <a:ext cx="4251960" cy="566928"/>
          </a:xfrm>
          <a:prstGeom prst="rect">
            <a:avLst/>
          </a:prstGeom>
          <a:solidFill>
            <a:srgbClr val="14264F"/>
          </a:solidFill>
          <a:ln w="12700">
            <a:solidFill>
              <a:srgbClr val="3B82F6"/>
            </a:solidFill>
            <a:prstDash val="solid"/>
          </a:ln>
        </p:spPr>
      </p:sp>
      <p:sp>
        <p:nvSpPr>
          <p:cNvPr id="16" name="Text 14"/>
          <p:cNvSpPr/>
          <p:nvPr/>
        </p:nvSpPr>
        <p:spPr>
          <a:xfrm>
            <a:off x="7178040" y="4425696"/>
            <a:ext cx="3977640" cy="566928"/>
          </a:xfrm>
          <a:prstGeom prst="rect">
            <a:avLst/>
          </a:prstGeom>
          <a:noFill/>
          <a:ln/>
        </p:spPr>
        <p:txBody>
          <a:bodyPr wrap="square" rtlCol="0" anchor="ctr"/>
          <a:lstStyle/>
          <a:p>
            <a:pPr marL="0" indent="0">
              <a:buNone/>
            </a:pPr>
            <a:r>
              <a:rPr lang="en-US" sz="1300" dirty="0">
                <a:solidFill>
                  <a:srgbClr val="DBE7FB"/>
                </a:solidFill>
                <a:latin typeface="맑은 고딕" pitchFamily="34" charset="0"/>
                <a:ea typeface="맑은 고딕" pitchFamily="34" charset="-122"/>
                <a:cs typeface="맑은 고딕" pitchFamily="34" charset="-120"/>
              </a:rPr>
              <a:t>로그인 (Login)</a:t>
            </a:r>
            <a:endParaRPr lang="en-US" sz="1300" dirty="0"/>
          </a:p>
        </p:txBody>
      </p:sp>
      <p:sp>
        <p:nvSpPr>
          <p:cNvPr id="17" name="Shape 15"/>
          <p:cNvSpPr/>
          <p:nvPr/>
        </p:nvSpPr>
        <p:spPr>
          <a:xfrm>
            <a:off x="6812280" y="5175504"/>
            <a:ext cx="4617720" cy="777240"/>
          </a:xfrm>
          <a:prstGeom prst="rect">
            <a:avLst/>
          </a:prstGeom>
          <a:solidFill>
            <a:srgbClr val="F4B740"/>
          </a:solidFill>
          <a:ln/>
        </p:spPr>
      </p:sp>
      <p:sp>
        <p:nvSpPr>
          <p:cNvPr id="18" name="Text 16"/>
          <p:cNvSpPr/>
          <p:nvPr/>
        </p:nvSpPr>
        <p:spPr>
          <a:xfrm>
            <a:off x="6812280" y="5175504"/>
            <a:ext cx="4617720" cy="777240"/>
          </a:xfrm>
          <a:prstGeom prst="rect">
            <a:avLst/>
          </a:prstGeom>
          <a:noFill/>
          <a:ln/>
        </p:spPr>
        <p:txBody>
          <a:bodyPr wrap="square" rtlCol="0" anchor="ctr"/>
          <a:lstStyle/>
          <a:p>
            <a:pPr marL="0" indent="0" algn="ctr">
              <a:buNone/>
            </a:pPr>
            <a:r>
              <a:rPr lang="en-US" sz="1500" b="1" dirty="0">
                <a:solidFill>
                  <a:srgbClr val="0E1F45"/>
                </a:solidFill>
                <a:latin typeface="맑은 고딕" pitchFamily="34" charset="0"/>
                <a:ea typeface="맑은 고딕" pitchFamily="34" charset="-122"/>
                <a:cs typeface="맑은 고딕" pitchFamily="34" charset="-120"/>
              </a:rPr>
              <a:t>CORE 라이브러리  ·  공용 토대</a:t>
            </a:r>
            <a:endParaRPr lang="en-US" sz="1500" dirty="0"/>
          </a:p>
        </p:txBody>
      </p:sp>
      <p:sp>
        <p:nvSpPr>
          <p:cNvPr id="19" name="Text 17"/>
          <p:cNvSpPr/>
          <p:nvPr/>
        </p:nvSpPr>
        <p:spPr>
          <a:xfrm>
            <a:off x="6583680" y="6263640"/>
            <a:ext cx="5074920" cy="274320"/>
          </a:xfrm>
          <a:prstGeom prst="rect">
            <a:avLst/>
          </a:prstGeom>
          <a:noFill/>
          <a:ln/>
        </p:spPr>
        <p:txBody>
          <a:bodyPr wrap="square" rtlCol="0" anchor="ctr"/>
          <a:lstStyle/>
          <a:p>
            <a:pPr marL="0" indent="0" algn="ctr">
              <a:buNone/>
            </a:pPr>
            <a:r>
              <a:rPr lang="en-US" sz="1050" dirty="0">
                <a:solidFill>
                  <a:srgbClr val="5B6B85"/>
                </a:solidFill>
                <a:latin typeface="맑은 고딕" pitchFamily="34" charset="0"/>
                <a:ea typeface="맑은 고딕" pitchFamily="34" charset="-122"/>
                <a:cs typeface="맑은 고딕" pitchFamily="34" charset="-120"/>
              </a:rPr>
              <a:t>↑ 한 번 만든 토대를 모든 사무실이 함께 사용</a:t>
            </a:r>
            <a:endParaRPr lang="en-US" sz="1050" dirty="0"/>
          </a:p>
        </p:txBody>
      </p:sp>
      <p:sp>
        <p:nvSpPr>
          <p:cNvPr id="21" name="Text 18"/>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22" name="Text 19"/>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F45"/>
        </a:solidFill>
        <a:effectLst/>
      </p:bgPr>
    </p:bg>
    <p:spTree>
      <p:nvGrpSpPr>
        <p:cNvPr id="1" name=""/>
        <p:cNvGrpSpPr/>
        <p:nvPr/>
      </p:nvGrpSpPr>
      <p:grpSpPr>
        <a:xfrm>
          <a:off x="0" y="0"/>
          <a:ext cx="0" cy="0"/>
          <a:chOff x="0" y="0"/>
          <a:chExt cx="0" cy="0"/>
        </a:xfrm>
      </p:grpSpPr>
      <p:sp>
        <p:nvSpPr>
          <p:cNvPr id="2" name="Shape 0"/>
          <p:cNvSpPr/>
          <p:nvPr/>
        </p:nvSpPr>
        <p:spPr>
          <a:xfrm>
            <a:off x="-1645920" y="3291840"/>
            <a:ext cx="5029200" cy="5029200"/>
          </a:xfrm>
          <a:prstGeom prst="ellipse">
            <a:avLst/>
          </a:prstGeom>
          <a:solidFill>
            <a:srgbClr val="14264F"/>
          </a:solidFill>
          <a:ln/>
        </p:spPr>
      </p:sp>
      <p:sp>
        <p:nvSpPr>
          <p:cNvPr id="3" name="Text 1"/>
          <p:cNvSpPr/>
          <p:nvPr/>
        </p:nvSpPr>
        <p:spPr>
          <a:xfrm>
            <a:off x="548640" y="640080"/>
            <a:ext cx="5486400" cy="365760"/>
          </a:xfrm>
          <a:prstGeom prst="rect">
            <a:avLst/>
          </a:prstGeom>
          <a:noFill/>
          <a:ln/>
        </p:spPr>
        <p:txBody>
          <a:bodyPr wrap="square" rtlCol="0" anchor="ctr"/>
          <a:lstStyle/>
          <a:p>
            <a:pPr marL="0" indent="0">
              <a:buNone/>
            </a:pPr>
            <a:r>
              <a:rPr lang="en-US" sz="1200" b="1" kern="0" spc="200" dirty="0">
                <a:solidFill>
                  <a:srgbClr val="3B82F6"/>
                </a:solidFill>
                <a:latin typeface="맑은 고딕" pitchFamily="34" charset="0"/>
                <a:ea typeface="맑은 고딕" pitchFamily="34" charset="-122"/>
                <a:cs typeface="맑은 고딕" pitchFamily="34" charset="-120"/>
              </a:rPr>
              <a:t>핵심 개념</a:t>
            </a:r>
            <a:endParaRPr lang="en-US" sz="1200" dirty="0"/>
          </a:p>
        </p:txBody>
      </p:sp>
      <p:sp>
        <p:nvSpPr>
          <p:cNvPr id="4" name="Text 2"/>
          <p:cNvSpPr/>
          <p:nvPr/>
        </p:nvSpPr>
        <p:spPr>
          <a:xfrm>
            <a:off x="548640" y="1143000"/>
            <a:ext cx="10972800" cy="822960"/>
          </a:xfrm>
          <a:prstGeom prst="rect">
            <a:avLst/>
          </a:prstGeom>
          <a:noFill/>
          <a:ln/>
        </p:spPr>
        <p:txBody>
          <a:bodyPr wrap="square" rtlCol="0" anchor="ctr"/>
          <a:lstStyle/>
          <a:p>
            <a:pPr marL="0" indent="0">
              <a:buNone/>
            </a:pPr>
            <a:r>
              <a:rPr lang="en-US" sz="3400" b="1" dirty="0">
                <a:solidFill>
                  <a:srgbClr val="FFFFFF"/>
                </a:solidFill>
                <a:latin typeface="맑은 고딕" pitchFamily="34" charset="0"/>
                <a:ea typeface="맑은 고딕" pitchFamily="34" charset="-122"/>
                <a:cs typeface="맑은 고딕" pitchFamily="34" charset="-120"/>
              </a:rPr>
              <a:t>한 번 만들어, </a:t>
            </a:r>
            <a:r>
              <a:rPr lang="en-US" sz="3400" b="1" dirty="0">
                <a:solidFill>
                  <a:srgbClr val="F4B740"/>
                </a:solidFill>
                <a:latin typeface="맑은 고딕" pitchFamily="34" charset="0"/>
                <a:ea typeface="맑은 고딕" pitchFamily="34" charset="-122"/>
                <a:cs typeface="맑은 고딕" pitchFamily="34" charset="-120"/>
              </a:rPr>
              <a:t>모두가 함께 씁니다</a:t>
            </a:r>
            <a:endParaRPr lang="en-US" sz="3400" dirty="0"/>
          </a:p>
        </p:txBody>
      </p:sp>
      <p:sp>
        <p:nvSpPr>
          <p:cNvPr id="5" name="Text 3"/>
          <p:cNvSpPr/>
          <p:nvPr/>
        </p:nvSpPr>
        <p:spPr>
          <a:xfrm>
            <a:off x="548640" y="2057400"/>
            <a:ext cx="10789920" cy="640080"/>
          </a:xfrm>
          <a:prstGeom prst="rect">
            <a:avLst/>
          </a:prstGeom>
          <a:noFill/>
          <a:ln/>
        </p:spPr>
        <p:txBody>
          <a:bodyPr wrap="square" rtlCol="0" anchor="ctr"/>
          <a:lstStyle/>
          <a:p>
            <a:pPr marL="0" indent="0">
              <a:lnSpc>
                <a:spcPct val="120000"/>
              </a:lnSpc>
              <a:buNone/>
            </a:pPr>
            <a:r>
              <a:rPr lang="en-US" sz="1450" dirty="0">
                <a:solidFill>
                  <a:srgbClr val="DBE7FB"/>
                </a:solidFill>
                <a:latin typeface="맑은 고딕" pitchFamily="34" charset="0"/>
                <a:ea typeface="맑은 고딕" pitchFamily="34" charset="-122"/>
                <a:cs typeface="맑은 고딕" pitchFamily="34" charset="-120"/>
              </a:rPr>
              <a:t>Core는 모든 서비스의 '공용 엔진'입니다. 인증·보안·데이터 처리·기록 같은 공통 기능을 Core에 한 번만 구현하면, 6개 서비스가 그대로 가져다 씁니다.</a:t>
            </a:r>
            <a:endParaRPr lang="en-US" sz="1450" dirty="0"/>
          </a:p>
        </p:txBody>
      </p:sp>
      <p:sp>
        <p:nvSpPr>
          <p:cNvPr id="6" name="Shape 4"/>
          <p:cNvSpPr/>
          <p:nvPr/>
        </p:nvSpPr>
        <p:spPr>
          <a:xfrm>
            <a:off x="548640" y="2971800"/>
            <a:ext cx="5440680" cy="3246120"/>
          </a:xfrm>
          <a:prstGeom prst="rect">
            <a:avLst/>
          </a:prstGeom>
          <a:solidFill>
            <a:srgbClr val="14264F"/>
          </a:solidFill>
          <a:ln w="19050">
            <a:solidFill>
              <a:srgbClr val="E2574C"/>
            </a:solidFill>
            <a:prstDash val="solid"/>
          </a:ln>
          <a:effectLst>
            <a:outerShdw blurRad="114300" dist="38100" dir="5400000" algn="bl" rotWithShape="0">
              <a:srgbClr val="0E1F45">
                <a:alpha val="14000"/>
              </a:srgbClr>
            </a:outerShdw>
          </a:effectLst>
        </p:spPr>
      </p:sp>
      <p:pic>
        <p:nvPicPr>
          <p:cNvPr id="7" name="Image 0" descr="preencoded.png"/>
          <p:cNvPicPr>
            <a:picLocks noChangeAspect="1"/>
          </p:cNvPicPr>
          <p:nvPr/>
        </p:nvPicPr>
        <p:blipFill>
          <a:blip r:embed="rId3"/>
          <a:stretch>
            <a:fillRect/>
          </a:stretch>
        </p:blipFill>
        <p:spPr>
          <a:xfrm>
            <a:off x="868680" y="3246120"/>
            <a:ext cx="502920" cy="502920"/>
          </a:xfrm>
          <a:prstGeom prst="rect">
            <a:avLst/>
          </a:prstGeom>
        </p:spPr>
      </p:pic>
      <p:sp>
        <p:nvSpPr>
          <p:cNvPr id="8" name="Text 5"/>
          <p:cNvSpPr/>
          <p:nvPr/>
        </p:nvSpPr>
        <p:spPr>
          <a:xfrm>
            <a:off x="1508760" y="3246120"/>
            <a:ext cx="4251960" cy="502920"/>
          </a:xfrm>
          <a:prstGeom prst="rect">
            <a:avLst/>
          </a:prstGeom>
          <a:noFill/>
          <a:ln/>
        </p:spPr>
        <p:txBody>
          <a:bodyPr wrap="square" rtlCol="0" anchor="ct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기존 방식 (Core 없이)</a:t>
            </a:r>
            <a:endParaRPr lang="en-US" sz="1700" dirty="0"/>
          </a:p>
        </p:txBody>
      </p:sp>
      <p:sp>
        <p:nvSpPr>
          <p:cNvPr id="9" name="Shape 6"/>
          <p:cNvSpPr/>
          <p:nvPr/>
        </p:nvSpPr>
        <p:spPr>
          <a:xfrm>
            <a:off x="932688" y="4178808"/>
            <a:ext cx="109728" cy="109728"/>
          </a:xfrm>
          <a:prstGeom prst="ellipse">
            <a:avLst/>
          </a:prstGeom>
          <a:solidFill>
            <a:srgbClr val="E2574C"/>
          </a:solidFill>
          <a:ln/>
        </p:spPr>
      </p:sp>
      <p:sp>
        <p:nvSpPr>
          <p:cNvPr id="10" name="Text 7"/>
          <p:cNvSpPr/>
          <p:nvPr/>
        </p:nvSpPr>
        <p:spPr>
          <a:xfrm>
            <a:off x="1188720" y="4069080"/>
            <a:ext cx="4526280" cy="502920"/>
          </a:xfrm>
          <a:prstGeom prst="rect">
            <a:avLst/>
          </a:prstGeom>
          <a:noFill/>
          <a:ln/>
        </p:spPr>
        <p:txBody>
          <a:bodyPr wrap="square" rtlCol="0" anchor="ctr"/>
          <a:lstStyle/>
          <a:p>
            <a:pPr marL="0" indent="0">
              <a:buNone/>
            </a:pPr>
            <a:r>
              <a:rPr lang="en-US" sz="1350" dirty="0">
                <a:solidFill>
                  <a:srgbClr val="DBE7FB"/>
                </a:solidFill>
                <a:latin typeface="맑은 고딕" pitchFamily="34" charset="0"/>
                <a:ea typeface="맑은 고딕" pitchFamily="34" charset="-122"/>
                <a:cs typeface="맑은 고딕" pitchFamily="34" charset="-120"/>
              </a:rPr>
              <a:t>서비스마다 보안을 따로 개발</a:t>
            </a:r>
            <a:endParaRPr lang="en-US" sz="1350" dirty="0"/>
          </a:p>
        </p:txBody>
      </p:sp>
      <p:sp>
        <p:nvSpPr>
          <p:cNvPr id="11" name="Shape 8"/>
          <p:cNvSpPr/>
          <p:nvPr/>
        </p:nvSpPr>
        <p:spPr>
          <a:xfrm>
            <a:off x="932688" y="4837176"/>
            <a:ext cx="109728" cy="109728"/>
          </a:xfrm>
          <a:prstGeom prst="ellipse">
            <a:avLst/>
          </a:prstGeom>
          <a:solidFill>
            <a:srgbClr val="E2574C"/>
          </a:solidFill>
          <a:ln/>
        </p:spPr>
      </p:sp>
      <p:sp>
        <p:nvSpPr>
          <p:cNvPr id="12" name="Text 9"/>
          <p:cNvSpPr/>
          <p:nvPr/>
        </p:nvSpPr>
        <p:spPr>
          <a:xfrm>
            <a:off x="1188720" y="4727448"/>
            <a:ext cx="4526280" cy="502920"/>
          </a:xfrm>
          <a:prstGeom prst="rect">
            <a:avLst/>
          </a:prstGeom>
          <a:noFill/>
          <a:ln/>
        </p:spPr>
        <p:txBody>
          <a:bodyPr wrap="square" rtlCol="0" anchor="ctr"/>
          <a:lstStyle/>
          <a:p>
            <a:pPr marL="0" indent="0">
              <a:buNone/>
            </a:pPr>
            <a:r>
              <a:rPr lang="en-US" sz="1350" dirty="0">
                <a:solidFill>
                  <a:srgbClr val="DBE7FB"/>
                </a:solidFill>
                <a:latin typeface="맑은 고딕" pitchFamily="34" charset="0"/>
                <a:ea typeface="맑은 고딕" pitchFamily="34" charset="-122"/>
                <a:cs typeface="맑은 고딕" pitchFamily="34" charset="-120"/>
              </a:rPr>
              <a:t>기능이 제각각 → 오류·혼선</a:t>
            </a:r>
            <a:endParaRPr lang="en-US" sz="1350" dirty="0"/>
          </a:p>
        </p:txBody>
      </p:sp>
      <p:sp>
        <p:nvSpPr>
          <p:cNvPr id="13" name="Shape 10"/>
          <p:cNvSpPr/>
          <p:nvPr/>
        </p:nvSpPr>
        <p:spPr>
          <a:xfrm>
            <a:off x="932688" y="5495544"/>
            <a:ext cx="109728" cy="109728"/>
          </a:xfrm>
          <a:prstGeom prst="ellipse">
            <a:avLst/>
          </a:prstGeom>
          <a:solidFill>
            <a:srgbClr val="E2574C"/>
          </a:solidFill>
          <a:ln/>
        </p:spPr>
      </p:sp>
      <p:sp>
        <p:nvSpPr>
          <p:cNvPr id="14" name="Text 11"/>
          <p:cNvSpPr/>
          <p:nvPr/>
        </p:nvSpPr>
        <p:spPr>
          <a:xfrm>
            <a:off x="1188720" y="5385816"/>
            <a:ext cx="4526280" cy="502920"/>
          </a:xfrm>
          <a:prstGeom prst="rect">
            <a:avLst/>
          </a:prstGeom>
          <a:noFill/>
          <a:ln/>
        </p:spPr>
        <p:txBody>
          <a:bodyPr wrap="square" rtlCol="0" anchor="ctr"/>
          <a:lstStyle/>
          <a:p>
            <a:pPr marL="0" indent="0">
              <a:buNone/>
            </a:pPr>
            <a:r>
              <a:rPr lang="en-US" sz="1350" dirty="0">
                <a:solidFill>
                  <a:srgbClr val="DBE7FB"/>
                </a:solidFill>
                <a:latin typeface="맑은 고딕" pitchFamily="34" charset="0"/>
                <a:ea typeface="맑은 고딕" pitchFamily="34" charset="-122"/>
                <a:cs typeface="맑은 고딕" pitchFamily="34" charset="-120"/>
              </a:rPr>
              <a:t>고치려면 모든 곳을 일일이 수정</a:t>
            </a:r>
            <a:endParaRPr lang="en-US" sz="1350" dirty="0"/>
          </a:p>
        </p:txBody>
      </p:sp>
      <p:sp>
        <p:nvSpPr>
          <p:cNvPr id="15" name="Shape 12"/>
          <p:cNvSpPr/>
          <p:nvPr/>
        </p:nvSpPr>
        <p:spPr>
          <a:xfrm>
            <a:off x="6355080" y="2971800"/>
            <a:ext cx="5440680" cy="3246120"/>
          </a:xfrm>
          <a:prstGeom prst="rect">
            <a:avLst/>
          </a:prstGeom>
          <a:solidFill>
            <a:srgbClr val="14264F"/>
          </a:solidFill>
          <a:ln w="19050">
            <a:solidFill>
              <a:srgbClr val="2FB37E"/>
            </a:solidFill>
            <a:prstDash val="solid"/>
          </a:ln>
          <a:effectLst>
            <a:outerShdw blurRad="114300" dist="38100" dir="5400000" algn="bl" rotWithShape="0">
              <a:srgbClr val="0E1F45">
                <a:alpha val="14000"/>
              </a:srgbClr>
            </a:outerShdw>
          </a:effectLst>
        </p:spPr>
      </p:sp>
      <p:pic>
        <p:nvPicPr>
          <p:cNvPr id="16" name="Image 1" descr="preencoded.png"/>
          <p:cNvPicPr>
            <a:picLocks noChangeAspect="1"/>
          </p:cNvPicPr>
          <p:nvPr/>
        </p:nvPicPr>
        <p:blipFill>
          <a:blip r:embed="rId4"/>
          <a:stretch>
            <a:fillRect/>
          </a:stretch>
        </p:blipFill>
        <p:spPr>
          <a:xfrm>
            <a:off x="6675120" y="3246120"/>
            <a:ext cx="502920" cy="502920"/>
          </a:xfrm>
          <a:prstGeom prst="rect">
            <a:avLst/>
          </a:prstGeom>
        </p:spPr>
      </p:pic>
      <p:sp>
        <p:nvSpPr>
          <p:cNvPr id="17" name="Text 13"/>
          <p:cNvSpPr/>
          <p:nvPr/>
        </p:nvSpPr>
        <p:spPr>
          <a:xfrm>
            <a:off x="7315200" y="3246120"/>
            <a:ext cx="4251960" cy="502920"/>
          </a:xfrm>
          <a:prstGeom prst="rect">
            <a:avLst/>
          </a:prstGeom>
          <a:noFill/>
          <a:ln/>
        </p:spPr>
        <p:txBody>
          <a:bodyPr wrap="square" rtlCol="0" anchor="ct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MVIMS 방식 (Core 기반)</a:t>
            </a:r>
            <a:endParaRPr lang="en-US" sz="1700" dirty="0"/>
          </a:p>
        </p:txBody>
      </p:sp>
      <p:sp>
        <p:nvSpPr>
          <p:cNvPr id="18" name="Shape 14"/>
          <p:cNvSpPr/>
          <p:nvPr/>
        </p:nvSpPr>
        <p:spPr>
          <a:xfrm>
            <a:off x="6739128" y="4178808"/>
            <a:ext cx="109728" cy="109728"/>
          </a:xfrm>
          <a:prstGeom prst="ellipse">
            <a:avLst/>
          </a:prstGeom>
          <a:solidFill>
            <a:srgbClr val="2FB37E"/>
          </a:solidFill>
          <a:ln/>
        </p:spPr>
      </p:sp>
      <p:sp>
        <p:nvSpPr>
          <p:cNvPr id="19" name="Text 15"/>
          <p:cNvSpPr/>
          <p:nvPr/>
        </p:nvSpPr>
        <p:spPr>
          <a:xfrm>
            <a:off x="6995160" y="4069080"/>
            <a:ext cx="4526280" cy="502920"/>
          </a:xfrm>
          <a:prstGeom prst="rect">
            <a:avLst/>
          </a:prstGeom>
          <a:noFill/>
          <a:ln/>
        </p:spPr>
        <p:txBody>
          <a:bodyPr wrap="square" rtlCol="0" anchor="ctr"/>
          <a:lstStyle/>
          <a:p>
            <a:pPr marL="0" indent="0">
              <a:buNone/>
            </a:pPr>
            <a:r>
              <a:rPr lang="en-US" sz="1350" dirty="0">
                <a:solidFill>
                  <a:srgbClr val="DBE7FB"/>
                </a:solidFill>
                <a:latin typeface="맑은 고딕" pitchFamily="34" charset="0"/>
                <a:ea typeface="맑은 고딕" pitchFamily="34" charset="-122"/>
                <a:cs typeface="맑은 고딕" pitchFamily="34" charset="-120"/>
              </a:rPr>
              <a:t>보안·공통기능을 Core에 1회 구현</a:t>
            </a:r>
            <a:endParaRPr lang="en-US" sz="1350" dirty="0"/>
          </a:p>
        </p:txBody>
      </p:sp>
      <p:sp>
        <p:nvSpPr>
          <p:cNvPr id="20" name="Shape 16"/>
          <p:cNvSpPr/>
          <p:nvPr/>
        </p:nvSpPr>
        <p:spPr>
          <a:xfrm>
            <a:off x="6739128" y="4837176"/>
            <a:ext cx="109728" cy="109728"/>
          </a:xfrm>
          <a:prstGeom prst="ellipse">
            <a:avLst/>
          </a:prstGeom>
          <a:solidFill>
            <a:srgbClr val="2FB37E"/>
          </a:solidFill>
          <a:ln/>
        </p:spPr>
      </p:sp>
      <p:sp>
        <p:nvSpPr>
          <p:cNvPr id="21" name="Text 17"/>
          <p:cNvSpPr/>
          <p:nvPr/>
        </p:nvSpPr>
        <p:spPr>
          <a:xfrm>
            <a:off x="6995160" y="4727448"/>
            <a:ext cx="4526280" cy="502920"/>
          </a:xfrm>
          <a:prstGeom prst="rect">
            <a:avLst/>
          </a:prstGeom>
          <a:noFill/>
          <a:ln/>
        </p:spPr>
        <p:txBody>
          <a:bodyPr wrap="square" rtlCol="0" anchor="ctr"/>
          <a:lstStyle/>
          <a:p>
            <a:pPr marL="0" indent="0">
              <a:buNone/>
            </a:pPr>
            <a:r>
              <a:rPr lang="en-US" sz="1350" dirty="0">
                <a:solidFill>
                  <a:srgbClr val="DBE7FB"/>
                </a:solidFill>
                <a:latin typeface="맑은 고딕" pitchFamily="34" charset="0"/>
                <a:ea typeface="맑은 고딕" pitchFamily="34" charset="-122"/>
                <a:cs typeface="맑은 고딕" pitchFamily="34" charset="-120"/>
              </a:rPr>
              <a:t>전 서비스가 동일하게 동작</a:t>
            </a:r>
            <a:endParaRPr lang="en-US" sz="1350" dirty="0"/>
          </a:p>
        </p:txBody>
      </p:sp>
      <p:sp>
        <p:nvSpPr>
          <p:cNvPr id="22" name="Shape 18"/>
          <p:cNvSpPr/>
          <p:nvPr/>
        </p:nvSpPr>
        <p:spPr>
          <a:xfrm>
            <a:off x="6739128" y="5495544"/>
            <a:ext cx="109728" cy="109728"/>
          </a:xfrm>
          <a:prstGeom prst="ellipse">
            <a:avLst/>
          </a:prstGeom>
          <a:solidFill>
            <a:srgbClr val="2FB37E"/>
          </a:solidFill>
          <a:ln/>
        </p:spPr>
      </p:sp>
      <p:sp>
        <p:nvSpPr>
          <p:cNvPr id="23" name="Text 19"/>
          <p:cNvSpPr/>
          <p:nvPr/>
        </p:nvSpPr>
        <p:spPr>
          <a:xfrm>
            <a:off x="6995160" y="5385816"/>
            <a:ext cx="4526280" cy="502920"/>
          </a:xfrm>
          <a:prstGeom prst="rect">
            <a:avLst/>
          </a:prstGeom>
          <a:noFill/>
          <a:ln/>
        </p:spPr>
        <p:txBody>
          <a:bodyPr wrap="square" rtlCol="0" anchor="ctr"/>
          <a:lstStyle/>
          <a:p>
            <a:pPr marL="0" indent="0">
              <a:buNone/>
            </a:pPr>
            <a:r>
              <a:rPr lang="en-US" sz="1350" dirty="0">
                <a:solidFill>
                  <a:srgbClr val="DBE7FB"/>
                </a:solidFill>
                <a:latin typeface="맑은 고딕" pitchFamily="34" charset="0"/>
                <a:ea typeface="맑은 고딕" pitchFamily="34" charset="-122"/>
                <a:cs typeface="맑은 고딕" pitchFamily="34" charset="-120"/>
              </a:rPr>
              <a:t>한 곳만 고치면 전체에 반영</a:t>
            </a:r>
            <a:endParaRPr lang="en-US" sz="1350" dirty="0"/>
          </a:p>
        </p:txBody>
      </p:sp>
      <p:sp>
        <p:nvSpPr>
          <p:cNvPr id="25" name="Text 20"/>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26" name="Text 21"/>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ARCHITECTURE</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전체 구조 한눈에 보기</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사용자 → 관문(Gateway) → 각 업무 서비스, 그 아래 공통 토대(Core)</a:t>
            </a:r>
            <a:endParaRPr lang="en-US" sz="1350" dirty="0"/>
          </a:p>
        </p:txBody>
      </p:sp>
      <p:sp>
        <p:nvSpPr>
          <p:cNvPr id="5" name="Shape 3"/>
          <p:cNvSpPr/>
          <p:nvPr/>
        </p:nvSpPr>
        <p:spPr>
          <a:xfrm>
            <a:off x="502920" y="2788920"/>
            <a:ext cx="1554480" cy="914400"/>
          </a:xfrm>
          <a:prstGeom prst="roundRect">
            <a:avLst>
              <a:gd name="adj" fmla="val 10000"/>
            </a:avLst>
          </a:prstGeom>
          <a:solidFill>
            <a:srgbClr val="0E1F45"/>
          </a:solidFill>
          <a:ln/>
          <a:effectLst>
            <a:outerShdw blurRad="114300" dist="38100" dir="5400000" algn="bl" rotWithShape="0">
              <a:srgbClr val="0E1F45">
                <a:alpha val="14000"/>
              </a:srgbClr>
            </a:outerShdw>
          </a:effectLst>
        </p:spPr>
      </p:sp>
      <p:pic>
        <p:nvPicPr>
          <p:cNvPr id="6" name="Image 0" descr="preencoded.png"/>
          <p:cNvPicPr>
            <a:picLocks noChangeAspect="1"/>
          </p:cNvPicPr>
          <p:nvPr/>
        </p:nvPicPr>
        <p:blipFill>
          <a:blip r:embed="rId3"/>
          <a:stretch>
            <a:fillRect/>
          </a:stretch>
        </p:blipFill>
        <p:spPr>
          <a:xfrm>
            <a:off x="1078992" y="2926080"/>
            <a:ext cx="411480" cy="411480"/>
          </a:xfrm>
          <a:prstGeom prst="rect">
            <a:avLst/>
          </a:prstGeom>
        </p:spPr>
      </p:pic>
      <p:sp>
        <p:nvSpPr>
          <p:cNvPr id="7" name="Text 4"/>
          <p:cNvSpPr/>
          <p:nvPr/>
        </p:nvSpPr>
        <p:spPr>
          <a:xfrm>
            <a:off x="502920" y="3337560"/>
            <a:ext cx="1554480" cy="32004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사용자</a:t>
            </a:r>
            <a:endParaRPr lang="en-US" sz="1200" dirty="0"/>
          </a:p>
        </p:txBody>
      </p:sp>
      <p:sp>
        <p:nvSpPr>
          <p:cNvPr id="8" name="Shape 5"/>
          <p:cNvSpPr/>
          <p:nvPr/>
        </p:nvSpPr>
        <p:spPr>
          <a:xfrm>
            <a:off x="2057400" y="3246120"/>
            <a:ext cx="502920" cy="0"/>
          </a:xfrm>
          <a:prstGeom prst="line">
            <a:avLst/>
          </a:prstGeom>
          <a:noFill/>
          <a:ln w="19050">
            <a:solidFill>
              <a:srgbClr val="5B6B85"/>
            </a:solidFill>
            <a:prstDash val="solid"/>
            <a:tailEnd type="triangle"/>
          </a:ln>
        </p:spPr>
      </p:sp>
      <p:sp>
        <p:nvSpPr>
          <p:cNvPr id="9" name="Shape 6"/>
          <p:cNvSpPr/>
          <p:nvPr/>
        </p:nvSpPr>
        <p:spPr>
          <a:xfrm>
            <a:off x="2606040" y="2697480"/>
            <a:ext cx="1783080" cy="1097280"/>
          </a:xfrm>
          <a:prstGeom prst="roundRect">
            <a:avLst>
              <a:gd name="adj" fmla="val 8333"/>
            </a:avLst>
          </a:prstGeom>
          <a:solidFill>
            <a:srgbClr val="1D4ED8"/>
          </a:solidFill>
          <a:ln/>
          <a:effectLst>
            <a:outerShdw blurRad="114300" dist="38100" dir="5400000" algn="bl" rotWithShape="0">
              <a:srgbClr val="0E1F45">
                <a:alpha val="14000"/>
              </a:srgbClr>
            </a:outerShdw>
          </a:effectLst>
        </p:spPr>
      </p:sp>
      <p:pic>
        <p:nvPicPr>
          <p:cNvPr id="10" name="Image 1" descr="preencoded.png"/>
          <p:cNvPicPr>
            <a:picLocks noChangeAspect="1"/>
          </p:cNvPicPr>
          <p:nvPr/>
        </p:nvPicPr>
        <p:blipFill>
          <a:blip r:embed="rId4"/>
          <a:stretch>
            <a:fillRect/>
          </a:stretch>
        </p:blipFill>
        <p:spPr>
          <a:xfrm>
            <a:off x="3291840" y="2852928"/>
            <a:ext cx="411480" cy="411480"/>
          </a:xfrm>
          <a:prstGeom prst="rect">
            <a:avLst/>
          </a:prstGeom>
        </p:spPr>
      </p:pic>
      <p:sp>
        <p:nvSpPr>
          <p:cNvPr id="11" name="Text 7"/>
          <p:cNvSpPr/>
          <p:nvPr/>
        </p:nvSpPr>
        <p:spPr>
          <a:xfrm>
            <a:off x="2606040" y="3273552"/>
            <a:ext cx="1783080" cy="292608"/>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Gateway</a:t>
            </a:r>
            <a:endParaRPr lang="en-US" sz="1300" dirty="0"/>
          </a:p>
        </p:txBody>
      </p:sp>
      <p:sp>
        <p:nvSpPr>
          <p:cNvPr id="12" name="Text 8"/>
          <p:cNvSpPr/>
          <p:nvPr/>
        </p:nvSpPr>
        <p:spPr>
          <a:xfrm>
            <a:off x="2606040" y="3520440"/>
            <a:ext cx="1783080" cy="256032"/>
          </a:xfrm>
          <a:prstGeom prst="rect">
            <a:avLst/>
          </a:prstGeom>
          <a:noFill/>
          <a:ln/>
        </p:spPr>
        <p:txBody>
          <a:bodyPr wrap="square" rtlCol="0" anchor="ctr"/>
          <a:lstStyle/>
          <a:p>
            <a:pPr marL="0" indent="0" algn="ctr">
              <a:buNone/>
            </a:pPr>
            <a:r>
              <a:rPr lang="en-US" sz="1000" dirty="0">
                <a:solidFill>
                  <a:srgbClr val="DBE7FB"/>
                </a:solidFill>
                <a:latin typeface="맑은 고딕" pitchFamily="34" charset="0"/>
                <a:ea typeface="맑은 고딕" pitchFamily="34" charset="-122"/>
                <a:cs typeface="맑은 고딕" pitchFamily="34" charset="-120"/>
              </a:rPr>
              <a:t>관문 · 8080</a:t>
            </a:r>
            <a:endParaRPr lang="en-US" sz="1000" dirty="0"/>
          </a:p>
        </p:txBody>
      </p:sp>
      <p:sp>
        <p:nvSpPr>
          <p:cNvPr id="13" name="Shape 9"/>
          <p:cNvSpPr/>
          <p:nvPr/>
        </p:nvSpPr>
        <p:spPr>
          <a:xfrm>
            <a:off x="4937760" y="1874520"/>
            <a:ext cx="2240280" cy="841248"/>
          </a:xfrm>
          <a:prstGeom prst="rect">
            <a:avLst/>
          </a:prstGeom>
          <a:solidFill>
            <a:srgbClr val="FFFFFF"/>
          </a:solidFill>
          <a:ln w="12700">
            <a:solidFill>
              <a:srgbClr val="3B82F6"/>
            </a:solidFill>
            <a:prstDash val="solid"/>
          </a:ln>
          <a:effectLst>
            <a:outerShdw blurRad="114300" dist="38100" dir="5400000" algn="bl" rotWithShape="0">
              <a:srgbClr val="0E1F45">
                <a:alpha val="14000"/>
              </a:srgbClr>
            </a:outerShdw>
          </a:effectLst>
        </p:spPr>
      </p:sp>
      <p:sp>
        <p:nvSpPr>
          <p:cNvPr id="14" name="Shape 10"/>
          <p:cNvSpPr/>
          <p:nvPr/>
        </p:nvSpPr>
        <p:spPr>
          <a:xfrm>
            <a:off x="4937760" y="1874520"/>
            <a:ext cx="73152" cy="841248"/>
          </a:xfrm>
          <a:prstGeom prst="rect">
            <a:avLst/>
          </a:prstGeom>
          <a:solidFill>
            <a:srgbClr val="3B82F6"/>
          </a:solidFill>
          <a:ln/>
        </p:spPr>
      </p:sp>
      <p:sp>
        <p:nvSpPr>
          <p:cNvPr id="15" name="Text 11"/>
          <p:cNvSpPr/>
          <p:nvPr/>
        </p:nvSpPr>
        <p:spPr>
          <a:xfrm>
            <a:off x="5138928" y="2002536"/>
            <a:ext cx="1965960" cy="329184"/>
          </a:xfrm>
          <a:prstGeom prst="rect">
            <a:avLst/>
          </a:prstGeom>
          <a:noFill/>
          <a:ln/>
        </p:spPr>
        <p:txBody>
          <a:bodyPr wrap="square" rtlCol="0" anchor="ctr"/>
          <a:lstStyle/>
          <a:p>
            <a:pPr marL="0" indent="0">
              <a:buNone/>
            </a:pPr>
            <a:r>
              <a:rPr lang="en-US" sz="1350" b="1" dirty="0">
                <a:solidFill>
                  <a:srgbClr val="1E293B"/>
                </a:solidFill>
                <a:latin typeface="맑은 고딕" pitchFamily="34" charset="0"/>
                <a:ea typeface="맑은 고딕" pitchFamily="34" charset="-122"/>
                <a:cs typeface="맑은 고딕" pitchFamily="34" charset="-120"/>
              </a:rPr>
              <a:t>Login</a:t>
            </a:r>
            <a:endParaRPr lang="en-US" sz="1350" dirty="0"/>
          </a:p>
        </p:txBody>
      </p:sp>
      <p:sp>
        <p:nvSpPr>
          <p:cNvPr id="16" name="Text 12"/>
          <p:cNvSpPr/>
          <p:nvPr/>
        </p:nvSpPr>
        <p:spPr>
          <a:xfrm>
            <a:off x="5138928" y="2331720"/>
            <a:ext cx="1965960" cy="274320"/>
          </a:xfrm>
          <a:prstGeom prst="rect">
            <a:avLst/>
          </a:prstGeom>
          <a:noFill/>
          <a:ln/>
        </p:spPr>
        <p:txBody>
          <a:bodyPr wrap="square" rtlCol="0" anchor="ctr"/>
          <a:lstStyle/>
          <a:p>
            <a:pPr marL="0" indent="0">
              <a:buNone/>
            </a:pPr>
            <a:r>
              <a:rPr lang="en-US" sz="1050" dirty="0">
                <a:solidFill>
                  <a:srgbClr val="5B6B85"/>
                </a:solidFill>
                <a:latin typeface="맑은 고딕" pitchFamily="34" charset="0"/>
                <a:ea typeface="맑은 고딕" pitchFamily="34" charset="-122"/>
                <a:cs typeface="맑은 고딕" pitchFamily="34" charset="-120"/>
              </a:rPr>
              <a:t>로그인 · 8081</a:t>
            </a:r>
            <a:endParaRPr lang="en-US" sz="1050" dirty="0"/>
          </a:p>
        </p:txBody>
      </p:sp>
      <p:sp>
        <p:nvSpPr>
          <p:cNvPr id="17" name="Shape 13"/>
          <p:cNvSpPr/>
          <p:nvPr/>
        </p:nvSpPr>
        <p:spPr>
          <a:xfrm>
            <a:off x="7342632" y="1874520"/>
            <a:ext cx="2240280" cy="841248"/>
          </a:xfrm>
          <a:prstGeom prst="rect">
            <a:avLst/>
          </a:prstGeom>
          <a:solidFill>
            <a:srgbClr val="FFFFFF"/>
          </a:solidFill>
          <a:ln w="12700">
            <a:solidFill>
              <a:srgbClr val="3B82F6"/>
            </a:solidFill>
            <a:prstDash val="solid"/>
          </a:ln>
          <a:effectLst>
            <a:outerShdw blurRad="114300" dist="38100" dir="5400000" algn="bl" rotWithShape="0">
              <a:srgbClr val="0E1F45">
                <a:alpha val="14000"/>
              </a:srgbClr>
            </a:outerShdw>
          </a:effectLst>
        </p:spPr>
      </p:sp>
      <p:sp>
        <p:nvSpPr>
          <p:cNvPr id="18" name="Shape 14"/>
          <p:cNvSpPr/>
          <p:nvPr/>
        </p:nvSpPr>
        <p:spPr>
          <a:xfrm>
            <a:off x="7342632" y="1874520"/>
            <a:ext cx="73152" cy="841248"/>
          </a:xfrm>
          <a:prstGeom prst="rect">
            <a:avLst/>
          </a:prstGeom>
          <a:solidFill>
            <a:srgbClr val="3B82F6"/>
          </a:solidFill>
          <a:ln/>
        </p:spPr>
      </p:sp>
      <p:sp>
        <p:nvSpPr>
          <p:cNvPr id="19" name="Text 15"/>
          <p:cNvSpPr/>
          <p:nvPr/>
        </p:nvSpPr>
        <p:spPr>
          <a:xfrm>
            <a:off x="7543800" y="2002536"/>
            <a:ext cx="1965960" cy="329184"/>
          </a:xfrm>
          <a:prstGeom prst="rect">
            <a:avLst/>
          </a:prstGeom>
          <a:noFill/>
          <a:ln/>
        </p:spPr>
        <p:txBody>
          <a:bodyPr wrap="square" rtlCol="0" anchor="ctr"/>
          <a:lstStyle/>
          <a:p>
            <a:pPr marL="0" indent="0">
              <a:buNone/>
            </a:pPr>
            <a:r>
              <a:rPr lang="en-US" sz="1350" b="1" dirty="0">
                <a:solidFill>
                  <a:srgbClr val="1E293B"/>
                </a:solidFill>
                <a:latin typeface="맑은 고딕" pitchFamily="34" charset="0"/>
                <a:ea typeface="맑은 고딕" pitchFamily="34" charset="-122"/>
                <a:cs typeface="맑은 고딕" pitchFamily="34" charset="-120"/>
              </a:rPr>
              <a:t>FMS</a:t>
            </a:r>
            <a:endParaRPr lang="en-US" sz="1350" dirty="0"/>
          </a:p>
        </p:txBody>
      </p:sp>
      <p:sp>
        <p:nvSpPr>
          <p:cNvPr id="20" name="Text 16"/>
          <p:cNvSpPr/>
          <p:nvPr/>
        </p:nvSpPr>
        <p:spPr>
          <a:xfrm>
            <a:off x="7543800" y="2331720"/>
            <a:ext cx="1965960" cy="274320"/>
          </a:xfrm>
          <a:prstGeom prst="rect">
            <a:avLst/>
          </a:prstGeom>
          <a:noFill/>
          <a:ln/>
        </p:spPr>
        <p:txBody>
          <a:bodyPr wrap="square" rtlCol="0" anchor="ctr"/>
          <a:lstStyle/>
          <a:p>
            <a:pPr marL="0" indent="0">
              <a:buNone/>
            </a:pPr>
            <a:r>
              <a:rPr lang="en-US" sz="1050" dirty="0">
                <a:solidFill>
                  <a:srgbClr val="5B6B85"/>
                </a:solidFill>
                <a:latin typeface="맑은 고딕" pitchFamily="34" charset="0"/>
                <a:ea typeface="맑은 고딕" pitchFamily="34" charset="-122"/>
                <a:cs typeface="맑은 고딕" pitchFamily="34" charset="-120"/>
              </a:rPr>
              <a:t>파일관리 · 8082</a:t>
            </a:r>
            <a:endParaRPr lang="en-US" sz="1050" dirty="0"/>
          </a:p>
        </p:txBody>
      </p:sp>
      <p:sp>
        <p:nvSpPr>
          <p:cNvPr id="21" name="Shape 17"/>
          <p:cNvSpPr/>
          <p:nvPr/>
        </p:nvSpPr>
        <p:spPr>
          <a:xfrm>
            <a:off x="9747504" y="1874520"/>
            <a:ext cx="2240280" cy="841248"/>
          </a:xfrm>
          <a:prstGeom prst="rect">
            <a:avLst/>
          </a:prstGeom>
          <a:solidFill>
            <a:srgbClr val="FFFFFF"/>
          </a:solidFill>
          <a:ln w="12700">
            <a:solidFill>
              <a:srgbClr val="3B82F6"/>
            </a:solidFill>
            <a:prstDash val="solid"/>
          </a:ln>
          <a:effectLst>
            <a:outerShdw blurRad="114300" dist="38100" dir="5400000" algn="bl" rotWithShape="0">
              <a:srgbClr val="0E1F45">
                <a:alpha val="14000"/>
              </a:srgbClr>
            </a:outerShdw>
          </a:effectLst>
        </p:spPr>
      </p:sp>
      <p:sp>
        <p:nvSpPr>
          <p:cNvPr id="22" name="Shape 18"/>
          <p:cNvSpPr/>
          <p:nvPr/>
        </p:nvSpPr>
        <p:spPr>
          <a:xfrm>
            <a:off x="9747504" y="1874520"/>
            <a:ext cx="73152" cy="841248"/>
          </a:xfrm>
          <a:prstGeom prst="rect">
            <a:avLst/>
          </a:prstGeom>
          <a:solidFill>
            <a:srgbClr val="3B82F6"/>
          </a:solidFill>
          <a:ln/>
        </p:spPr>
      </p:sp>
      <p:sp>
        <p:nvSpPr>
          <p:cNvPr id="23" name="Text 19"/>
          <p:cNvSpPr/>
          <p:nvPr/>
        </p:nvSpPr>
        <p:spPr>
          <a:xfrm>
            <a:off x="9948672" y="2002536"/>
            <a:ext cx="1965960" cy="329184"/>
          </a:xfrm>
          <a:prstGeom prst="rect">
            <a:avLst/>
          </a:prstGeom>
          <a:noFill/>
          <a:ln/>
        </p:spPr>
        <p:txBody>
          <a:bodyPr wrap="square" rtlCol="0" anchor="ctr"/>
          <a:lstStyle/>
          <a:p>
            <a:pPr marL="0" indent="0">
              <a:buNone/>
            </a:pPr>
            <a:r>
              <a:rPr lang="en-US" sz="1350" b="1" dirty="0">
                <a:solidFill>
                  <a:srgbClr val="1E293B"/>
                </a:solidFill>
                <a:latin typeface="맑은 고딕" pitchFamily="34" charset="0"/>
                <a:ea typeface="맑은 고딕" pitchFamily="34" charset="-122"/>
                <a:cs typeface="맑은 고딕" pitchFamily="34" charset="-120"/>
              </a:rPr>
              <a:t>Management</a:t>
            </a:r>
            <a:endParaRPr lang="en-US" sz="1350" dirty="0"/>
          </a:p>
        </p:txBody>
      </p:sp>
      <p:sp>
        <p:nvSpPr>
          <p:cNvPr id="24" name="Text 20"/>
          <p:cNvSpPr/>
          <p:nvPr/>
        </p:nvSpPr>
        <p:spPr>
          <a:xfrm>
            <a:off x="9948672" y="2331720"/>
            <a:ext cx="1965960" cy="274320"/>
          </a:xfrm>
          <a:prstGeom prst="rect">
            <a:avLst/>
          </a:prstGeom>
          <a:noFill/>
          <a:ln/>
        </p:spPr>
        <p:txBody>
          <a:bodyPr wrap="square" rtlCol="0" anchor="ctr"/>
          <a:lstStyle/>
          <a:p>
            <a:pPr marL="0" indent="0">
              <a:buNone/>
            </a:pPr>
            <a:r>
              <a:rPr lang="en-US" sz="1050" dirty="0">
                <a:solidFill>
                  <a:srgbClr val="5B6B85"/>
                </a:solidFill>
                <a:latin typeface="맑은 고딕" pitchFamily="34" charset="0"/>
                <a:ea typeface="맑은 고딕" pitchFamily="34" charset="-122"/>
                <a:cs typeface="맑은 고딕" pitchFamily="34" charset="-120"/>
              </a:rPr>
              <a:t>시스템관리 · 8083</a:t>
            </a:r>
            <a:endParaRPr lang="en-US" sz="1050" dirty="0"/>
          </a:p>
        </p:txBody>
      </p:sp>
      <p:sp>
        <p:nvSpPr>
          <p:cNvPr id="25" name="Shape 21"/>
          <p:cNvSpPr/>
          <p:nvPr/>
        </p:nvSpPr>
        <p:spPr>
          <a:xfrm>
            <a:off x="4937760" y="2898648"/>
            <a:ext cx="2240280" cy="841248"/>
          </a:xfrm>
          <a:prstGeom prst="rect">
            <a:avLst/>
          </a:prstGeom>
          <a:solidFill>
            <a:srgbClr val="FFFFFF"/>
          </a:solidFill>
          <a:ln w="12700">
            <a:solidFill>
              <a:srgbClr val="3B82F6"/>
            </a:solidFill>
            <a:prstDash val="solid"/>
          </a:ln>
          <a:effectLst>
            <a:outerShdw blurRad="114300" dist="38100" dir="5400000" algn="bl" rotWithShape="0">
              <a:srgbClr val="0E1F45">
                <a:alpha val="14000"/>
              </a:srgbClr>
            </a:outerShdw>
          </a:effectLst>
        </p:spPr>
      </p:sp>
      <p:sp>
        <p:nvSpPr>
          <p:cNvPr id="26" name="Shape 22"/>
          <p:cNvSpPr/>
          <p:nvPr/>
        </p:nvSpPr>
        <p:spPr>
          <a:xfrm>
            <a:off x="4937760" y="2898648"/>
            <a:ext cx="73152" cy="841248"/>
          </a:xfrm>
          <a:prstGeom prst="rect">
            <a:avLst/>
          </a:prstGeom>
          <a:solidFill>
            <a:srgbClr val="3B82F6"/>
          </a:solidFill>
          <a:ln/>
        </p:spPr>
      </p:sp>
      <p:sp>
        <p:nvSpPr>
          <p:cNvPr id="27" name="Text 23"/>
          <p:cNvSpPr/>
          <p:nvPr/>
        </p:nvSpPr>
        <p:spPr>
          <a:xfrm>
            <a:off x="5138928" y="3026664"/>
            <a:ext cx="1965960" cy="329184"/>
          </a:xfrm>
          <a:prstGeom prst="rect">
            <a:avLst/>
          </a:prstGeom>
          <a:noFill/>
          <a:ln/>
        </p:spPr>
        <p:txBody>
          <a:bodyPr wrap="square" rtlCol="0" anchor="ctr"/>
          <a:lstStyle/>
          <a:p>
            <a:pPr marL="0" indent="0">
              <a:buNone/>
            </a:pPr>
            <a:r>
              <a:rPr lang="en-US" sz="1350" b="1" dirty="0">
                <a:solidFill>
                  <a:srgbClr val="1E293B"/>
                </a:solidFill>
                <a:latin typeface="맑은 고딕" pitchFamily="34" charset="0"/>
                <a:ea typeface="맑은 고딕" pitchFamily="34" charset="-122"/>
                <a:cs typeface="맑은 고딕" pitchFamily="34" charset="-120"/>
              </a:rPr>
              <a:t>Register</a:t>
            </a:r>
            <a:endParaRPr lang="en-US" sz="1350" dirty="0"/>
          </a:p>
        </p:txBody>
      </p:sp>
      <p:sp>
        <p:nvSpPr>
          <p:cNvPr id="28" name="Text 24"/>
          <p:cNvSpPr/>
          <p:nvPr/>
        </p:nvSpPr>
        <p:spPr>
          <a:xfrm>
            <a:off x="5138928" y="3355848"/>
            <a:ext cx="1965960" cy="274320"/>
          </a:xfrm>
          <a:prstGeom prst="rect">
            <a:avLst/>
          </a:prstGeom>
          <a:noFill/>
          <a:ln/>
        </p:spPr>
        <p:txBody>
          <a:bodyPr wrap="square" rtlCol="0" anchor="ctr"/>
          <a:lstStyle/>
          <a:p>
            <a:pPr marL="0" indent="0">
              <a:buNone/>
            </a:pPr>
            <a:r>
              <a:rPr lang="en-US" sz="1050" dirty="0">
                <a:solidFill>
                  <a:srgbClr val="5B6B85"/>
                </a:solidFill>
                <a:latin typeface="맑은 고딕" pitchFamily="34" charset="0"/>
                <a:ea typeface="맑은 고딕" pitchFamily="34" charset="-122"/>
                <a:cs typeface="맑은 고딕" pitchFamily="34" charset="-120"/>
              </a:rPr>
              <a:t>접수 · 8085</a:t>
            </a:r>
            <a:endParaRPr lang="en-US" sz="1050" dirty="0"/>
          </a:p>
        </p:txBody>
      </p:sp>
      <p:sp>
        <p:nvSpPr>
          <p:cNvPr id="29" name="Shape 25"/>
          <p:cNvSpPr/>
          <p:nvPr/>
        </p:nvSpPr>
        <p:spPr>
          <a:xfrm>
            <a:off x="7342632" y="2898648"/>
            <a:ext cx="2240280" cy="841248"/>
          </a:xfrm>
          <a:prstGeom prst="rect">
            <a:avLst/>
          </a:prstGeom>
          <a:solidFill>
            <a:srgbClr val="FFFFFF"/>
          </a:solidFill>
          <a:ln w="12700">
            <a:solidFill>
              <a:srgbClr val="3B82F6"/>
            </a:solidFill>
            <a:prstDash val="solid"/>
          </a:ln>
          <a:effectLst>
            <a:outerShdw blurRad="114300" dist="38100" dir="5400000" algn="bl" rotWithShape="0">
              <a:srgbClr val="0E1F45">
                <a:alpha val="14000"/>
              </a:srgbClr>
            </a:outerShdw>
          </a:effectLst>
        </p:spPr>
      </p:sp>
      <p:sp>
        <p:nvSpPr>
          <p:cNvPr id="30" name="Shape 26"/>
          <p:cNvSpPr/>
          <p:nvPr/>
        </p:nvSpPr>
        <p:spPr>
          <a:xfrm>
            <a:off x="7342632" y="2898648"/>
            <a:ext cx="73152" cy="841248"/>
          </a:xfrm>
          <a:prstGeom prst="rect">
            <a:avLst/>
          </a:prstGeom>
          <a:solidFill>
            <a:srgbClr val="3B82F6"/>
          </a:solidFill>
          <a:ln/>
        </p:spPr>
      </p:sp>
      <p:sp>
        <p:nvSpPr>
          <p:cNvPr id="31" name="Text 27"/>
          <p:cNvSpPr/>
          <p:nvPr/>
        </p:nvSpPr>
        <p:spPr>
          <a:xfrm>
            <a:off x="7543800" y="3026664"/>
            <a:ext cx="1965960" cy="329184"/>
          </a:xfrm>
          <a:prstGeom prst="rect">
            <a:avLst/>
          </a:prstGeom>
          <a:noFill/>
          <a:ln/>
        </p:spPr>
        <p:txBody>
          <a:bodyPr wrap="square" rtlCol="0" anchor="ctr"/>
          <a:lstStyle/>
          <a:p>
            <a:pPr marL="0" indent="0">
              <a:buNone/>
            </a:pPr>
            <a:r>
              <a:rPr lang="en-US" sz="1350" b="1" dirty="0">
                <a:solidFill>
                  <a:srgbClr val="1E293B"/>
                </a:solidFill>
                <a:latin typeface="맑은 고딕" pitchFamily="34" charset="0"/>
                <a:ea typeface="맑은 고딕" pitchFamily="34" charset="-122"/>
                <a:cs typeface="맑은 고딕" pitchFamily="34" charset="-120"/>
              </a:rPr>
              <a:t>Inspection</a:t>
            </a:r>
            <a:endParaRPr lang="en-US" sz="1350" dirty="0"/>
          </a:p>
        </p:txBody>
      </p:sp>
      <p:sp>
        <p:nvSpPr>
          <p:cNvPr id="32" name="Text 28"/>
          <p:cNvSpPr/>
          <p:nvPr/>
        </p:nvSpPr>
        <p:spPr>
          <a:xfrm>
            <a:off x="7543800" y="3355848"/>
            <a:ext cx="1965960" cy="274320"/>
          </a:xfrm>
          <a:prstGeom prst="rect">
            <a:avLst/>
          </a:prstGeom>
          <a:noFill/>
          <a:ln/>
        </p:spPr>
        <p:txBody>
          <a:bodyPr wrap="square" rtlCol="0" anchor="ctr"/>
          <a:lstStyle/>
          <a:p>
            <a:pPr marL="0" indent="0">
              <a:buNone/>
            </a:pPr>
            <a:r>
              <a:rPr lang="en-US" sz="1050" dirty="0">
                <a:solidFill>
                  <a:srgbClr val="5B6B85"/>
                </a:solidFill>
                <a:latin typeface="맑은 고딕" pitchFamily="34" charset="0"/>
                <a:ea typeface="맑은 고딕" pitchFamily="34" charset="-122"/>
                <a:cs typeface="맑은 고딕" pitchFamily="34" charset="-120"/>
              </a:rPr>
              <a:t>검사 · 8086</a:t>
            </a:r>
            <a:endParaRPr lang="en-US" sz="1050" dirty="0"/>
          </a:p>
        </p:txBody>
      </p:sp>
      <p:sp>
        <p:nvSpPr>
          <p:cNvPr id="33" name="Shape 29"/>
          <p:cNvSpPr/>
          <p:nvPr/>
        </p:nvSpPr>
        <p:spPr>
          <a:xfrm>
            <a:off x="9747504" y="2898648"/>
            <a:ext cx="2240280" cy="841248"/>
          </a:xfrm>
          <a:prstGeom prst="rect">
            <a:avLst/>
          </a:prstGeom>
          <a:solidFill>
            <a:srgbClr val="FFFFFF"/>
          </a:solidFill>
          <a:ln w="12700">
            <a:solidFill>
              <a:srgbClr val="3B82F6"/>
            </a:solidFill>
            <a:prstDash val="solid"/>
          </a:ln>
          <a:effectLst>
            <a:outerShdw blurRad="114300" dist="38100" dir="5400000" algn="bl" rotWithShape="0">
              <a:srgbClr val="0E1F45">
                <a:alpha val="14000"/>
              </a:srgbClr>
            </a:outerShdw>
          </a:effectLst>
        </p:spPr>
      </p:sp>
      <p:sp>
        <p:nvSpPr>
          <p:cNvPr id="34" name="Shape 30"/>
          <p:cNvSpPr/>
          <p:nvPr/>
        </p:nvSpPr>
        <p:spPr>
          <a:xfrm>
            <a:off x="9747504" y="2898648"/>
            <a:ext cx="73152" cy="841248"/>
          </a:xfrm>
          <a:prstGeom prst="rect">
            <a:avLst/>
          </a:prstGeom>
          <a:solidFill>
            <a:srgbClr val="3B82F6"/>
          </a:solidFill>
          <a:ln/>
        </p:spPr>
      </p:sp>
      <p:sp>
        <p:nvSpPr>
          <p:cNvPr id="35" name="Text 31"/>
          <p:cNvSpPr/>
          <p:nvPr/>
        </p:nvSpPr>
        <p:spPr>
          <a:xfrm>
            <a:off x="9948672" y="3026664"/>
            <a:ext cx="1965960" cy="329184"/>
          </a:xfrm>
          <a:prstGeom prst="rect">
            <a:avLst/>
          </a:prstGeom>
          <a:noFill/>
          <a:ln/>
        </p:spPr>
        <p:txBody>
          <a:bodyPr wrap="square" rtlCol="0" anchor="ctr"/>
          <a:lstStyle/>
          <a:p>
            <a:pPr marL="0" indent="0">
              <a:buNone/>
            </a:pPr>
            <a:r>
              <a:rPr lang="en-US" sz="1350" b="1" dirty="0">
                <a:solidFill>
                  <a:srgbClr val="1E293B"/>
                </a:solidFill>
                <a:latin typeface="맑은 고딕" pitchFamily="34" charset="0"/>
                <a:ea typeface="맑은 고딕" pitchFamily="34" charset="-122"/>
                <a:cs typeface="맑은 고딕" pitchFamily="34" charset="-120"/>
              </a:rPr>
              <a:t>Web-App</a:t>
            </a:r>
            <a:endParaRPr lang="en-US" sz="1350" dirty="0"/>
          </a:p>
        </p:txBody>
      </p:sp>
      <p:sp>
        <p:nvSpPr>
          <p:cNvPr id="36" name="Text 32"/>
          <p:cNvSpPr/>
          <p:nvPr/>
        </p:nvSpPr>
        <p:spPr>
          <a:xfrm>
            <a:off x="9948672" y="3355848"/>
            <a:ext cx="1965960" cy="274320"/>
          </a:xfrm>
          <a:prstGeom prst="rect">
            <a:avLst/>
          </a:prstGeom>
          <a:noFill/>
          <a:ln/>
        </p:spPr>
        <p:txBody>
          <a:bodyPr wrap="square" rtlCol="0" anchor="ctr"/>
          <a:lstStyle/>
          <a:p>
            <a:pPr marL="0" indent="0">
              <a:buNone/>
            </a:pPr>
            <a:r>
              <a:rPr lang="en-US" sz="1050" dirty="0">
                <a:solidFill>
                  <a:srgbClr val="5B6B85"/>
                </a:solidFill>
                <a:latin typeface="맑은 고딕" pitchFamily="34" charset="0"/>
                <a:ea typeface="맑은 고딕" pitchFamily="34" charset="-122"/>
                <a:cs typeface="맑은 고딕" pitchFamily="34" charset="-120"/>
              </a:rPr>
              <a:t>웹 화면</a:t>
            </a:r>
            <a:endParaRPr lang="en-US" sz="1050" dirty="0"/>
          </a:p>
        </p:txBody>
      </p:sp>
      <p:sp>
        <p:nvSpPr>
          <p:cNvPr id="37" name="Shape 33"/>
          <p:cNvSpPr/>
          <p:nvPr/>
        </p:nvSpPr>
        <p:spPr>
          <a:xfrm>
            <a:off x="4389120" y="3246120"/>
            <a:ext cx="502920" cy="0"/>
          </a:xfrm>
          <a:prstGeom prst="line">
            <a:avLst/>
          </a:prstGeom>
          <a:noFill/>
          <a:ln w="19050">
            <a:solidFill>
              <a:srgbClr val="5B6B85"/>
            </a:solidFill>
            <a:prstDash val="solid"/>
            <a:tailEnd type="triangle"/>
          </a:ln>
        </p:spPr>
      </p:sp>
      <p:sp>
        <p:nvSpPr>
          <p:cNvPr id="38" name="Shape 34"/>
          <p:cNvSpPr/>
          <p:nvPr/>
        </p:nvSpPr>
        <p:spPr>
          <a:xfrm>
            <a:off x="4937760" y="4617720"/>
            <a:ext cx="6720840" cy="1234440"/>
          </a:xfrm>
          <a:prstGeom prst="rect">
            <a:avLst/>
          </a:prstGeom>
          <a:solidFill>
            <a:srgbClr val="0E1F45"/>
          </a:solidFill>
          <a:ln/>
          <a:effectLst>
            <a:outerShdw blurRad="114300" dist="38100" dir="5400000" algn="bl" rotWithShape="0">
              <a:srgbClr val="0E1F45">
                <a:alpha val="14000"/>
              </a:srgbClr>
            </a:outerShdw>
          </a:effectLst>
        </p:spPr>
      </p:sp>
      <p:sp>
        <p:nvSpPr>
          <p:cNvPr id="39" name="Text 35"/>
          <p:cNvSpPr/>
          <p:nvPr/>
        </p:nvSpPr>
        <p:spPr>
          <a:xfrm>
            <a:off x="4937760" y="4617720"/>
            <a:ext cx="6720840" cy="1234440"/>
          </a:xfrm>
          <a:prstGeom prst="rect">
            <a:avLst/>
          </a:prstGeom>
          <a:noFill/>
          <a:ln/>
        </p:spPr>
        <p:txBody>
          <a:bodyPr wrap="square" rtlCol="0" anchor="ctr"/>
          <a:lstStyle/>
          <a:p>
            <a:pPr marL="0" indent="0" algn="ctr">
              <a:lnSpc>
                <a:spcPct val="110000"/>
              </a:lnSpc>
              <a:buNone/>
            </a:pPr>
            <a:r>
              <a:rPr lang="en-US" sz="1600" b="1" dirty="0">
                <a:solidFill>
                  <a:srgbClr val="F4B740"/>
                </a:solidFill>
                <a:latin typeface="맑은 고딕" pitchFamily="34" charset="0"/>
                <a:ea typeface="맑은 고딕" pitchFamily="34" charset="-122"/>
                <a:cs typeface="맑은 고딕" pitchFamily="34" charset="-120"/>
              </a:rPr>
              <a:t>CORE 라이브러리
</a:t>
            </a:r>
            <a:r>
              <a:rPr lang="en-US" sz="1150" dirty="0">
                <a:solidFill>
                  <a:srgbClr val="DBE7FB"/>
                </a:solidFill>
                <a:latin typeface="맑은 고딕" pitchFamily="34" charset="0"/>
                <a:ea typeface="맑은 고딕" pitchFamily="34" charset="-122"/>
                <a:cs typeface="맑은 고딕" pitchFamily="34" charset="-120"/>
              </a:rPr>
              <a:t>인증·보안 · 공통 CRUD · 데이터 자동변환 · 감사로그 · DB 관리 · 다국어</a:t>
            </a:r>
            <a:endParaRPr lang="en-US" sz="1600" dirty="0"/>
          </a:p>
        </p:txBody>
      </p:sp>
      <p:sp>
        <p:nvSpPr>
          <p:cNvPr id="40" name="Shape 36"/>
          <p:cNvSpPr/>
          <p:nvPr/>
        </p:nvSpPr>
        <p:spPr>
          <a:xfrm>
            <a:off x="6057900" y="4069080"/>
            <a:ext cx="0" cy="548640"/>
          </a:xfrm>
          <a:prstGeom prst="line">
            <a:avLst/>
          </a:prstGeom>
          <a:noFill/>
          <a:ln w="15240">
            <a:solidFill>
              <a:srgbClr val="3B82F6"/>
            </a:solidFill>
            <a:prstDash val="dash"/>
          </a:ln>
        </p:spPr>
      </p:sp>
      <p:sp>
        <p:nvSpPr>
          <p:cNvPr id="41" name="Shape 37"/>
          <p:cNvSpPr/>
          <p:nvPr/>
        </p:nvSpPr>
        <p:spPr>
          <a:xfrm>
            <a:off x="8462772" y="4069080"/>
            <a:ext cx="0" cy="548640"/>
          </a:xfrm>
          <a:prstGeom prst="line">
            <a:avLst/>
          </a:prstGeom>
          <a:noFill/>
          <a:ln w="15240">
            <a:solidFill>
              <a:srgbClr val="3B82F6"/>
            </a:solidFill>
            <a:prstDash val="dash"/>
          </a:ln>
        </p:spPr>
      </p:sp>
      <p:sp>
        <p:nvSpPr>
          <p:cNvPr id="42" name="Shape 38"/>
          <p:cNvSpPr/>
          <p:nvPr/>
        </p:nvSpPr>
        <p:spPr>
          <a:xfrm>
            <a:off x="10867644" y="4069080"/>
            <a:ext cx="0" cy="548640"/>
          </a:xfrm>
          <a:prstGeom prst="line">
            <a:avLst/>
          </a:prstGeom>
          <a:noFill/>
          <a:ln w="15240">
            <a:solidFill>
              <a:srgbClr val="3B82F6"/>
            </a:solidFill>
            <a:prstDash val="dash"/>
          </a:ln>
        </p:spPr>
      </p:sp>
      <p:sp>
        <p:nvSpPr>
          <p:cNvPr id="44" name="Text 3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45" name="Text 40"/>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CORE CAPABILITIES</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Core가 맡는 4가지 핵심 역할</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모든 서비스가 공통으로 필요로 하는 기능을 Core가 책임집니다</a:t>
            </a:r>
            <a:endParaRPr lang="en-US" sz="1350" dirty="0"/>
          </a:p>
        </p:txBody>
      </p:sp>
      <p:sp>
        <p:nvSpPr>
          <p:cNvPr id="5" name="Shape 3"/>
          <p:cNvSpPr/>
          <p:nvPr/>
        </p:nvSpPr>
        <p:spPr>
          <a:xfrm>
            <a:off x="502920" y="2011680"/>
            <a:ext cx="5440680" cy="18745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Shape 4"/>
          <p:cNvSpPr/>
          <p:nvPr/>
        </p:nvSpPr>
        <p:spPr>
          <a:xfrm>
            <a:off x="868680" y="2514600"/>
            <a:ext cx="868680" cy="868680"/>
          </a:xfrm>
          <a:prstGeom prst="ellipse">
            <a:avLst/>
          </a:prstGeom>
          <a:solidFill>
            <a:srgbClr val="1D4ED8"/>
          </a:solidFill>
          <a:ln/>
        </p:spPr>
      </p:sp>
      <p:pic>
        <p:nvPicPr>
          <p:cNvPr id="7" name="Image 0" descr="preencoded.png"/>
          <p:cNvPicPr>
            <a:picLocks noChangeAspect="1"/>
          </p:cNvPicPr>
          <p:nvPr/>
        </p:nvPicPr>
        <p:blipFill>
          <a:blip r:embed="rId3"/>
          <a:stretch>
            <a:fillRect/>
          </a:stretch>
        </p:blipFill>
        <p:spPr>
          <a:xfrm>
            <a:off x="1088136" y="2734056"/>
            <a:ext cx="429768" cy="429768"/>
          </a:xfrm>
          <a:prstGeom prst="rect">
            <a:avLst/>
          </a:prstGeom>
        </p:spPr>
      </p:pic>
      <p:sp>
        <p:nvSpPr>
          <p:cNvPr id="8" name="Text 5"/>
          <p:cNvSpPr/>
          <p:nvPr/>
        </p:nvSpPr>
        <p:spPr>
          <a:xfrm>
            <a:off x="1965960" y="2395728"/>
            <a:ext cx="3794760" cy="457200"/>
          </a:xfrm>
          <a:prstGeom prst="rect">
            <a:avLst/>
          </a:prstGeom>
          <a:noFill/>
          <a:ln/>
        </p:spPr>
        <p:txBody>
          <a:bodyPr wrap="square" rtlCol="0" anchor="ctr"/>
          <a:lstStyle/>
          <a:p>
            <a:pPr marL="0" indent="0">
              <a:buNone/>
            </a:pPr>
            <a:r>
              <a:rPr lang="en-US" sz="1900" b="1" dirty="0">
                <a:solidFill>
                  <a:srgbClr val="1E293B"/>
                </a:solidFill>
                <a:latin typeface="맑은 고딕" pitchFamily="34" charset="0"/>
                <a:ea typeface="맑은 고딕" pitchFamily="34" charset="-122"/>
                <a:cs typeface="맑은 고딕" pitchFamily="34" charset="-120"/>
              </a:rPr>
              <a:t>인증 · 보안</a:t>
            </a:r>
            <a:endParaRPr lang="en-US" sz="1900" dirty="0"/>
          </a:p>
        </p:txBody>
      </p:sp>
      <p:sp>
        <p:nvSpPr>
          <p:cNvPr id="9" name="Text 6"/>
          <p:cNvSpPr/>
          <p:nvPr/>
        </p:nvSpPr>
        <p:spPr>
          <a:xfrm>
            <a:off x="1965960" y="2926080"/>
            <a:ext cx="3749040" cy="731520"/>
          </a:xfrm>
          <a:prstGeom prst="rect">
            <a:avLst/>
          </a:prstGeom>
          <a:noFill/>
          <a:ln/>
        </p:spPr>
        <p:txBody>
          <a:bodyPr wrap="square" rtlCol="0" anchor="ctr"/>
          <a:lstStyle/>
          <a:p>
            <a:pPr marL="0" indent="0">
              <a:lnSpc>
                <a:spcPct val="115000"/>
              </a:lnSpc>
              <a:buNone/>
            </a:pPr>
            <a:r>
              <a:rPr lang="en-US" sz="1300" dirty="0">
                <a:solidFill>
                  <a:srgbClr val="5B6B85"/>
                </a:solidFill>
                <a:latin typeface="맑은 고딕" pitchFamily="34" charset="0"/>
                <a:ea typeface="맑은 고딕" pitchFamily="34" charset="-122"/>
                <a:cs typeface="맑은 고딕" pitchFamily="34" charset="-120"/>
              </a:rPr>
              <a:t>로그인, 권한 확인, 토큰 발급으로 '아무나 못 들어오게'</a:t>
            </a:r>
            <a:endParaRPr lang="en-US" sz="1300" dirty="0"/>
          </a:p>
        </p:txBody>
      </p:sp>
      <p:sp>
        <p:nvSpPr>
          <p:cNvPr id="10" name="Shape 7"/>
          <p:cNvSpPr/>
          <p:nvPr/>
        </p:nvSpPr>
        <p:spPr>
          <a:xfrm>
            <a:off x="6309360" y="2011680"/>
            <a:ext cx="5440680" cy="18745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1" name="Shape 8"/>
          <p:cNvSpPr/>
          <p:nvPr/>
        </p:nvSpPr>
        <p:spPr>
          <a:xfrm>
            <a:off x="6675120" y="2514600"/>
            <a:ext cx="868680" cy="868680"/>
          </a:xfrm>
          <a:prstGeom prst="ellipse">
            <a:avLst/>
          </a:prstGeom>
          <a:solidFill>
            <a:srgbClr val="2563EB"/>
          </a:solidFill>
          <a:ln/>
        </p:spPr>
      </p:sp>
      <p:pic>
        <p:nvPicPr>
          <p:cNvPr id="12" name="Image 1" descr="preencoded.png"/>
          <p:cNvPicPr>
            <a:picLocks noChangeAspect="1"/>
          </p:cNvPicPr>
          <p:nvPr/>
        </p:nvPicPr>
        <p:blipFill>
          <a:blip r:embed="rId4"/>
          <a:stretch>
            <a:fillRect/>
          </a:stretch>
        </p:blipFill>
        <p:spPr>
          <a:xfrm>
            <a:off x="6894576" y="2734056"/>
            <a:ext cx="429768" cy="429768"/>
          </a:xfrm>
          <a:prstGeom prst="rect">
            <a:avLst/>
          </a:prstGeom>
        </p:spPr>
      </p:pic>
      <p:sp>
        <p:nvSpPr>
          <p:cNvPr id="13" name="Text 9"/>
          <p:cNvSpPr/>
          <p:nvPr/>
        </p:nvSpPr>
        <p:spPr>
          <a:xfrm>
            <a:off x="7772400" y="2395728"/>
            <a:ext cx="3794760" cy="457200"/>
          </a:xfrm>
          <a:prstGeom prst="rect">
            <a:avLst/>
          </a:prstGeom>
          <a:noFill/>
          <a:ln/>
        </p:spPr>
        <p:txBody>
          <a:bodyPr wrap="square" rtlCol="0" anchor="ctr"/>
          <a:lstStyle/>
          <a:p>
            <a:pPr marL="0" indent="0">
              <a:buNone/>
            </a:pPr>
            <a:r>
              <a:rPr lang="en-US" sz="1900" b="1" dirty="0">
                <a:solidFill>
                  <a:srgbClr val="1E293B"/>
                </a:solidFill>
                <a:latin typeface="맑은 고딕" pitchFamily="34" charset="0"/>
                <a:ea typeface="맑은 고딕" pitchFamily="34" charset="-122"/>
                <a:cs typeface="맑은 고딕" pitchFamily="34" charset="-120"/>
              </a:rPr>
              <a:t>공통 업무 기능</a:t>
            </a:r>
            <a:endParaRPr lang="en-US" sz="1900" dirty="0"/>
          </a:p>
        </p:txBody>
      </p:sp>
      <p:sp>
        <p:nvSpPr>
          <p:cNvPr id="14" name="Text 10"/>
          <p:cNvSpPr/>
          <p:nvPr/>
        </p:nvSpPr>
        <p:spPr>
          <a:xfrm>
            <a:off x="7772400" y="2926080"/>
            <a:ext cx="3749040" cy="731520"/>
          </a:xfrm>
          <a:prstGeom prst="rect">
            <a:avLst/>
          </a:prstGeom>
          <a:noFill/>
          <a:ln/>
        </p:spPr>
        <p:txBody>
          <a:bodyPr wrap="square" rtlCol="0" anchor="ctr"/>
          <a:lstStyle/>
          <a:p>
            <a:pPr marL="0" indent="0">
              <a:lnSpc>
                <a:spcPct val="115000"/>
              </a:lnSpc>
              <a:buNone/>
            </a:pPr>
            <a:r>
              <a:rPr lang="en-US" sz="1300" dirty="0">
                <a:solidFill>
                  <a:srgbClr val="5B6B85"/>
                </a:solidFill>
                <a:latin typeface="맑은 고딕" pitchFamily="34" charset="0"/>
                <a:ea typeface="맑은 고딕" pitchFamily="34" charset="-122"/>
                <a:cs typeface="맑은 고딕" pitchFamily="34" charset="-120"/>
              </a:rPr>
              <a:t>조회·등록·수정·삭제(CRUD)의 표준 골격을 제공</a:t>
            </a:r>
            <a:endParaRPr lang="en-US" sz="1300" dirty="0"/>
          </a:p>
        </p:txBody>
      </p:sp>
      <p:sp>
        <p:nvSpPr>
          <p:cNvPr id="15" name="Shape 11"/>
          <p:cNvSpPr/>
          <p:nvPr/>
        </p:nvSpPr>
        <p:spPr>
          <a:xfrm>
            <a:off x="502920" y="4206240"/>
            <a:ext cx="5440680" cy="18745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6" name="Shape 12"/>
          <p:cNvSpPr/>
          <p:nvPr/>
        </p:nvSpPr>
        <p:spPr>
          <a:xfrm>
            <a:off x="868680" y="4709160"/>
            <a:ext cx="868680" cy="868680"/>
          </a:xfrm>
          <a:prstGeom prst="ellipse">
            <a:avLst/>
          </a:prstGeom>
          <a:solidFill>
            <a:srgbClr val="3B82F6"/>
          </a:solidFill>
          <a:ln/>
        </p:spPr>
      </p:sp>
      <p:pic>
        <p:nvPicPr>
          <p:cNvPr id="17" name="Image 2" descr="preencoded.png"/>
          <p:cNvPicPr>
            <a:picLocks noChangeAspect="1"/>
          </p:cNvPicPr>
          <p:nvPr/>
        </p:nvPicPr>
        <p:blipFill>
          <a:blip r:embed="rId5"/>
          <a:stretch>
            <a:fillRect/>
          </a:stretch>
        </p:blipFill>
        <p:spPr>
          <a:xfrm>
            <a:off x="1088136" y="4928616"/>
            <a:ext cx="429768" cy="429768"/>
          </a:xfrm>
          <a:prstGeom prst="rect">
            <a:avLst/>
          </a:prstGeom>
        </p:spPr>
      </p:pic>
      <p:sp>
        <p:nvSpPr>
          <p:cNvPr id="18" name="Text 13"/>
          <p:cNvSpPr/>
          <p:nvPr/>
        </p:nvSpPr>
        <p:spPr>
          <a:xfrm>
            <a:off x="1965960" y="4590288"/>
            <a:ext cx="3794760" cy="457200"/>
          </a:xfrm>
          <a:prstGeom prst="rect">
            <a:avLst/>
          </a:prstGeom>
          <a:noFill/>
          <a:ln/>
        </p:spPr>
        <p:txBody>
          <a:bodyPr wrap="square" rtlCol="0" anchor="ctr"/>
          <a:lstStyle/>
          <a:p>
            <a:pPr marL="0" indent="0">
              <a:buNone/>
            </a:pPr>
            <a:r>
              <a:rPr lang="en-US" sz="1900" b="1" dirty="0">
                <a:solidFill>
                  <a:srgbClr val="1E293B"/>
                </a:solidFill>
                <a:latin typeface="맑은 고딕" pitchFamily="34" charset="0"/>
                <a:ea typeface="맑은 고딕" pitchFamily="34" charset="-122"/>
                <a:cs typeface="맑은 고딕" pitchFamily="34" charset="-120"/>
              </a:rPr>
              <a:t>데이터 자동 처리</a:t>
            </a:r>
            <a:endParaRPr lang="en-US" sz="1900" dirty="0"/>
          </a:p>
        </p:txBody>
      </p:sp>
      <p:sp>
        <p:nvSpPr>
          <p:cNvPr id="19" name="Text 14"/>
          <p:cNvSpPr/>
          <p:nvPr/>
        </p:nvSpPr>
        <p:spPr>
          <a:xfrm>
            <a:off x="1965960" y="5120640"/>
            <a:ext cx="3749040" cy="731520"/>
          </a:xfrm>
          <a:prstGeom prst="rect">
            <a:avLst/>
          </a:prstGeom>
          <a:noFill/>
          <a:ln/>
        </p:spPr>
        <p:txBody>
          <a:bodyPr wrap="square" rtlCol="0" anchor="ctr"/>
          <a:lstStyle/>
          <a:p>
            <a:pPr marL="0" indent="0">
              <a:lnSpc>
                <a:spcPct val="115000"/>
              </a:lnSpc>
              <a:buNone/>
            </a:pPr>
            <a:r>
              <a:rPr lang="en-US" sz="1300" dirty="0">
                <a:solidFill>
                  <a:srgbClr val="5B6B85"/>
                </a:solidFill>
                <a:latin typeface="맑은 고딕" pitchFamily="34" charset="0"/>
                <a:ea typeface="맑은 고딕" pitchFamily="34" charset="-122"/>
                <a:cs typeface="맑은 고딕" pitchFamily="34" charset="-120"/>
              </a:rPr>
              <a:t>주민·전화번호 하이픈, 금액 콤마 등 자동 정리</a:t>
            </a:r>
            <a:endParaRPr lang="en-US" sz="1300" dirty="0"/>
          </a:p>
        </p:txBody>
      </p:sp>
      <p:sp>
        <p:nvSpPr>
          <p:cNvPr id="20" name="Shape 15"/>
          <p:cNvSpPr/>
          <p:nvPr/>
        </p:nvSpPr>
        <p:spPr>
          <a:xfrm>
            <a:off x="6309360" y="4206240"/>
            <a:ext cx="5440680" cy="18745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1" name="Shape 16"/>
          <p:cNvSpPr/>
          <p:nvPr/>
        </p:nvSpPr>
        <p:spPr>
          <a:xfrm>
            <a:off x="6675120" y="4709160"/>
            <a:ext cx="868680" cy="868680"/>
          </a:xfrm>
          <a:prstGeom prst="ellipse">
            <a:avLst/>
          </a:prstGeom>
          <a:solidFill>
            <a:srgbClr val="1B6FB0"/>
          </a:solidFill>
          <a:ln/>
        </p:spPr>
      </p:sp>
      <p:pic>
        <p:nvPicPr>
          <p:cNvPr id="22" name="Image 3" descr="preencoded.png"/>
          <p:cNvPicPr>
            <a:picLocks noChangeAspect="1"/>
          </p:cNvPicPr>
          <p:nvPr/>
        </p:nvPicPr>
        <p:blipFill>
          <a:blip r:embed="rId6"/>
          <a:stretch>
            <a:fillRect/>
          </a:stretch>
        </p:blipFill>
        <p:spPr>
          <a:xfrm>
            <a:off x="6894576" y="4928616"/>
            <a:ext cx="429768" cy="429768"/>
          </a:xfrm>
          <a:prstGeom prst="rect">
            <a:avLst/>
          </a:prstGeom>
        </p:spPr>
      </p:pic>
      <p:sp>
        <p:nvSpPr>
          <p:cNvPr id="23" name="Text 17"/>
          <p:cNvSpPr/>
          <p:nvPr/>
        </p:nvSpPr>
        <p:spPr>
          <a:xfrm>
            <a:off x="7772400" y="4590288"/>
            <a:ext cx="3794760" cy="457200"/>
          </a:xfrm>
          <a:prstGeom prst="rect">
            <a:avLst/>
          </a:prstGeom>
          <a:noFill/>
          <a:ln/>
        </p:spPr>
        <p:txBody>
          <a:bodyPr wrap="square" rtlCol="0" anchor="ctr"/>
          <a:lstStyle/>
          <a:p>
            <a:pPr marL="0" indent="0">
              <a:buNone/>
            </a:pPr>
            <a:r>
              <a:rPr lang="en-US" sz="1900" b="1" dirty="0">
                <a:solidFill>
                  <a:srgbClr val="1E293B"/>
                </a:solidFill>
                <a:latin typeface="맑은 고딕" pitchFamily="34" charset="0"/>
                <a:ea typeface="맑은 고딕" pitchFamily="34" charset="-122"/>
                <a:cs typeface="맑은 고딕" pitchFamily="34" charset="-120"/>
              </a:rPr>
              <a:t>기록 · 운영 관리</a:t>
            </a:r>
            <a:endParaRPr lang="en-US" sz="1900" dirty="0"/>
          </a:p>
        </p:txBody>
      </p:sp>
      <p:sp>
        <p:nvSpPr>
          <p:cNvPr id="24" name="Text 18"/>
          <p:cNvSpPr/>
          <p:nvPr/>
        </p:nvSpPr>
        <p:spPr>
          <a:xfrm>
            <a:off x="7772400" y="5120640"/>
            <a:ext cx="3749040" cy="731520"/>
          </a:xfrm>
          <a:prstGeom prst="rect">
            <a:avLst/>
          </a:prstGeom>
          <a:noFill/>
          <a:ln/>
        </p:spPr>
        <p:txBody>
          <a:bodyPr wrap="square" rtlCol="0" anchor="ctr"/>
          <a:lstStyle/>
          <a:p>
            <a:pPr marL="0" indent="0">
              <a:lnSpc>
                <a:spcPct val="115000"/>
              </a:lnSpc>
              <a:buNone/>
            </a:pPr>
            <a:r>
              <a:rPr lang="en-US" sz="1300" dirty="0">
                <a:solidFill>
                  <a:srgbClr val="5B6B85"/>
                </a:solidFill>
                <a:latin typeface="맑은 고딕" pitchFamily="34" charset="0"/>
                <a:ea typeface="맑은 고딕" pitchFamily="34" charset="-122"/>
                <a:cs typeface="맑은 고딕" pitchFamily="34" charset="-120"/>
              </a:rPr>
              <a:t>누가 무엇을 했는지 기록, DB 자동 정비</a:t>
            </a:r>
            <a:endParaRPr lang="en-US" sz="1300" dirty="0"/>
          </a:p>
        </p:txBody>
      </p:sp>
      <p:sp>
        <p:nvSpPr>
          <p:cNvPr id="26" name="Text 1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27" name="Text 20"/>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SECURITY</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안심하고 믿을 수 있는 보안</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출입증(토큰)과 세분화된 권한으로 정보를 안전하게 지킵니다</a:t>
            </a:r>
            <a:endParaRPr lang="en-US" sz="1350" dirty="0"/>
          </a:p>
        </p:txBody>
      </p:sp>
      <p:sp>
        <p:nvSpPr>
          <p:cNvPr id="5" name="Shape 3"/>
          <p:cNvSpPr/>
          <p:nvPr/>
        </p:nvSpPr>
        <p:spPr>
          <a:xfrm>
            <a:off x="502920" y="2057400"/>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Shape 4"/>
          <p:cNvSpPr/>
          <p:nvPr/>
        </p:nvSpPr>
        <p:spPr>
          <a:xfrm>
            <a:off x="502920" y="2057400"/>
            <a:ext cx="91440" cy="1828800"/>
          </a:xfrm>
          <a:prstGeom prst="rect">
            <a:avLst/>
          </a:prstGeom>
          <a:solidFill>
            <a:srgbClr val="1D4ED8"/>
          </a:solidFill>
          <a:ln/>
        </p:spPr>
      </p:sp>
      <p:pic>
        <p:nvPicPr>
          <p:cNvPr id="7" name="Image 0" descr="preencoded.png"/>
          <p:cNvPicPr>
            <a:picLocks noChangeAspect="1"/>
          </p:cNvPicPr>
          <p:nvPr/>
        </p:nvPicPr>
        <p:blipFill>
          <a:blip r:embed="rId3"/>
          <a:stretch>
            <a:fillRect/>
          </a:stretch>
        </p:blipFill>
        <p:spPr>
          <a:xfrm>
            <a:off x="886968" y="2423160"/>
            <a:ext cx="548640" cy="548640"/>
          </a:xfrm>
          <a:prstGeom prst="rect">
            <a:avLst/>
          </a:prstGeom>
        </p:spPr>
      </p:pic>
      <p:sp>
        <p:nvSpPr>
          <p:cNvPr id="8" name="Text 5"/>
          <p:cNvSpPr/>
          <p:nvPr/>
        </p:nvSpPr>
        <p:spPr>
          <a:xfrm>
            <a:off x="1645920" y="2423160"/>
            <a:ext cx="4069080" cy="502920"/>
          </a:xfrm>
          <a:prstGeom prst="rect">
            <a:avLst/>
          </a:prstGeom>
          <a:noFill/>
          <a:ln/>
        </p:spPr>
        <p:txBody>
          <a:bodyPr wrap="square" rtlCol="0" anchor="ctr"/>
          <a:lstStyle/>
          <a:p>
            <a:pPr marL="0" indent="0">
              <a:buNone/>
            </a:pPr>
            <a:r>
              <a:rPr lang="en-US" sz="1650" b="1" dirty="0">
                <a:solidFill>
                  <a:srgbClr val="1E293B"/>
                </a:solidFill>
                <a:latin typeface="맑은 고딕" pitchFamily="34" charset="0"/>
                <a:ea typeface="맑은 고딕" pitchFamily="34" charset="-122"/>
                <a:cs typeface="맑은 고딕" pitchFamily="34" charset="-120"/>
              </a:rPr>
              <a:t>디지털 출입증 (JWT)</a:t>
            </a:r>
            <a:endParaRPr lang="en-US" sz="1650" dirty="0"/>
          </a:p>
        </p:txBody>
      </p:sp>
      <p:sp>
        <p:nvSpPr>
          <p:cNvPr id="9" name="Text 6"/>
          <p:cNvSpPr/>
          <p:nvPr/>
        </p:nvSpPr>
        <p:spPr>
          <a:xfrm>
            <a:off x="1645920" y="2990088"/>
            <a:ext cx="4069080" cy="777240"/>
          </a:xfrm>
          <a:prstGeom prst="rect">
            <a:avLst/>
          </a:prstGeom>
          <a:noFill/>
          <a:ln/>
        </p:spPr>
        <p:txBody>
          <a:bodyPr wrap="square" rtlCol="0" anchor="ctr"/>
          <a:lstStyle/>
          <a:p>
            <a:pPr marL="0" indent="0">
              <a:lnSpc>
                <a:spcPct val="115000"/>
              </a:lnSpc>
              <a:buNone/>
            </a:pPr>
            <a:r>
              <a:rPr lang="en-US" sz="1250" dirty="0">
                <a:solidFill>
                  <a:srgbClr val="5B6B85"/>
                </a:solidFill>
                <a:latin typeface="맑은 고딕" pitchFamily="34" charset="0"/>
                <a:ea typeface="맑은 고딕" pitchFamily="34" charset="-122"/>
                <a:cs typeface="맑은 고딕" pitchFamily="34" charset="-120"/>
              </a:rPr>
              <a:t>로그인하면 위·변조가 불가능한 디지털 출입증을 발급. 매 요청마다 자동 확인합니다.</a:t>
            </a:r>
            <a:endParaRPr lang="en-US" sz="1250" dirty="0"/>
          </a:p>
        </p:txBody>
      </p:sp>
      <p:sp>
        <p:nvSpPr>
          <p:cNvPr id="10" name="Shape 7"/>
          <p:cNvSpPr/>
          <p:nvPr/>
        </p:nvSpPr>
        <p:spPr>
          <a:xfrm>
            <a:off x="6309360" y="2057400"/>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1" name="Shape 8"/>
          <p:cNvSpPr/>
          <p:nvPr/>
        </p:nvSpPr>
        <p:spPr>
          <a:xfrm>
            <a:off x="6309360" y="2057400"/>
            <a:ext cx="91440" cy="1828800"/>
          </a:xfrm>
          <a:prstGeom prst="rect">
            <a:avLst/>
          </a:prstGeom>
          <a:solidFill>
            <a:srgbClr val="1D4ED8"/>
          </a:solidFill>
          <a:ln/>
        </p:spPr>
      </p:sp>
      <p:pic>
        <p:nvPicPr>
          <p:cNvPr id="12" name="Image 1" descr="preencoded.png"/>
          <p:cNvPicPr>
            <a:picLocks noChangeAspect="1"/>
          </p:cNvPicPr>
          <p:nvPr/>
        </p:nvPicPr>
        <p:blipFill>
          <a:blip r:embed="rId4"/>
          <a:stretch>
            <a:fillRect/>
          </a:stretch>
        </p:blipFill>
        <p:spPr>
          <a:xfrm>
            <a:off x="6693408" y="2423160"/>
            <a:ext cx="548640" cy="548640"/>
          </a:xfrm>
          <a:prstGeom prst="rect">
            <a:avLst/>
          </a:prstGeom>
        </p:spPr>
      </p:pic>
      <p:sp>
        <p:nvSpPr>
          <p:cNvPr id="13" name="Text 9"/>
          <p:cNvSpPr/>
          <p:nvPr/>
        </p:nvSpPr>
        <p:spPr>
          <a:xfrm>
            <a:off x="7452360" y="2423160"/>
            <a:ext cx="4069080" cy="502920"/>
          </a:xfrm>
          <a:prstGeom prst="rect">
            <a:avLst/>
          </a:prstGeom>
          <a:noFill/>
          <a:ln/>
        </p:spPr>
        <p:txBody>
          <a:bodyPr wrap="square" rtlCol="0" anchor="ctr"/>
          <a:lstStyle/>
          <a:p>
            <a:pPr marL="0" indent="0">
              <a:buNone/>
            </a:pPr>
            <a:r>
              <a:rPr lang="en-US" sz="1650" b="1" dirty="0">
                <a:solidFill>
                  <a:srgbClr val="1E293B"/>
                </a:solidFill>
                <a:latin typeface="맑은 고딕" pitchFamily="34" charset="0"/>
                <a:ea typeface="맑은 고딕" pitchFamily="34" charset="-122"/>
                <a:cs typeface="맑은 고딕" pitchFamily="34" charset="-120"/>
              </a:rPr>
              <a:t>세분화된 권한 11종</a:t>
            </a:r>
            <a:endParaRPr lang="en-US" sz="1650" dirty="0"/>
          </a:p>
        </p:txBody>
      </p:sp>
      <p:sp>
        <p:nvSpPr>
          <p:cNvPr id="14" name="Text 10"/>
          <p:cNvSpPr/>
          <p:nvPr/>
        </p:nvSpPr>
        <p:spPr>
          <a:xfrm>
            <a:off x="7452360" y="2990088"/>
            <a:ext cx="4069080" cy="777240"/>
          </a:xfrm>
          <a:prstGeom prst="rect">
            <a:avLst/>
          </a:prstGeom>
          <a:noFill/>
          <a:ln/>
        </p:spPr>
        <p:txBody>
          <a:bodyPr wrap="square" rtlCol="0" anchor="ctr"/>
          <a:lstStyle/>
          <a:p>
            <a:pPr marL="0" indent="0">
              <a:lnSpc>
                <a:spcPct val="115000"/>
              </a:lnSpc>
              <a:buNone/>
            </a:pPr>
            <a:r>
              <a:rPr lang="en-US" sz="1250" dirty="0">
                <a:solidFill>
                  <a:srgbClr val="5B6B85"/>
                </a:solidFill>
                <a:latin typeface="맑은 고딕" pitchFamily="34" charset="0"/>
                <a:ea typeface="맑은 고딕" pitchFamily="34" charset="-122"/>
                <a:cs typeface="맑은 고딕" pitchFamily="34" charset="-120"/>
              </a:rPr>
              <a:t>일반·관리자·매니저를 조회/등록/수정/삭제까지 나눠, 필요한 만큼만 접근을 허용합니다.</a:t>
            </a:r>
            <a:endParaRPr lang="en-US" sz="1250" dirty="0"/>
          </a:p>
        </p:txBody>
      </p:sp>
      <p:sp>
        <p:nvSpPr>
          <p:cNvPr id="15" name="Shape 11"/>
          <p:cNvSpPr/>
          <p:nvPr/>
        </p:nvSpPr>
        <p:spPr>
          <a:xfrm>
            <a:off x="502920" y="4178808"/>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6" name="Shape 12"/>
          <p:cNvSpPr/>
          <p:nvPr/>
        </p:nvSpPr>
        <p:spPr>
          <a:xfrm>
            <a:off x="502920" y="4178808"/>
            <a:ext cx="91440" cy="1828800"/>
          </a:xfrm>
          <a:prstGeom prst="rect">
            <a:avLst/>
          </a:prstGeom>
          <a:solidFill>
            <a:srgbClr val="1D4ED8"/>
          </a:solidFill>
          <a:ln/>
        </p:spPr>
      </p:sp>
      <p:pic>
        <p:nvPicPr>
          <p:cNvPr id="17" name="Image 2" descr="preencoded.png"/>
          <p:cNvPicPr>
            <a:picLocks noChangeAspect="1"/>
          </p:cNvPicPr>
          <p:nvPr/>
        </p:nvPicPr>
        <p:blipFill>
          <a:blip r:embed="rId5"/>
          <a:stretch>
            <a:fillRect/>
          </a:stretch>
        </p:blipFill>
        <p:spPr>
          <a:xfrm>
            <a:off x="886968" y="4544568"/>
            <a:ext cx="548640" cy="548640"/>
          </a:xfrm>
          <a:prstGeom prst="rect">
            <a:avLst/>
          </a:prstGeom>
        </p:spPr>
      </p:pic>
      <p:sp>
        <p:nvSpPr>
          <p:cNvPr id="18" name="Text 13"/>
          <p:cNvSpPr/>
          <p:nvPr/>
        </p:nvSpPr>
        <p:spPr>
          <a:xfrm>
            <a:off x="1645920" y="4544568"/>
            <a:ext cx="4069080" cy="502920"/>
          </a:xfrm>
          <a:prstGeom prst="rect">
            <a:avLst/>
          </a:prstGeom>
          <a:noFill/>
          <a:ln/>
        </p:spPr>
        <p:txBody>
          <a:bodyPr wrap="square" rtlCol="0" anchor="ctr"/>
          <a:lstStyle/>
          <a:p>
            <a:pPr marL="0" indent="0">
              <a:buNone/>
            </a:pPr>
            <a:r>
              <a:rPr lang="en-US" sz="1650" b="1" dirty="0">
                <a:solidFill>
                  <a:srgbClr val="1E293B"/>
                </a:solidFill>
                <a:latin typeface="맑은 고딕" pitchFamily="34" charset="0"/>
                <a:ea typeface="맑은 고딕" pitchFamily="34" charset="-122"/>
                <a:cs typeface="맑은 고딕" pitchFamily="34" charset="-120"/>
              </a:rPr>
              <a:t>비밀번호 정책</a:t>
            </a:r>
            <a:endParaRPr lang="en-US" sz="1650" dirty="0"/>
          </a:p>
        </p:txBody>
      </p:sp>
      <p:sp>
        <p:nvSpPr>
          <p:cNvPr id="19" name="Text 14"/>
          <p:cNvSpPr/>
          <p:nvPr/>
        </p:nvSpPr>
        <p:spPr>
          <a:xfrm>
            <a:off x="1645920" y="5111496"/>
            <a:ext cx="4069080" cy="777240"/>
          </a:xfrm>
          <a:prstGeom prst="rect">
            <a:avLst/>
          </a:prstGeom>
          <a:noFill/>
          <a:ln/>
        </p:spPr>
        <p:txBody>
          <a:bodyPr wrap="square" rtlCol="0" anchor="ctr"/>
          <a:lstStyle/>
          <a:p>
            <a:pPr marL="0" indent="0">
              <a:lnSpc>
                <a:spcPct val="115000"/>
              </a:lnSpc>
              <a:buNone/>
            </a:pPr>
            <a:r>
              <a:rPr lang="en-US" sz="1250" dirty="0">
                <a:solidFill>
                  <a:srgbClr val="5B6B85"/>
                </a:solidFill>
                <a:latin typeface="맑은 고딕" pitchFamily="34" charset="0"/>
                <a:ea typeface="맑은 고딕" pitchFamily="34" charset="-122"/>
                <a:cs typeface="맑은 고딕" pitchFamily="34" charset="-120"/>
              </a:rPr>
              <a:t>길이·대소문자·숫자·특수문자 규칙을 시스템이 강제해 취약한 비밀번호를 차단합니다.</a:t>
            </a:r>
            <a:endParaRPr lang="en-US" sz="1250" dirty="0"/>
          </a:p>
        </p:txBody>
      </p:sp>
      <p:sp>
        <p:nvSpPr>
          <p:cNvPr id="20" name="Shape 15"/>
          <p:cNvSpPr/>
          <p:nvPr/>
        </p:nvSpPr>
        <p:spPr>
          <a:xfrm>
            <a:off x="6309360" y="4178808"/>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1" name="Shape 16"/>
          <p:cNvSpPr/>
          <p:nvPr/>
        </p:nvSpPr>
        <p:spPr>
          <a:xfrm>
            <a:off x="6309360" y="4178808"/>
            <a:ext cx="91440" cy="1828800"/>
          </a:xfrm>
          <a:prstGeom prst="rect">
            <a:avLst/>
          </a:prstGeom>
          <a:solidFill>
            <a:srgbClr val="1D4ED8"/>
          </a:solidFill>
          <a:ln/>
        </p:spPr>
      </p:sp>
      <p:pic>
        <p:nvPicPr>
          <p:cNvPr id="22" name="Image 3" descr="preencoded.png"/>
          <p:cNvPicPr>
            <a:picLocks noChangeAspect="1"/>
          </p:cNvPicPr>
          <p:nvPr/>
        </p:nvPicPr>
        <p:blipFill>
          <a:blip r:embed="rId6"/>
          <a:stretch>
            <a:fillRect/>
          </a:stretch>
        </p:blipFill>
        <p:spPr>
          <a:xfrm>
            <a:off x="6693408" y="4544568"/>
            <a:ext cx="548640" cy="548640"/>
          </a:xfrm>
          <a:prstGeom prst="rect">
            <a:avLst/>
          </a:prstGeom>
        </p:spPr>
      </p:pic>
      <p:sp>
        <p:nvSpPr>
          <p:cNvPr id="23" name="Text 17"/>
          <p:cNvSpPr/>
          <p:nvPr/>
        </p:nvSpPr>
        <p:spPr>
          <a:xfrm>
            <a:off x="7452360" y="4544568"/>
            <a:ext cx="4069080" cy="502920"/>
          </a:xfrm>
          <a:prstGeom prst="rect">
            <a:avLst/>
          </a:prstGeom>
          <a:noFill/>
          <a:ln/>
        </p:spPr>
        <p:txBody>
          <a:bodyPr wrap="square" rtlCol="0" anchor="ctr"/>
          <a:lstStyle/>
          <a:p>
            <a:pPr marL="0" indent="0">
              <a:buNone/>
            </a:pPr>
            <a:r>
              <a:rPr lang="en-US" sz="1650" b="1" dirty="0">
                <a:solidFill>
                  <a:srgbClr val="1E293B"/>
                </a:solidFill>
                <a:latin typeface="맑은 고딕" pitchFamily="34" charset="0"/>
                <a:ea typeface="맑은 고딕" pitchFamily="34" charset="-122"/>
                <a:cs typeface="맑은 고딕" pitchFamily="34" charset="-120"/>
              </a:rPr>
              <a:t>관문 단일 통제</a:t>
            </a:r>
            <a:endParaRPr lang="en-US" sz="1650" dirty="0"/>
          </a:p>
        </p:txBody>
      </p:sp>
      <p:sp>
        <p:nvSpPr>
          <p:cNvPr id="24" name="Text 18"/>
          <p:cNvSpPr/>
          <p:nvPr/>
        </p:nvSpPr>
        <p:spPr>
          <a:xfrm>
            <a:off x="7452360" y="5111496"/>
            <a:ext cx="4069080" cy="777240"/>
          </a:xfrm>
          <a:prstGeom prst="rect">
            <a:avLst/>
          </a:prstGeom>
          <a:noFill/>
          <a:ln/>
        </p:spPr>
        <p:txBody>
          <a:bodyPr wrap="square" rtlCol="0" anchor="ctr"/>
          <a:lstStyle/>
          <a:p>
            <a:pPr marL="0" indent="0">
              <a:lnSpc>
                <a:spcPct val="115000"/>
              </a:lnSpc>
              <a:buNone/>
            </a:pPr>
            <a:r>
              <a:rPr lang="en-US" sz="1250" dirty="0">
                <a:solidFill>
                  <a:srgbClr val="5B6B85"/>
                </a:solidFill>
                <a:latin typeface="맑은 고딕" pitchFamily="34" charset="0"/>
                <a:ea typeface="맑은 고딕" pitchFamily="34" charset="-122"/>
                <a:cs typeface="맑은 고딕" pitchFamily="34" charset="-120"/>
              </a:rPr>
              <a:t>모든 접근이 Gateway 한 곳을 통과 — 점검과 차단을 일괄 관리합니다.</a:t>
            </a:r>
            <a:endParaRPr lang="en-US" sz="1250" dirty="0"/>
          </a:p>
        </p:txBody>
      </p:sp>
      <p:sp>
        <p:nvSpPr>
          <p:cNvPr id="26" name="Text 1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27" name="Text 20"/>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F45"/>
        </a:solidFill>
        <a:effectLst/>
      </p:bgPr>
    </p:bg>
    <p:spTree>
      <p:nvGrpSpPr>
        <p:cNvPr id="1" name=""/>
        <p:cNvGrpSpPr/>
        <p:nvPr/>
      </p:nvGrpSpPr>
      <p:grpSpPr>
        <a:xfrm>
          <a:off x="0" y="0"/>
          <a:ext cx="0" cy="0"/>
          <a:chOff x="0" y="0"/>
          <a:chExt cx="0" cy="0"/>
        </a:xfrm>
      </p:grpSpPr>
      <p:sp>
        <p:nvSpPr>
          <p:cNvPr id="2" name="Shape 0"/>
          <p:cNvSpPr/>
          <p:nvPr/>
        </p:nvSpPr>
        <p:spPr>
          <a:xfrm>
            <a:off x="9326880" y="-1828800"/>
            <a:ext cx="4937760" cy="4937760"/>
          </a:xfrm>
          <a:prstGeom prst="ellipse">
            <a:avLst/>
          </a:prstGeom>
          <a:solidFill>
            <a:srgbClr val="14264F"/>
          </a:solidFill>
          <a:ln/>
        </p:spPr>
      </p:sp>
      <p:sp>
        <p:nvSpPr>
          <p:cNvPr id="3" name="Text 1"/>
          <p:cNvSpPr/>
          <p:nvPr/>
        </p:nvSpPr>
        <p:spPr>
          <a:xfrm>
            <a:off x="548640" y="640080"/>
            <a:ext cx="5486400" cy="365760"/>
          </a:xfrm>
          <a:prstGeom prst="rect">
            <a:avLst/>
          </a:prstGeom>
          <a:noFill/>
          <a:ln/>
        </p:spPr>
        <p:txBody>
          <a:bodyPr wrap="square" rtlCol="0" anchor="ctr"/>
          <a:lstStyle/>
          <a:p>
            <a:pPr marL="0" indent="0">
              <a:buNone/>
            </a:pPr>
            <a:r>
              <a:rPr lang="en-US" sz="1200" b="1" kern="0" spc="200" dirty="0">
                <a:solidFill>
                  <a:srgbClr val="3B82F6"/>
                </a:solidFill>
                <a:latin typeface="맑은 고딕" pitchFamily="34" charset="0"/>
                <a:ea typeface="맑은 고딕" pitchFamily="34" charset="-122"/>
                <a:cs typeface="맑은 고딕" pitchFamily="34" charset="-120"/>
              </a:rPr>
              <a:t>기록 · 추적</a:t>
            </a:r>
            <a:endParaRPr lang="en-US" sz="1200" dirty="0"/>
          </a:p>
        </p:txBody>
      </p:sp>
      <p:sp>
        <p:nvSpPr>
          <p:cNvPr id="4" name="Text 2"/>
          <p:cNvSpPr/>
          <p:nvPr/>
        </p:nvSpPr>
        <p:spPr>
          <a:xfrm>
            <a:off x="548640" y="1143000"/>
            <a:ext cx="10972800" cy="640080"/>
          </a:xfrm>
          <a:prstGeom prst="rect">
            <a:avLst/>
          </a:prstGeom>
          <a:noFill/>
          <a:ln/>
        </p:spPr>
        <p:txBody>
          <a:bodyPr wrap="square" rtlCol="0" anchor="ctr"/>
          <a:lstStyle/>
          <a:p>
            <a:pPr marL="0" indent="0">
              <a:buNone/>
            </a:pPr>
            <a:r>
              <a:rPr lang="en-US" sz="2900" b="1" dirty="0">
                <a:solidFill>
                  <a:srgbClr val="FFFFFF"/>
                </a:solidFill>
                <a:latin typeface="맑은 고딕" pitchFamily="34" charset="0"/>
                <a:ea typeface="맑은 고딕" pitchFamily="34" charset="-122"/>
                <a:cs typeface="맑은 고딕" pitchFamily="34" charset="-120"/>
              </a:rPr>
              <a:t>누가, 언제, 무엇을 했는지 모두 남습니다</a:t>
            </a:r>
            <a:endParaRPr lang="en-US" sz="2900" dirty="0"/>
          </a:p>
        </p:txBody>
      </p:sp>
      <p:sp>
        <p:nvSpPr>
          <p:cNvPr id="5" name="Text 3"/>
          <p:cNvSpPr/>
          <p:nvPr/>
        </p:nvSpPr>
        <p:spPr>
          <a:xfrm>
            <a:off x="548640" y="1874520"/>
            <a:ext cx="10972800" cy="777240"/>
          </a:xfrm>
          <a:prstGeom prst="rect">
            <a:avLst/>
          </a:prstGeom>
          <a:noFill/>
          <a:ln/>
        </p:spPr>
        <p:txBody>
          <a:bodyPr wrap="square" rtlCol="0" anchor="ctr"/>
          <a:lstStyle/>
          <a:p>
            <a:pPr marL="0" indent="0">
              <a:lnSpc>
                <a:spcPct val="120000"/>
              </a:lnSpc>
              <a:buNone/>
            </a:pPr>
            <a:r>
              <a:rPr lang="en-US" sz="1450" dirty="0">
                <a:solidFill>
                  <a:srgbClr val="DBE7FB"/>
                </a:solidFill>
                <a:latin typeface="맑은 고딕" pitchFamily="34" charset="0"/>
                <a:ea typeface="맑은 고딕" pitchFamily="34" charset="-122"/>
                <a:cs typeface="맑은 고딕" pitchFamily="34" charset="-120"/>
              </a:rPr>
              <a:t>Core가 데이터 변경(등록·수정·삭제)과 접속 이력을 자동으로 기록합니다. 사람이 따로 신경 쓰지 않아도 감사 추적이 가능해, 사고 발생 시 원인 파악과 책임 소재가 명확합니다.</a:t>
            </a:r>
            <a:endParaRPr lang="en-US" sz="1450" dirty="0"/>
          </a:p>
        </p:txBody>
      </p:sp>
      <p:sp>
        <p:nvSpPr>
          <p:cNvPr id="6" name="Shape 4"/>
          <p:cNvSpPr/>
          <p:nvPr/>
        </p:nvSpPr>
        <p:spPr>
          <a:xfrm>
            <a:off x="548640" y="3017520"/>
            <a:ext cx="3611880" cy="3017520"/>
          </a:xfrm>
          <a:prstGeom prst="rect">
            <a:avLst/>
          </a:prstGeom>
          <a:solidFill>
            <a:srgbClr val="14264F"/>
          </a:solidFill>
          <a:ln w="12700">
            <a:solidFill>
              <a:srgbClr val="3B82F6"/>
            </a:solidFill>
            <a:prstDash val="solid"/>
          </a:ln>
          <a:effectLst>
            <a:outerShdw blurRad="114300" dist="38100" dir="5400000" algn="bl" rotWithShape="0">
              <a:srgbClr val="0E1F45">
                <a:alpha val="14000"/>
              </a:srgbClr>
            </a:outerShdw>
          </a:effectLst>
        </p:spPr>
      </p:sp>
      <p:pic>
        <p:nvPicPr>
          <p:cNvPr id="7" name="Image 0" descr="preencoded.png"/>
          <p:cNvPicPr>
            <a:picLocks noChangeAspect="1"/>
          </p:cNvPicPr>
          <p:nvPr/>
        </p:nvPicPr>
        <p:blipFill>
          <a:blip r:embed="rId3"/>
          <a:stretch>
            <a:fillRect/>
          </a:stretch>
        </p:blipFill>
        <p:spPr>
          <a:xfrm>
            <a:off x="914400" y="3291840"/>
            <a:ext cx="548640" cy="548640"/>
          </a:xfrm>
          <a:prstGeom prst="rect">
            <a:avLst/>
          </a:prstGeom>
        </p:spPr>
      </p:pic>
      <p:sp>
        <p:nvSpPr>
          <p:cNvPr id="8" name="Text 5"/>
          <p:cNvSpPr/>
          <p:nvPr/>
        </p:nvSpPr>
        <p:spPr>
          <a:xfrm>
            <a:off x="868680" y="3886200"/>
            <a:ext cx="2971800" cy="777240"/>
          </a:xfrm>
          <a:prstGeom prst="rect">
            <a:avLst/>
          </a:prstGeom>
          <a:noFill/>
          <a:ln/>
        </p:spPr>
        <p:txBody>
          <a:bodyPr wrap="square" rtlCol="0" anchor="ctr"/>
          <a:lstStyle/>
          <a:p>
            <a:pPr marL="0" indent="0">
              <a:buNone/>
            </a:pPr>
            <a:r>
              <a:rPr lang="en-US" sz="4400" b="1" dirty="0">
                <a:solidFill>
                  <a:srgbClr val="F4B740"/>
                </a:solidFill>
                <a:latin typeface="맑은 고딕" pitchFamily="34" charset="0"/>
                <a:ea typeface="맑은 고딕" pitchFamily="34" charset="-122"/>
                <a:cs typeface="맑은 고딕" pitchFamily="34" charset="-120"/>
              </a:rPr>
              <a:t>2종</a:t>
            </a:r>
            <a:endParaRPr lang="en-US" sz="4400" dirty="0"/>
          </a:p>
        </p:txBody>
      </p:sp>
      <p:sp>
        <p:nvSpPr>
          <p:cNvPr id="9" name="Text 6"/>
          <p:cNvSpPr/>
          <p:nvPr/>
        </p:nvSpPr>
        <p:spPr>
          <a:xfrm>
            <a:off x="914400" y="4709160"/>
            <a:ext cx="2971800" cy="365760"/>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감사로그 자동 기록</a:t>
            </a:r>
            <a:endParaRPr lang="en-US" sz="1500" dirty="0"/>
          </a:p>
        </p:txBody>
      </p:sp>
      <p:sp>
        <p:nvSpPr>
          <p:cNvPr id="10" name="Text 7"/>
          <p:cNvSpPr/>
          <p:nvPr/>
        </p:nvSpPr>
        <p:spPr>
          <a:xfrm>
            <a:off x="914400" y="5102352"/>
            <a:ext cx="2971800" cy="822960"/>
          </a:xfrm>
          <a:prstGeom prst="rect">
            <a:avLst/>
          </a:prstGeom>
          <a:noFill/>
          <a:ln/>
        </p:spPr>
        <p:txBody>
          <a:bodyPr wrap="square" rtlCol="0" anchor="ctr"/>
          <a:lstStyle/>
          <a:p>
            <a:pPr marL="0" indent="0">
              <a:lnSpc>
                <a:spcPct val="110000"/>
              </a:lnSpc>
              <a:buNone/>
            </a:pPr>
            <a:r>
              <a:rPr lang="en-US" sz="1200" dirty="0">
                <a:solidFill>
                  <a:srgbClr val="DBE7FB"/>
                </a:solidFill>
                <a:latin typeface="맑은 고딕" pitchFamily="34" charset="0"/>
                <a:ea typeface="맑은 고딕" pitchFamily="34" charset="-122"/>
                <a:cs typeface="맑은 고딕" pitchFamily="34" charset="-120"/>
              </a:rPr>
              <a:t>변경 이력(SYS_EVT_LOG)</a:t>
            </a:r>
            <a:endParaRPr lang="en-US" sz="1200" dirty="0"/>
          </a:p>
          <a:p>
            <a:pPr marL="0" indent="0">
              <a:lnSpc>
                <a:spcPct val="110000"/>
              </a:lnSpc>
              <a:buNone/>
            </a:pPr>
            <a:r>
              <a:rPr lang="en-US" sz="1200" dirty="0">
                <a:solidFill>
                  <a:srgbClr val="DBE7FB"/>
                </a:solidFill>
                <a:latin typeface="맑은 고딕" pitchFamily="34" charset="0"/>
                <a:ea typeface="맑은 고딕" pitchFamily="34" charset="-122"/>
                <a:cs typeface="맑은 고딕" pitchFamily="34" charset="-120"/>
              </a:rPr>
              <a:t>접속 이력(SYS_ACS_LOG)</a:t>
            </a:r>
            <a:endParaRPr lang="en-US" sz="1200" dirty="0"/>
          </a:p>
        </p:txBody>
      </p:sp>
      <p:sp>
        <p:nvSpPr>
          <p:cNvPr id="11" name="Shape 8"/>
          <p:cNvSpPr/>
          <p:nvPr/>
        </p:nvSpPr>
        <p:spPr>
          <a:xfrm>
            <a:off x="4453128" y="3017520"/>
            <a:ext cx="3611880" cy="3017520"/>
          </a:xfrm>
          <a:prstGeom prst="rect">
            <a:avLst/>
          </a:prstGeom>
          <a:solidFill>
            <a:srgbClr val="14264F"/>
          </a:solidFill>
          <a:ln w="12700">
            <a:solidFill>
              <a:srgbClr val="3B82F6"/>
            </a:solidFill>
            <a:prstDash val="solid"/>
          </a:ln>
          <a:effectLst>
            <a:outerShdw blurRad="114300" dist="38100" dir="5400000" algn="bl" rotWithShape="0">
              <a:srgbClr val="0E1F45">
                <a:alpha val="14000"/>
              </a:srgbClr>
            </a:outerShdw>
          </a:effectLst>
        </p:spPr>
      </p:sp>
      <p:pic>
        <p:nvPicPr>
          <p:cNvPr id="12" name="Image 1" descr="preencoded.png"/>
          <p:cNvPicPr>
            <a:picLocks noChangeAspect="1"/>
          </p:cNvPicPr>
          <p:nvPr/>
        </p:nvPicPr>
        <p:blipFill>
          <a:blip r:embed="rId4"/>
          <a:stretch>
            <a:fillRect/>
          </a:stretch>
        </p:blipFill>
        <p:spPr>
          <a:xfrm>
            <a:off x="4818888" y="3291840"/>
            <a:ext cx="548640" cy="548640"/>
          </a:xfrm>
          <a:prstGeom prst="rect">
            <a:avLst/>
          </a:prstGeom>
        </p:spPr>
      </p:pic>
      <p:sp>
        <p:nvSpPr>
          <p:cNvPr id="13" name="Text 9"/>
          <p:cNvSpPr/>
          <p:nvPr/>
        </p:nvSpPr>
        <p:spPr>
          <a:xfrm>
            <a:off x="4773168" y="3886200"/>
            <a:ext cx="2971800" cy="777240"/>
          </a:xfrm>
          <a:prstGeom prst="rect">
            <a:avLst/>
          </a:prstGeom>
          <a:noFill/>
          <a:ln/>
        </p:spPr>
        <p:txBody>
          <a:bodyPr wrap="square" rtlCol="0" anchor="ctr"/>
          <a:lstStyle/>
          <a:p>
            <a:pPr marL="0" indent="0">
              <a:buNone/>
            </a:pPr>
            <a:r>
              <a:rPr lang="en-US" sz="4400" b="1" dirty="0">
                <a:solidFill>
                  <a:srgbClr val="F4B740"/>
                </a:solidFill>
                <a:latin typeface="맑은 고딕" pitchFamily="34" charset="0"/>
                <a:ea typeface="맑은 고딕" pitchFamily="34" charset="-122"/>
                <a:cs typeface="맑은 고딕" pitchFamily="34" charset="-120"/>
              </a:rPr>
              <a:t>자동</a:t>
            </a:r>
            <a:endParaRPr lang="en-US" sz="4400" dirty="0"/>
          </a:p>
        </p:txBody>
      </p:sp>
      <p:sp>
        <p:nvSpPr>
          <p:cNvPr id="14" name="Text 10"/>
          <p:cNvSpPr/>
          <p:nvPr/>
        </p:nvSpPr>
        <p:spPr>
          <a:xfrm>
            <a:off x="4818888" y="4709160"/>
            <a:ext cx="2971800" cy="365760"/>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사람 개입 불필요</a:t>
            </a:r>
            <a:endParaRPr lang="en-US" sz="1500" dirty="0"/>
          </a:p>
        </p:txBody>
      </p:sp>
      <p:sp>
        <p:nvSpPr>
          <p:cNvPr id="15" name="Text 11"/>
          <p:cNvSpPr/>
          <p:nvPr/>
        </p:nvSpPr>
        <p:spPr>
          <a:xfrm>
            <a:off x="4818888" y="5102352"/>
            <a:ext cx="2971800" cy="822960"/>
          </a:xfrm>
          <a:prstGeom prst="rect">
            <a:avLst/>
          </a:prstGeom>
          <a:noFill/>
          <a:ln/>
        </p:spPr>
        <p:txBody>
          <a:bodyPr wrap="square" rtlCol="0" anchor="ctr"/>
          <a:lstStyle/>
          <a:p>
            <a:pPr marL="0" indent="0">
              <a:lnSpc>
                <a:spcPct val="110000"/>
              </a:lnSpc>
              <a:buNone/>
            </a:pPr>
            <a:r>
              <a:rPr lang="en-US" sz="1200" dirty="0">
                <a:solidFill>
                  <a:srgbClr val="DBE7FB"/>
                </a:solidFill>
                <a:latin typeface="맑은 고딕" pitchFamily="34" charset="0"/>
                <a:ea typeface="맑은 고딕" pitchFamily="34" charset="-122"/>
                <a:cs typeface="맑은 고딕" pitchFamily="34" charset="-120"/>
              </a:rPr>
              <a:t>Core가 백그라운드에서</a:t>
            </a:r>
            <a:endParaRPr lang="en-US" sz="1200" dirty="0"/>
          </a:p>
          <a:p>
            <a:pPr marL="0" indent="0">
              <a:lnSpc>
                <a:spcPct val="110000"/>
              </a:lnSpc>
              <a:buNone/>
            </a:pPr>
            <a:r>
              <a:rPr lang="en-US" sz="1200" dirty="0">
                <a:solidFill>
                  <a:srgbClr val="DBE7FB"/>
                </a:solidFill>
                <a:latin typeface="맑은 고딕" pitchFamily="34" charset="0"/>
                <a:ea typeface="맑은 고딕" pitchFamily="34" charset="-122"/>
                <a:cs typeface="맑은 고딕" pitchFamily="34" charset="-120"/>
              </a:rPr>
              <a:t>빠짐없이 자동 수집</a:t>
            </a:r>
            <a:endParaRPr lang="en-US" sz="1200" dirty="0"/>
          </a:p>
        </p:txBody>
      </p:sp>
      <p:sp>
        <p:nvSpPr>
          <p:cNvPr id="16" name="Shape 12"/>
          <p:cNvSpPr/>
          <p:nvPr/>
        </p:nvSpPr>
        <p:spPr>
          <a:xfrm>
            <a:off x="8357616" y="3017520"/>
            <a:ext cx="3611880" cy="3017520"/>
          </a:xfrm>
          <a:prstGeom prst="rect">
            <a:avLst/>
          </a:prstGeom>
          <a:solidFill>
            <a:srgbClr val="14264F"/>
          </a:solidFill>
          <a:ln w="12700">
            <a:solidFill>
              <a:srgbClr val="3B82F6"/>
            </a:solidFill>
            <a:prstDash val="solid"/>
          </a:ln>
          <a:effectLst>
            <a:outerShdw blurRad="114300" dist="38100" dir="5400000" algn="bl" rotWithShape="0">
              <a:srgbClr val="0E1F45">
                <a:alpha val="14000"/>
              </a:srgbClr>
            </a:outerShdw>
          </a:effectLst>
        </p:spPr>
      </p:sp>
      <p:pic>
        <p:nvPicPr>
          <p:cNvPr id="17" name="Image 2" descr="preencoded.png"/>
          <p:cNvPicPr>
            <a:picLocks noChangeAspect="1"/>
          </p:cNvPicPr>
          <p:nvPr/>
        </p:nvPicPr>
        <p:blipFill>
          <a:blip r:embed="rId5"/>
          <a:stretch>
            <a:fillRect/>
          </a:stretch>
        </p:blipFill>
        <p:spPr>
          <a:xfrm>
            <a:off x="8723376" y="3291840"/>
            <a:ext cx="548640" cy="548640"/>
          </a:xfrm>
          <a:prstGeom prst="rect">
            <a:avLst/>
          </a:prstGeom>
        </p:spPr>
      </p:pic>
      <p:sp>
        <p:nvSpPr>
          <p:cNvPr id="18" name="Text 13"/>
          <p:cNvSpPr/>
          <p:nvPr/>
        </p:nvSpPr>
        <p:spPr>
          <a:xfrm>
            <a:off x="8677656" y="3886200"/>
            <a:ext cx="2971800" cy="777240"/>
          </a:xfrm>
          <a:prstGeom prst="rect">
            <a:avLst/>
          </a:prstGeom>
          <a:noFill/>
          <a:ln/>
        </p:spPr>
        <p:txBody>
          <a:bodyPr wrap="square" rtlCol="0" anchor="ctr"/>
          <a:lstStyle/>
          <a:p>
            <a:pPr marL="0" indent="0">
              <a:buNone/>
            </a:pPr>
            <a:r>
              <a:rPr lang="en-US" sz="4400" b="1" dirty="0">
                <a:solidFill>
                  <a:srgbClr val="F4B740"/>
                </a:solidFill>
                <a:latin typeface="맑은 고딕" pitchFamily="34" charset="0"/>
                <a:ea typeface="맑은 고딕" pitchFamily="34" charset="-122"/>
                <a:cs typeface="맑은 고딕" pitchFamily="34" charset="-120"/>
              </a:rPr>
              <a:t>100%</a:t>
            </a:r>
            <a:endParaRPr lang="en-US" sz="4400" dirty="0"/>
          </a:p>
        </p:txBody>
      </p:sp>
      <p:sp>
        <p:nvSpPr>
          <p:cNvPr id="19" name="Text 14"/>
          <p:cNvSpPr/>
          <p:nvPr/>
        </p:nvSpPr>
        <p:spPr>
          <a:xfrm>
            <a:off x="8723376" y="4709160"/>
            <a:ext cx="2971800" cy="365760"/>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추적 가능성</a:t>
            </a:r>
            <a:endParaRPr lang="en-US" sz="1500" dirty="0"/>
          </a:p>
        </p:txBody>
      </p:sp>
      <p:sp>
        <p:nvSpPr>
          <p:cNvPr id="20" name="Text 15"/>
          <p:cNvSpPr/>
          <p:nvPr/>
        </p:nvSpPr>
        <p:spPr>
          <a:xfrm>
            <a:off x="8723376" y="5102352"/>
            <a:ext cx="2971800" cy="822960"/>
          </a:xfrm>
          <a:prstGeom prst="rect">
            <a:avLst/>
          </a:prstGeom>
          <a:noFill/>
          <a:ln/>
        </p:spPr>
        <p:txBody>
          <a:bodyPr wrap="square" rtlCol="0" anchor="ctr"/>
          <a:lstStyle/>
          <a:p>
            <a:pPr marL="0" indent="0">
              <a:lnSpc>
                <a:spcPct val="110000"/>
              </a:lnSpc>
              <a:buNone/>
            </a:pPr>
            <a:r>
              <a:rPr lang="en-US" sz="1200" dirty="0">
                <a:solidFill>
                  <a:srgbClr val="DBE7FB"/>
                </a:solidFill>
                <a:latin typeface="맑은 고딕" pitchFamily="34" charset="0"/>
                <a:ea typeface="맑은 고딕" pitchFamily="34" charset="-122"/>
                <a:cs typeface="맑은 고딕" pitchFamily="34" charset="-120"/>
              </a:rPr>
              <a:t>이상 발생 시 원인과</a:t>
            </a:r>
            <a:endParaRPr lang="en-US" sz="1200" dirty="0"/>
          </a:p>
          <a:p>
            <a:pPr marL="0" indent="0">
              <a:lnSpc>
                <a:spcPct val="110000"/>
              </a:lnSpc>
              <a:buNone/>
            </a:pPr>
            <a:r>
              <a:rPr lang="en-US" sz="1200" dirty="0">
                <a:solidFill>
                  <a:srgbClr val="DBE7FB"/>
                </a:solidFill>
                <a:latin typeface="맑은 고딕" pitchFamily="34" charset="0"/>
                <a:ea typeface="맑은 고딕" pitchFamily="34" charset="-122"/>
                <a:cs typeface="맑은 고딕" pitchFamily="34" charset="-120"/>
              </a:rPr>
              <a:t>책임 소재를 즉시 확인</a:t>
            </a:r>
            <a:endParaRPr lang="en-US" sz="1200" dirty="0"/>
          </a:p>
        </p:txBody>
      </p:sp>
      <p:sp>
        <p:nvSpPr>
          <p:cNvPr id="22" name="Text 16"/>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23" name="Text 17"/>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REUSABILITY</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공통 기능: 한 번 만들면 모두가 쓴다</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조회·등록·수정·삭제의 '표준 골격'을 Core가 제공합니다</a:t>
            </a:r>
            <a:endParaRPr lang="en-US" sz="1350" dirty="0"/>
          </a:p>
        </p:txBody>
      </p:sp>
      <p:sp>
        <p:nvSpPr>
          <p:cNvPr id="5" name="Shape 3"/>
          <p:cNvSpPr/>
          <p:nvPr/>
        </p:nvSpPr>
        <p:spPr>
          <a:xfrm>
            <a:off x="502920" y="2057400"/>
            <a:ext cx="4846320" cy="4114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Text 4"/>
          <p:cNvSpPr/>
          <p:nvPr/>
        </p:nvSpPr>
        <p:spPr>
          <a:xfrm>
            <a:off x="777240" y="2286000"/>
            <a:ext cx="4297680" cy="365760"/>
          </a:xfrm>
          <a:prstGeom prst="rect">
            <a:avLst/>
          </a:prstGeom>
          <a:noFill/>
          <a:ln/>
        </p:spPr>
        <p:txBody>
          <a:bodyPr wrap="square" rtlCol="0" anchor="ctr"/>
          <a:lstStyle/>
          <a:p>
            <a:pPr marL="0" indent="0">
              <a:buNone/>
            </a:pPr>
            <a:r>
              <a:rPr lang="en-US" sz="1500" b="1" dirty="0">
                <a:solidFill>
                  <a:srgbClr val="2563EB"/>
                </a:solidFill>
                <a:latin typeface="맑은 고딕" pitchFamily="34" charset="0"/>
                <a:ea typeface="맑은 고딕" pitchFamily="34" charset="-122"/>
                <a:cs typeface="맑은 고딕" pitchFamily="34" charset="-120"/>
              </a:rPr>
              <a:t>표준 4대 기능</a:t>
            </a:r>
            <a:endParaRPr lang="en-US" sz="1500" dirty="0"/>
          </a:p>
        </p:txBody>
      </p:sp>
      <p:sp>
        <p:nvSpPr>
          <p:cNvPr id="7" name="Shape 5"/>
          <p:cNvSpPr/>
          <p:nvPr/>
        </p:nvSpPr>
        <p:spPr>
          <a:xfrm>
            <a:off x="822960" y="2834640"/>
            <a:ext cx="640080" cy="640080"/>
          </a:xfrm>
          <a:prstGeom prst="ellipse">
            <a:avLst/>
          </a:prstGeom>
          <a:solidFill>
            <a:srgbClr val="EAF1FC"/>
          </a:solidFill>
          <a:ln/>
        </p:spPr>
      </p:sp>
      <p:pic>
        <p:nvPicPr>
          <p:cNvPr id="8" name="Image 0" descr="preencoded.png"/>
          <p:cNvPicPr>
            <a:picLocks noChangeAspect="1"/>
          </p:cNvPicPr>
          <p:nvPr/>
        </p:nvPicPr>
        <p:blipFill>
          <a:blip r:embed="rId3"/>
          <a:stretch>
            <a:fillRect/>
          </a:stretch>
        </p:blipFill>
        <p:spPr>
          <a:xfrm>
            <a:off x="978408" y="2990088"/>
            <a:ext cx="329184" cy="329184"/>
          </a:xfrm>
          <a:prstGeom prst="rect">
            <a:avLst/>
          </a:prstGeom>
        </p:spPr>
      </p:pic>
      <p:sp>
        <p:nvSpPr>
          <p:cNvPr id="9" name="Text 6"/>
          <p:cNvSpPr/>
          <p:nvPr/>
        </p:nvSpPr>
        <p:spPr>
          <a:xfrm>
            <a:off x="1600200" y="2852928"/>
            <a:ext cx="347472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조회 (Find)</a:t>
            </a:r>
            <a:endParaRPr lang="en-US" sz="1450" dirty="0"/>
          </a:p>
        </p:txBody>
      </p:sp>
      <p:sp>
        <p:nvSpPr>
          <p:cNvPr id="10" name="Text 7"/>
          <p:cNvSpPr/>
          <p:nvPr/>
        </p:nvSpPr>
        <p:spPr>
          <a:xfrm>
            <a:off x="1600200" y="3163824"/>
            <a:ext cx="347472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필요한 정보를 찾기</a:t>
            </a:r>
            <a:endParaRPr lang="en-US" sz="1150" dirty="0"/>
          </a:p>
        </p:txBody>
      </p:sp>
      <p:sp>
        <p:nvSpPr>
          <p:cNvPr id="11" name="Shape 8"/>
          <p:cNvSpPr/>
          <p:nvPr/>
        </p:nvSpPr>
        <p:spPr>
          <a:xfrm>
            <a:off x="822960" y="3621024"/>
            <a:ext cx="640080" cy="640080"/>
          </a:xfrm>
          <a:prstGeom prst="ellipse">
            <a:avLst/>
          </a:prstGeom>
          <a:solidFill>
            <a:srgbClr val="EAF1FC"/>
          </a:solidFill>
          <a:ln/>
        </p:spPr>
      </p:sp>
      <p:pic>
        <p:nvPicPr>
          <p:cNvPr id="12" name="Image 1" descr="preencoded.png"/>
          <p:cNvPicPr>
            <a:picLocks noChangeAspect="1"/>
          </p:cNvPicPr>
          <p:nvPr/>
        </p:nvPicPr>
        <p:blipFill>
          <a:blip r:embed="rId4"/>
          <a:stretch>
            <a:fillRect/>
          </a:stretch>
        </p:blipFill>
        <p:spPr>
          <a:xfrm>
            <a:off x="978408" y="3776472"/>
            <a:ext cx="329184" cy="329184"/>
          </a:xfrm>
          <a:prstGeom prst="rect">
            <a:avLst/>
          </a:prstGeom>
        </p:spPr>
      </p:pic>
      <p:sp>
        <p:nvSpPr>
          <p:cNvPr id="13" name="Text 9"/>
          <p:cNvSpPr/>
          <p:nvPr/>
        </p:nvSpPr>
        <p:spPr>
          <a:xfrm>
            <a:off x="1600200" y="3639312"/>
            <a:ext cx="347472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등록 (Register)</a:t>
            </a:r>
            <a:endParaRPr lang="en-US" sz="1450" dirty="0"/>
          </a:p>
        </p:txBody>
      </p:sp>
      <p:sp>
        <p:nvSpPr>
          <p:cNvPr id="14" name="Text 10"/>
          <p:cNvSpPr/>
          <p:nvPr/>
        </p:nvSpPr>
        <p:spPr>
          <a:xfrm>
            <a:off x="1600200" y="3950208"/>
            <a:ext cx="347472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새 정보를 입력</a:t>
            </a:r>
            <a:endParaRPr lang="en-US" sz="1150" dirty="0"/>
          </a:p>
        </p:txBody>
      </p:sp>
      <p:sp>
        <p:nvSpPr>
          <p:cNvPr id="15" name="Shape 11"/>
          <p:cNvSpPr/>
          <p:nvPr/>
        </p:nvSpPr>
        <p:spPr>
          <a:xfrm>
            <a:off x="822960" y="4407408"/>
            <a:ext cx="640080" cy="640080"/>
          </a:xfrm>
          <a:prstGeom prst="ellipse">
            <a:avLst/>
          </a:prstGeom>
          <a:solidFill>
            <a:srgbClr val="EAF1FC"/>
          </a:solidFill>
          <a:ln/>
        </p:spPr>
      </p:sp>
      <p:pic>
        <p:nvPicPr>
          <p:cNvPr id="16" name="Image 2" descr="preencoded.png"/>
          <p:cNvPicPr>
            <a:picLocks noChangeAspect="1"/>
          </p:cNvPicPr>
          <p:nvPr/>
        </p:nvPicPr>
        <p:blipFill>
          <a:blip r:embed="rId5"/>
          <a:stretch>
            <a:fillRect/>
          </a:stretch>
        </p:blipFill>
        <p:spPr>
          <a:xfrm>
            <a:off x="978408" y="4562856"/>
            <a:ext cx="329184" cy="329184"/>
          </a:xfrm>
          <a:prstGeom prst="rect">
            <a:avLst/>
          </a:prstGeom>
        </p:spPr>
      </p:pic>
      <p:sp>
        <p:nvSpPr>
          <p:cNvPr id="17" name="Text 12"/>
          <p:cNvSpPr/>
          <p:nvPr/>
        </p:nvSpPr>
        <p:spPr>
          <a:xfrm>
            <a:off x="1600200" y="4425696"/>
            <a:ext cx="347472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수정 (Update)</a:t>
            </a:r>
            <a:endParaRPr lang="en-US" sz="1450" dirty="0"/>
          </a:p>
        </p:txBody>
      </p:sp>
      <p:sp>
        <p:nvSpPr>
          <p:cNvPr id="18" name="Text 13"/>
          <p:cNvSpPr/>
          <p:nvPr/>
        </p:nvSpPr>
        <p:spPr>
          <a:xfrm>
            <a:off x="1600200" y="4736592"/>
            <a:ext cx="347472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기존 정보를 변경</a:t>
            </a:r>
            <a:endParaRPr lang="en-US" sz="1150" dirty="0"/>
          </a:p>
        </p:txBody>
      </p:sp>
      <p:sp>
        <p:nvSpPr>
          <p:cNvPr id="19" name="Shape 14"/>
          <p:cNvSpPr/>
          <p:nvPr/>
        </p:nvSpPr>
        <p:spPr>
          <a:xfrm>
            <a:off x="822960" y="5193792"/>
            <a:ext cx="640080" cy="640080"/>
          </a:xfrm>
          <a:prstGeom prst="ellipse">
            <a:avLst/>
          </a:prstGeom>
          <a:solidFill>
            <a:srgbClr val="EAF1FC"/>
          </a:solidFill>
          <a:ln/>
        </p:spPr>
      </p:sp>
      <p:pic>
        <p:nvPicPr>
          <p:cNvPr id="20" name="Image 3" descr="preencoded.png"/>
          <p:cNvPicPr>
            <a:picLocks noChangeAspect="1"/>
          </p:cNvPicPr>
          <p:nvPr/>
        </p:nvPicPr>
        <p:blipFill>
          <a:blip r:embed="rId6"/>
          <a:stretch>
            <a:fillRect/>
          </a:stretch>
        </p:blipFill>
        <p:spPr>
          <a:xfrm>
            <a:off x="978408" y="5349240"/>
            <a:ext cx="329184" cy="329184"/>
          </a:xfrm>
          <a:prstGeom prst="rect">
            <a:avLst/>
          </a:prstGeom>
        </p:spPr>
      </p:pic>
      <p:sp>
        <p:nvSpPr>
          <p:cNvPr id="21" name="Text 15"/>
          <p:cNvSpPr/>
          <p:nvPr/>
        </p:nvSpPr>
        <p:spPr>
          <a:xfrm>
            <a:off x="1600200" y="5212080"/>
            <a:ext cx="347472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삭제 (Remove)</a:t>
            </a:r>
            <a:endParaRPr lang="en-US" sz="1450" dirty="0"/>
          </a:p>
        </p:txBody>
      </p:sp>
      <p:sp>
        <p:nvSpPr>
          <p:cNvPr id="22" name="Text 16"/>
          <p:cNvSpPr/>
          <p:nvPr/>
        </p:nvSpPr>
        <p:spPr>
          <a:xfrm>
            <a:off x="1600200" y="5522976"/>
            <a:ext cx="347472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불필요한 정보를 제거</a:t>
            </a:r>
            <a:endParaRPr lang="en-US" sz="1150" dirty="0"/>
          </a:p>
        </p:txBody>
      </p:sp>
      <p:sp>
        <p:nvSpPr>
          <p:cNvPr id="23" name="Shape 17"/>
          <p:cNvSpPr/>
          <p:nvPr/>
        </p:nvSpPr>
        <p:spPr>
          <a:xfrm>
            <a:off x="5577840" y="2057400"/>
            <a:ext cx="6080760" cy="4114800"/>
          </a:xfrm>
          <a:prstGeom prst="rect">
            <a:avLst/>
          </a:prstGeom>
          <a:solidFill>
            <a:srgbClr val="0E1F45"/>
          </a:solidFill>
          <a:ln/>
          <a:effectLst>
            <a:outerShdw blurRad="114300" dist="38100" dir="5400000" algn="bl" rotWithShape="0">
              <a:srgbClr val="0E1F45">
                <a:alpha val="14000"/>
              </a:srgbClr>
            </a:outerShdw>
          </a:effectLst>
        </p:spPr>
      </p:sp>
      <p:sp>
        <p:nvSpPr>
          <p:cNvPr id="24" name="Text 18"/>
          <p:cNvSpPr/>
          <p:nvPr/>
        </p:nvSpPr>
        <p:spPr>
          <a:xfrm>
            <a:off x="5897880" y="2331720"/>
            <a:ext cx="5486400" cy="365760"/>
          </a:xfrm>
          <a:prstGeom prst="rect">
            <a:avLst/>
          </a:prstGeom>
          <a:noFill/>
          <a:ln/>
        </p:spPr>
        <p:txBody>
          <a:bodyPr wrap="square" rtlCol="0" anchor="ctr"/>
          <a:lstStyle/>
          <a:p>
            <a:pPr marL="0" indent="0">
              <a:buNone/>
            </a:pPr>
            <a:r>
              <a:rPr lang="en-US" sz="1600" b="1" dirty="0">
                <a:solidFill>
                  <a:srgbClr val="F4B740"/>
                </a:solidFill>
                <a:latin typeface="맑은 고딕" pitchFamily="34" charset="0"/>
                <a:ea typeface="맑은 고딕" pitchFamily="34" charset="-122"/>
                <a:cs typeface="맑은 고딕" pitchFamily="34" charset="-120"/>
              </a:rPr>
              <a:t>왜 좋은가요?</a:t>
            </a:r>
            <a:endParaRPr lang="en-US" sz="1600" dirty="0"/>
          </a:p>
        </p:txBody>
      </p:sp>
      <p:sp>
        <p:nvSpPr>
          <p:cNvPr id="25" name="Shape 19"/>
          <p:cNvSpPr/>
          <p:nvPr/>
        </p:nvSpPr>
        <p:spPr>
          <a:xfrm>
            <a:off x="5897880" y="2926080"/>
            <a:ext cx="91440" cy="566928"/>
          </a:xfrm>
          <a:prstGeom prst="rect">
            <a:avLst/>
          </a:prstGeom>
          <a:solidFill>
            <a:srgbClr val="3B82F6"/>
          </a:solidFill>
          <a:ln/>
        </p:spPr>
      </p:sp>
      <p:sp>
        <p:nvSpPr>
          <p:cNvPr id="26" name="Text 20"/>
          <p:cNvSpPr/>
          <p:nvPr/>
        </p:nvSpPr>
        <p:spPr>
          <a:xfrm>
            <a:off x="6126480" y="2880360"/>
            <a:ext cx="5303520" cy="329184"/>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개발 속도 ↑</a:t>
            </a:r>
            <a:endParaRPr lang="en-US" sz="1500" dirty="0"/>
          </a:p>
        </p:txBody>
      </p:sp>
      <p:sp>
        <p:nvSpPr>
          <p:cNvPr id="27" name="Text 21"/>
          <p:cNvSpPr/>
          <p:nvPr/>
        </p:nvSpPr>
        <p:spPr>
          <a:xfrm>
            <a:off x="6126480" y="3209544"/>
            <a:ext cx="5349240" cy="457200"/>
          </a:xfrm>
          <a:prstGeom prst="rect">
            <a:avLst/>
          </a:prstGeom>
          <a:noFill/>
          <a:ln/>
        </p:spPr>
        <p:txBody>
          <a:bodyPr wrap="square" rtlCol="0" anchor="ctr"/>
          <a:lstStyle/>
          <a:p>
            <a:pPr marL="0" indent="0">
              <a:buNone/>
            </a:pPr>
            <a:r>
              <a:rPr lang="en-US" sz="1200" dirty="0">
                <a:solidFill>
                  <a:srgbClr val="DBE7FB"/>
                </a:solidFill>
                <a:latin typeface="맑은 고딕" pitchFamily="34" charset="0"/>
                <a:ea typeface="맑은 고딕" pitchFamily="34" charset="-122"/>
                <a:cs typeface="맑은 고딕" pitchFamily="34" charset="-120"/>
              </a:rPr>
              <a:t>새 서비스를 만들 때 기본 기능을 처음부터 짜지 않고 가져다 씀</a:t>
            </a:r>
            <a:endParaRPr lang="en-US" sz="1200" dirty="0"/>
          </a:p>
        </p:txBody>
      </p:sp>
      <p:sp>
        <p:nvSpPr>
          <p:cNvPr id="28" name="Shape 22"/>
          <p:cNvSpPr/>
          <p:nvPr/>
        </p:nvSpPr>
        <p:spPr>
          <a:xfrm>
            <a:off x="5897880" y="3730752"/>
            <a:ext cx="91440" cy="566928"/>
          </a:xfrm>
          <a:prstGeom prst="rect">
            <a:avLst/>
          </a:prstGeom>
          <a:solidFill>
            <a:srgbClr val="3B82F6"/>
          </a:solidFill>
          <a:ln/>
        </p:spPr>
      </p:sp>
      <p:sp>
        <p:nvSpPr>
          <p:cNvPr id="29" name="Text 23"/>
          <p:cNvSpPr/>
          <p:nvPr/>
        </p:nvSpPr>
        <p:spPr>
          <a:xfrm>
            <a:off x="6126480" y="3685032"/>
            <a:ext cx="5303520" cy="329184"/>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일관성 ↑</a:t>
            </a:r>
            <a:endParaRPr lang="en-US" sz="1500" dirty="0"/>
          </a:p>
        </p:txBody>
      </p:sp>
      <p:sp>
        <p:nvSpPr>
          <p:cNvPr id="30" name="Text 24"/>
          <p:cNvSpPr/>
          <p:nvPr/>
        </p:nvSpPr>
        <p:spPr>
          <a:xfrm>
            <a:off x="6126480" y="4014216"/>
            <a:ext cx="5349240" cy="457200"/>
          </a:xfrm>
          <a:prstGeom prst="rect">
            <a:avLst/>
          </a:prstGeom>
          <a:noFill/>
          <a:ln/>
        </p:spPr>
        <p:txBody>
          <a:bodyPr wrap="square" rtlCol="0" anchor="ctr"/>
          <a:lstStyle/>
          <a:p>
            <a:pPr marL="0" indent="0">
              <a:buNone/>
            </a:pPr>
            <a:r>
              <a:rPr lang="en-US" sz="1200" dirty="0">
                <a:solidFill>
                  <a:srgbClr val="DBE7FB"/>
                </a:solidFill>
                <a:latin typeface="맑은 고딕" pitchFamily="34" charset="0"/>
                <a:ea typeface="맑은 고딕" pitchFamily="34" charset="-122"/>
                <a:cs typeface="맑은 고딕" pitchFamily="34" charset="-120"/>
              </a:rPr>
              <a:t>모든 서비스가 동일한 방식으로 동작 → 사용·유지보수가 쉬움</a:t>
            </a:r>
            <a:endParaRPr lang="en-US" sz="1200" dirty="0"/>
          </a:p>
        </p:txBody>
      </p:sp>
      <p:sp>
        <p:nvSpPr>
          <p:cNvPr id="31" name="Shape 25"/>
          <p:cNvSpPr/>
          <p:nvPr/>
        </p:nvSpPr>
        <p:spPr>
          <a:xfrm>
            <a:off x="5897880" y="4535424"/>
            <a:ext cx="91440" cy="566928"/>
          </a:xfrm>
          <a:prstGeom prst="rect">
            <a:avLst/>
          </a:prstGeom>
          <a:solidFill>
            <a:srgbClr val="3B82F6"/>
          </a:solidFill>
          <a:ln/>
        </p:spPr>
      </p:sp>
      <p:sp>
        <p:nvSpPr>
          <p:cNvPr id="32" name="Text 26"/>
          <p:cNvSpPr/>
          <p:nvPr/>
        </p:nvSpPr>
        <p:spPr>
          <a:xfrm>
            <a:off x="6126480" y="4489704"/>
            <a:ext cx="5303520" cy="329184"/>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오류 ↓</a:t>
            </a:r>
            <a:endParaRPr lang="en-US" sz="1500" dirty="0"/>
          </a:p>
        </p:txBody>
      </p:sp>
      <p:sp>
        <p:nvSpPr>
          <p:cNvPr id="33" name="Text 27"/>
          <p:cNvSpPr/>
          <p:nvPr/>
        </p:nvSpPr>
        <p:spPr>
          <a:xfrm>
            <a:off x="6126480" y="4818888"/>
            <a:ext cx="5349240" cy="457200"/>
          </a:xfrm>
          <a:prstGeom prst="rect">
            <a:avLst/>
          </a:prstGeom>
          <a:noFill/>
          <a:ln/>
        </p:spPr>
        <p:txBody>
          <a:bodyPr wrap="square" rtlCol="0" anchor="ctr"/>
          <a:lstStyle/>
          <a:p>
            <a:pPr marL="0" indent="0">
              <a:buNone/>
            </a:pPr>
            <a:r>
              <a:rPr lang="en-US" sz="1200" dirty="0">
                <a:solidFill>
                  <a:srgbClr val="DBE7FB"/>
                </a:solidFill>
                <a:latin typeface="맑은 고딕" pitchFamily="34" charset="0"/>
                <a:ea typeface="맑은 고딕" pitchFamily="34" charset="-122"/>
                <a:cs typeface="맑은 고딕" pitchFamily="34" charset="-120"/>
              </a:rPr>
              <a:t>검증된 골격을 재사용하니 실수와 버그가 줄어듦</a:t>
            </a:r>
            <a:endParaRPr lang="en-US" sz="1200" dirty="0"/>
          </a:p>
        </p:txBody>
      </p:sp>
      <p:sp>
        <p:nvSpPr>
          <p:cNvPr id="34" name="Shape 28"/>
          <p:cNvSpPr/>
          <p:nvPr/>
        </p:nvSpPr>
        <p:spPr>
          <a:xfrm>
            <a:off x="5897880" y="5340096"/>
            <a:ext cx="91440" cy="566928"/>
          </a:xfrm>
          <a:prstGeom prst="rect">
            <a:avLst/>
          </a:prstGeom>
          <a:solidFill>
            <a:srgbClr val="3B82F6"/>
          </a:solidFill>
          <a:ln/>
        </p:spPr>
      </p:sp>
      <p:sp>
        <p:nvSpPr>
          <p:cNvPr id="35" name="Text 29"/>
          <p:cNvSpPr/>
          <p:nvPr/>
        </p:nvSpPr>
        <p:spPr>
          <a:xfrm>
            <a:off x="6126480" y="5294376"/>
            <a:ext cx="5303520" cy="329184"/>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비용 ↓</a:t>
            </a:r>
            <a:endParaRPr lang="en-US" sz="1500" dirty="0"/>
          </a:p>
        </p:txBody>
      </p:sp>
      <p:sp>
        <p:nvSpPr>
          <p:cNvPr id="36" name="Text 30"/>
          <p:cNvSpPr/>
          <p:nvPr/>
        </p:nvSpPr>
        <p:spPr>
          <a:xfrm>
            <a:off x="6126480" y="5623560"/>
            <a:ext cx="5349240" cy="457200"/>
          </a:xfrm>
          <a:prstGeom prst="rect">
            <a:avLst/>
          </a:prstGeom>
          <a:noFill/>
          <a:ln/>
        </p:spPr>
        <p:txBody>
          <a:bodyPr wrap="square" rtlCol="0" anchor="ctr"/>
          <a:lstStyle/>
          <a:p>
            <a:pPr marL="0" indent="0">
              <a:buNone/>
            </a:pPr>
            <a:r>
              <a:rPr lang="en-US" sz="1200" dirty="0">
                <a:solidFill>
                  <a:srgbClr val="DBE7FB"/>
                </a:solidFill>
                <a:latin typeface="맑은 고딕" pitchFamily="34" charset="0"/>
                <a:ea typeface="맑은 고딕" pitchFamily="34" charset="-122"/>
                <a:cs typeface="맑은 고딕" pitchFamily="34" charset="-120"/>
              </a:rPr>
              <a:t>중복 개발이 사라져 인건비·시간이 절약됨</a:t>
            </a:r>
            <a:endParaRPr lang="en-US" sz="1200" dirty="0"/>
          </a:p>
        </p:txBody>
      </p:sp>
      <p:sp>
        <p:nvSpPr>
          <p:cNvPr id="38" name="Text 31"/>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39" name="Text 32"/>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DATA HANDLING</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데이터를 알아서 깔끔하게 정리</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사람이 손대지 않아도 형식을 자동으로 맞춰 실수를 막습니다</a:t>
            </a:r>
            <a:endParaRPr lang="en-US" sz="1350" dirty="0"/>
          </a:p>
        </p:txBody>
      </p:sp>
      <p:sp>
        <p:nvSpPr>
          <p:cNvPr id="5" name="Text 3"/>
          <p:cNvSpPr/>
          <p:nvPr/>
        </p:nvSpPr>
        <p:spPr>
          <a:xfrm>
            <a:off x="502920" y="1783080"/>
            <a:ext cx="11155680" cy="548640"/>
          </a:xfrm>
          <a:prstGeom prst="rect">
            <a:avLst/>
          </a:prstGeom>
          <a:noFill/>
          <a:ln/>
        </p:spPr>
        <p:txBody>
          <a:bodyPr wrap="square" rtlCol="0" anchor="ctr"/>
          <a:lstStyle/>
          <a:p>
            <a:pPr marL="0" indent="0">
              <a:lnSpc>
                <a:spcPct val="115000"/>
              </a:lnSpc>
              <a:buNone/>
            </a:pPr>
            <a:r>
              <a:rPr lang="en-US" sz="1350" dirty="0">
                <a:solidFill>
                  <a:srgbClr val="5B6B85"/>
                </a:solidFill>
                <a:latin typeface="맑은 고딕" pitchFamily="34" charset="0"/>
                <a:ea typeface="맑은 고딕" pitchFamily="34" charset="-122"/>
                <a:cs typeface="맑은 고딕" pitchFamily="34" charset="-120"/>
              </a:rPr>
              <a:t>Core에는 데이터 형식을 자동 변환하는 규칙이 내장되어 있습니다. 입력·조회 시 시스템이 스스로 보기 좋게 정리해, 담당자의 실수와 데이터 불일치를 예방합니다.</a:t>
            </a:r>
            <a:endParaRPr lang="en-US" sz="1350" dirty="0"/>
          </a:p>
        </p:txBody>
      </p:sp>
      <p:sp>
        <p:nvSpPr>
          <p:cNvPr id="6" name="Shape 4"/>
          <p:cNvSpPr/>
          <p:nvPr/>
        </p:nvSpPr>
        <p:spPr>
          <a:xfrm>
            <a:off x="502920" y="2331720"/>
            <a:ext cx="11155680" cy="457200"/>
          </a:xfrm>
          <a:prstGeom prst="rect">
            <a:avLst/>
          </a:prstGeom>
          <a:solidFill>
            <a:srgbClr val="0E1F45"/>
          </a:solidFill>
          <a:ln/>
        </p:spPr>
      </p:sp>
      <p:sp>
        <p:nvSpPr>
          <p:cNvPr id="7" name="Text 5"/>
          <p:cNvSpPr/>
          <p:nvPr/>
        </p:nvSpPr>
        <p:spPr>
          <a:xfrm>
            <a:off x="777240" y="2331720"/>
            <a:ext cx="3291840" cy="457200"/>
          </a:xfrm>
          <a:prstGeom prst="rect">
            <a:avLst/>
          </a:prstGeom>
          <a:noFill/>
          <a:ln/>
        </p:spPr>
        <p:txBody>
          <a:bodyPr wrap="square" rtlCol="0" anchor="ctr"/>
          <a:lstStyle/>
          <a:p>
            <a:pPr marL="0" indent="0">
              <a:buNone/>
            </a:pPr>
            <a:r>
              <a:rPr lang="en-US" sz="1300" b="1" dirty="0">
                <a:solidFill>
                  <a:srgbClr val="FFFFFF"/>
                </a:solidFill>
                <a:latin typeface="맑은 고딕" pitchFamily="34" charset="0"/>
                <a:ea typeface="맑은 고딕" pitchFamily="34" charset="-122"/>
                <a:cs typeface="맑은 고딕" pitchFamily="34" charset="-120"/>
              </a:rPr>
              <a:t>항목</a:t>
            </a:r>
            <a:endParaRPr lang="en-US" sz="1300" dirty="0"/>
          </a:p>
        </p:txBody>
      </p:sp>
      <p:sp>
        <p:nvSpPr>
          <p:cNvPr id="8" name="Text 6"/>
          <p:cNvSpPr/>
          <p:nvPr/>
        </p:nvSpPr>
        <p:spPr>
          <a:xfrm>
            <a:off x="4343400" y="2331720"/>
            <a:ext cx="3291840" cy="457200"/>
          </a:xfrm>
          <a:prstGeom prst="rect">
            <a:avLst/>
          </a:prstGeom>
          <a:noFill/>
          <a:ln/>
        </p:spPr>
        <p:txBody>
          <a:bodyPr wrap="square" rtlCol="0" anchor="ctr"/>
          <a:lstStyle/>
          <a:p>
            <a:pPr marL="0" indent="0">
              <a:buNone/>
            </a:pPr>
            <a:r>
              <a:rPr lang="en-US" sz="1300" b="1" dirty="0">
                <a:solidFill>
                  <a:srgbClr val="DBE7FB"/>
                </a:solidFill>
                <a:latin typeface="맑은 고딕" pitchFamily="34" charset="0"/>
                <a:ea typeface="맑은 고딕" pitchFamily="34" charset="-122"/>
                <a:cs typeface="맑은 고딕" pitchFamily="34" charset="-120"/>
              </a:rPr>
              <a:t>입력 (원본)</a:t>
            </a:r>
            <a:endParaRPr lang="en-US" sz="1300" dirty="0"/>
          </a:p>
        </p:txBody>
      </p:sp>
      <p:sp>
        <p:nvSpPr>
          <p:cNvPr id="9" name="Text 7"/>
          <p:cNvSpPr/>
          <p:nvPr/>
        </p:nvSpPr>
        <p:spPr>
          <a:xfrm>
            <a:off x="8001000" y="2331720"/>
            <a:ext cx="3383280" cy="457200"/>
          </a:xfrm>
          <a:prstGeom prst="rect">
            <a:avLst/>
          </a:prstGeom>
          <a:noFill/>
          <a:ln/>
        </p:spPr>
        <p:txBody>
          <a:bodyPr wrap="square" rtlCol="0" anchor="ctr"/>
          <a:lstStyle/>
          <a:p>
            <a:pPr marL="0" indent="0">
              <a:buNone/>
            </a:pPr>
            <a:r>
              <a:rPr lang="en-US" sz="1300" b="1" dirty="0">
                <a:solidFill>
                  <a:srgbClr val="F4B740"/>
                </a:solidFill>
                <a:latin typeface="맑은 고딕" pitchFamily="34" charset="0"/>
                <a:ea typeface="맑은 고딕" pitchFamily="34" charset="-122"/>
                <a:cs typeface="맑은 고딕" pitchFamily="34" charset="-120"/>
              </a:rPr>
              <a:t>자동 변환 결과</a:t>
            </a:r>
            <a:endParaRPr lang="en-US" sz="1300" dirty="0"/>
          </a:p>
        </p:txBody>
      </p:sp>
      <p:sp>
        <p:nvSpPr>
          <p:cNvPr id="10" name="Shape 8"/>
          <p:cNvSpPr/>
          <p:nvPr/>
        </p:nvSpPr>
        <p:spPr>
          <a:xfrm>
            <a:off x="502920" y="2880360"/>
            <a:ext cx="11155680" cy="585216"/>
          </a:xfrm>
          <a:prstGeom prst="rect">
            <a:avLst/>
          </a:prstGeom>
          <a:solidFill>
            <a:srgbClr val="FFFFFF"/>
          </a:solidFill>
          <a:ln w="12700">
            <a:solidFill>
              <a:srgbClr val="DBE7FB"/>
            </a:solidFill>
            <a:prstDash val="solid"/>
          </a:ln>
        </p:spPr>
      </p:sp>
      <p:sp>
        <p:nvSpPr>
          <p:cNvPr id="11" name="Text 9"/>
          <p:cNvSpPr/>
          <p:nvPr/>
        </p:nvSpPr>
        <p:spPr>
          <a:xfrm>
            <a:off x="777240" y="2880360"/>
            <a:ext cx="3291840" cy="585216"/>
          </a:xfrm>
          <a:prstGeom prst="rect">
            <a:avLst/>
          </a:prstGeom>
          <a:noFill/>
          <a:ln/>
        </p:spPr>
        <p:txBody>
          <a:bodyPr wrap="square"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주민등록번호</a:t>
            </a:r>
            <a:endParaRPr lang="en-US" sz="1400" dirty="0"/>
          </a:p>
        </p:txBody>
      </p:sp>
      <p:sp>
        <p:nvSpPr>
          <p:cNvPr id="12" name="Text 10"/>
          <p:cNvSpPr/>
          <p:nvPr/>
        </p:nvSpPr>
        <p:spPr>
          <a:xfrm>
            <a:off x="4343400" y="2880360"/>
            <a:ext cx="3108960" cy="585216"/>
          </a:xfrm>
          <a:prstGeom prst="rect">
            <a:avLst/>
          </a:prstGeom>
          <a:noFill/>
          <a:ln/>
        </p:spPr>
        <p:txBody>
          <a:bodyPr wrap="square" rtlCol="0" anchor="ctr"/>
          <a:lstStyle/>
          <a:p>
            <a:pPr marL="0" indent="0">
              <a:buNone/>
            </a:pPr>
            <a:r>
              <a:rPr lang="en-US" sz="1400" dirty="0">
                <a:solidFill>
                  <a:srgbClr val="5B6B85"/>
                </a:solidFill>
                <a:latin typeface="Consolas" pitchFamily="34" charset="0"/>
                <a:ea typeface="Consolas" pitchFamily="34" charset="-122"/>
                <a:cs typeface="Consolas" pitchFamily="34" charset="-120"/>
              </a:rPr>
              <a:t>9001011234567</a:t>
            </a:r>
            <a:endParaRPr lang="en-US" sz="1400" dirty="0"/>
          </a:p>
        </p:txBody>
      </p:sp>
      <p:pic>
        <p:nvPicPr>
          <p:cNvPr id="13" name="Image 0" descr="preencoded.png"/>
          <p:cNvPicPr>
            <a:picLocks noChangeAspect="1"/>
          </p:cNvPicPr>
          <p:nvPr/>
        </p:nvPicPr>
        <p:blipFill>
          <a:blip r:embed="rId3"/>
          <a:stretch>
            <a:fillRect/>
          </a:stretch>
        </p:blipFill>
        <p:spPr>
          <a:xfrm>
            <a:off x="7498080" y="3054096"/>
            <a:ext cx="365760" cy="237744"/>
          </a:xfrm>
          <a:prstGeom prst="rect">
            <a:avLst/>
          </a:prstGeom>
        </p:spPr>
      </p:pic>
      <p:sp>
        <p:nvSpPr>
          <p:cNvPr id="14" name="Text 11"/>
          <p:cNvSpPr/>
          <p:nvPr/>
        </p:nvSpPr>
        <p:spPr>
          <a:xfrm>
            <a:off x="8001000" y="2880360"/>
            <a:ext cx="3383280" cy="585216"/>
          </a:xfrm>
          <a:prstGeom prst="rect">
            <a:avLst/>
          </a:prstGeom>
          <a:noFill/>
          <a:ln/>
        </p:spPr>
        <p:txBody>
          <a:bodyPr wrap="square" rtlCol="0" anchor="ctr"/>
          <a:lstStyle/>
          <a:p>
            <a:pPr marL="0" indent="0">
              <a:buNone/>
            </a:pPr>
            <a:r>
              <a:rPr lang="en-US" sz="1450" b="1" dirty="0">
                <a:solidFill>
                  <a:srgbClr val="1D4ED8"/>
                </a:solidFill>
                <a:latin typeface="Consolas" pitchFamily="34" charset="0"/>
                <a:ea typeface="Consolas" pitchFamily="34" charset="-122"/>
                <a:cs typeface="Consolas" pitchFamily="34" charset="-120"/>
              </a:rPr>
              <a:t>900101-1234567</a:t>
            </a:r>
            <a:endParaRPr lang="en-US" sz="1450" dirty="0"/>
          </a:p>
        </p:txBody>
      </p:sp>
      <p:sp>
        <p:nvSpPr>
          <p:cNvPr id="15" name="Shape 12"/>
          <p:cNvSpPr/>
          <p:nvPr/>
        </p:nvSpPr>
        <p:spPr>
          <a:xfrm>
            <a:off x="502920" y="3557016"/>
            <a:ext cx="11155680" cy="585216"/>
          </a:xfrm>
          <a:prstGeom prst="rect">
            <a:avLst/>
          </a:prstGeom>
          <a:solidFill>
            <a:srgbClr val="FFFFFF"/>
          </a:solidFill>
          <a:ln w="12700">
            <a:solidFill>
              <a:srgbClr val="DBE7FB"/>
            </a:solidFill>
            <a:prstDash val="solid"/>
          </a:ln>
        </p:spPr>
      </p:sp>
      <p:sp>
        <p:nvSpPr>
          <p:cNvPr id="16" name="Text 13"/>
          <p:cNvSpPr/>
          <p:nvPr/>
        </p:nvSpPr>
        <p:spPr>
          <a:xfrm>
            <a:off x="777240" y="3557016"/>
            <a:ext cx="3291840" cy="585216"/>
          </a:xfrm>
          <a:prstGeom prst="rect">
            <a:avLst/>
          </a:prstGeom>
          <a:noFill/>
          <a:ln/>
        </p:spPr>
        <p:txBody>
          <a:bodyPr wrap="square"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전화번호</a:t>
            </a:r>
            <a:endParaRPr lang="en-US" sz="1400" dirty="0"/>
          </a:p>
        </p:txBody>
      </p:sp>
      <p:sp>
        <p:nvSpPr>
          <p:cNvPr id="17" name="Text 14"/>
          <p:cNvSpPr/>
          <p:nvPr/>
        </p:nvSpPr>
        <p:spPr>
          <a:xfrm>
            <a:off x="4343400" y="3557016"/>
            <a:ext cx="3108960" cy="585216"/>
          </a:xfrm>
          <a:prstGeom prst="rect">
            <a:avLst/>
          </a:prstGeom>
          <a:noFill/>
          <a:ln/>
        </p:spPr>
        <p:txBody>
          <a:bodyPr wrap="square" rtlCol="0" anchor="ctr"/>
          <a:lstStyle/>
          <a:p>
            <a:pPr marL="0" indent="0">
              <a:buNone/>
            </a:pPr>
            <a:r>
              <a:rPr lang="en-US" sz="1400" dirty="0">
                <a:solidFill>
                  <a:srgbClr val="5B6B85"/>
                </a:solidFill>
                <a:latin typeface="Consolas" pitchFamily="34" charset="0"/>
                <a:ea typeface="Consolas" pitchFamily="34" charset="-122"/>
                <a:cs typeface="Consolas" pitchFamily="34" charset="-120"/>
              </a:rPr>
              <a:t>01012345678</a:t>
            </a:r>
            <a:endParaRPr lang="en-US" sz="1400" dirty="0"/>
          </a:p>
        </p:txBody>
      </p:sp>
      <p:pic>
        <p:nvPicPr>
          <p:cNvPr id="18" name="Image 1" descr="preencoded.png"/>
          <p:cNvPicPr>
            <a:picLocks noChangeAspect="1"/>
          </p:cNvPicPr>
          <p:nvPr/>
        </p:nvPicPr>
        <p:blipFill>
          <a:blip r:embed="rId3"/>
          <a:stretch>
            <a:fillRect/>
          </a:stretch>
        </p:blipFill>
        <p:spPr>
          <a:xfrm>
            <a:off x="7498080" y="3730752"/>
            <a:ext cx="365760" cy="237744"/>
          </a:xfrm>
          <a:prstGeom prst="rect">
            <a:avLst/>
          </a:prstGeom>
        </p:spPr>
      </p:pic>
      <p:sp>
        <p:nvSpPr>
          <p:cNvPr id="19" name="Text 15"/>
          <p:cNvSpPr/>
          <p:nvPr/>
        </p:nvSpPr>
        <p:spPr>
          <a:xfrm>
            <a:off x="8001000" y="3557016"/>
            <a:ext cx="3383280" cy="585216"/>
          </a:xfrm>
          <a:prstGeom prst="rect">
            <a:avLst/>
          </a:prstGeom>
          <a:noFill/>
          <a:ln/>
        </p:spPr>
        <p:txBody>
          <a:bodyPr wrap="square" rtlCol="0" anchor="ctr"/>
          <a:lstStyle/>
          <a:p>
            <a:pPr marL="0" indent="0">
              <a:buNone/>
            </a:pPr>
            <a:r>
              <a:rPr lang="en-US" sz="1450" b="1" dirty="0">
                <a:solidFill>
                  <a:srgbClr val="1D4ED8"/>
                </a:solidFill>
                <a:latin typeface="Consolas" pitchFamily="34" charset="0"/>
                <a:ea typeface="Consolas" pitchFamily="34" charset="-122"/>
                <a:cs typeface="Consolas" pitchFamily="34" charset="-120"/>
              </a:rPr>
              <a:t>010-1234-5678</a:t>
            </a:r>
            <a:endParaRPr lang="en-US" sz="1450" dirty="0"/>
          </a:p>
        </p:txBody>
      </p:sp>
      <p:sp>
        <p:nvSpPr>
          <p:cNvPr id="20" name="Shape 16"/>
          <p:cNvSpPr/>
          <p:nvPr/>
        </p:nvSpPr>
        <p:spPr>
          <a:xfrm>
            <a:off x="502920" y="4233672"/>
            <a:ext cx="11155680" cy="585216"/>
          </a:xfrm>
          <a:prstGeom prst="rect">
            <a:avLst/>
          </a:prstGeom>
          <a:solidFill>
            <a:srgbClr val="FFFFFF"/>
          </a:solidFill>
          <a:ln w="12700">
            <a:solidFill>
              <a:srgbClr val="DBE7FB"/>
            </a:solidFill>
            <a:prstDash val="solid"/>
          </a:ln>
        </p:spPr>
      </p:sp>
      <p:sp>
        <p:nvSpPr>
          <p:cNvPr id="21" name="Text 17"/>
          <p:cNvSpPr/>
          <p:nvPr/>
        </p:nvSpPr>
        <p:spPr>
          <a:xfrm>
            <a:off x="777240" y="4233672"/>
            <a:ext cx="3291840" cy="585216"/>
          </a:xfrm>
          <a:prstGeom prst="rect">
            <a:avLst/>
          </a:prstGeom>
          <a:noFill/>
          <a:ln/>
        </p:spPr>
        <p:txBody>
          <a:bodyPr wrap="square"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사업자/법인번호</a:t>
            </a:r>
            <a:endParaRPr lang="en-US" sz="1400" dirty="0"/>
          </a:p>
        </p:txBody>
      </p:sp>
      <p:sp>
        <p:nvSpPr>
          <p:cNvPr id="22" name="Text 18"/>
          <p:cNvSpPr/>
          <p:nvPr/>
        </p:nvSpPr>
        <p:spPr>
          <a:xfrm>
            <a:off x="4343400" y="4233672"/>
            <a:ext cx="3108960" cy="585216"/>
          </a:xfrm>
          <a:prstGeom prst="rect">
            <a:avLst/>
          </a:prstGeom>
          <a:noFill/>
          <a:ln/>
        </p:spPr>
        <p:txBody>
          <a:bodyPr wrap="square" rtlCol="0" anchor="ctr"/>
          <a:lstStyle/>
          <a:p>
            <a:pPr marL="0" indent="0">
              <a:buNone/>
            </a:pPr>
            <a:r>
              <a:rPr lang="en-US" sz="1400" dirty="0">
                <a:solidFill>
                  <a:srgbClr val="5B6B85"/>
                </a:solidFill>
                <a:latin typeface="Consolas" pitchFamily="34" charset="0"/>
                <a:ea typeface="Consolas" pitchFamily="34" charset="-122"/>
                <a:cs typeface="Consolas" pitchFamily="34" charset="-120"/>
              </a:rPr>
              <a:t>1234567890</a:t>
            </a:r>
            <a:endParaRPr lang="en-US" sz="1400" dirty="0"/>
          </a:p>
        </p:txBody>
      </p:sp>
      <p:pic>
        <p:nvPicPr>
          <p:cNvPr id="23" name="Image 2" descr="preencoded.png"/>
          <p:cNvPicPr>
            <a:picLocks noChangeAspect="1"/>
          </p:cNvPicPr>
          <p:nvPr/>
        </p:nvPicPr>
        <p:blipFill>
          <a:blip r:embed="rId3"/>
          <a:stretch>
            <a:fillRect/>
          </a:stretch>
        </p:blipFill>
        <p:spPr>
          <a:xfrm>
            <a:off x="7498080" y="4407408"/>
            <a:ext cx="365760" cy="237744"/>
          </a:xfrm>
          <a:prstGeom prst="rect">
            <a:avLst/>
          </a:prstGeom>
        </p:spPr>
      </p:pic>
      <p:sp>
        <p:nvSpPr>
          <p:cNvPr id="24" name="Text 19"/>
          <p:cNvSpPr/>
          <p:nvPr/>
        </p:nvSpPr>
        <p:spPr>
          <a:xfrm>
            <a:off x="8001000" y="4233672"/>
            <a:ext cx="3383280" cy="585216"/>
          </a:xfrm>
          <a:prstGeom prst="rect">
            <a:avLst/>
          </a:prstGeom>
          <a:noFill/>
          <a:ln/>
        </p:spPr>
        <p:txBody>
          <a:bodyPr wrap="square" rtlCol="0" anchor="ctr"/>
          <a:lstStyle/>
          <a:p>
            <a:pPr marL="0" indent="0">
              <a:buNone/>
            </a:pPr>
            <a:r>
              <a:rPr lang="en-US" sz="1450" b="1" dirty="0">
                <a:solidFill>
                  <a:srgbClr val="1D4ED8"/>
                </a:solidFill>
                <a:latin typeface="Consolas" pitchFamily="34" charset="0"/>
                <a:ea typeface="Consolas" pitchFamily="34" charset="-122"/>
                <a:cs typeface="Consolas" pitchFamily="34" charset="-120"/>
              </a:rPr>
              <a:t>123-45-67890</a:t>
            </a:r>
            <a:endParaRPr lang="en-US" sz="1450" dirty="0"/>
          </a:p>
        </p:txBody>
      </p:sp>
      <p:sp>
        <p:nvSpPr>
          <p:cNvPr id="25" name="Shape 20"/>
          <p:cNvSpPr/>
          <p:nvPr/>
        </p:nvSpPr>
        <p:spPr>
          <a:xfrm>
            <a:off x="502920" y="4910328"/>
            <a:ext cx="11155680" cy="585216"/>
          </a:xfrm>
          <a:prstGeom prst="rect">
            <a:avLst/>
          </a:prstGeom>
          <a:solidFill>
            <a:srgbClr val="FFFFFF"/>
          </a:solidFill>
          <a:ln w="12700">
            <a:solidFill>
              <a:srgbClr val="DBE7FB"/>
            </a:solidFill>
            <a:prstDash val="solid"/>
          </a:ln>
        </p:spPr>
      </p:sp>
      <p:sp>
        <p:nvSpPr>
          <p:cNvPr id="26" name="Text 21"/>
          <p:cNvSpPr/>
          <p:nvPr/>
        </p:nvSpPr>
        <p:spPr>
          <a:xfrm>
            <a:off x="777240" y="4910328"/>
            <a:ext cx="3291840" cy="585216"/>
          </a:xfrm>
          <a:prstGeom prst="rect">
            <a:avLst/>
          </a:prstGeom>
          <a:noFill/>
          <a:ln/>
        </p:spPr>
        <p:txBody>
          <a:bodyPr wrap="square"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금액</a:t>
            </a:r>
            <a:endParaRPr lang="en-US" sz="1400" dirty="0"/>
          </a:p>
        </p:txBody>
      </p:sp>
      <p:sp>
        <p:nvSpPr>
          <p:cNvPr id="27" name="Text 22"/>
          <p:cNvSpPr/>
          <p:nvPr/>
        </p:nvSpPr>
        <p:spPr>
          <a:xfrm>
            <a:off x="4343400" y="4910328"/>
            <a:ext cx="3108960" cy="585216"/>
          </a:xfrm>
          <a:prstGeom prst="rect">
            <a:avLst/>
          </a:prstGeom>
          <a:noFill/>
          <a:ln/>
        </p:spPr>
        <p:txBody>
          <a:bodyPr wrap="square" rtlCol="0" anchor="ctr"/>
          <a:lstStyle/>
          <a:p>
            <a:pPr marL="0" indent="0">
              <a:buNone/>
            </a:pPr>
            <a:r>
              <a:rPr lang="en-US" sz="1400" dirty="0">
                <a:solidFill>
                  <a:srgbClr val="5B6B85"/>
                </a:solidFill>
                <a:latin typeface="Consolas" pitchFamily="34" charset="0"/>
                <a:ea typeface="Consolas" pitchFamily="34" charset="-122"/>
                <a:cs typeface="Consolas" pitchFamily="34" charset="-120"/>
              </a:rPr>
              <a:t>1500000</a:t>
            </a:r>
            <a:endParaRPr lang="en-US" sz="1400" dirty="0"/>
          </a:p>
        </p:txBody>
      </p:sp>
      <p:pic>
        <p:nvPicPr>
          <p:cNvPr id="28" name="Image 3" descr="preencoded.png"/>
          <p:cNvPicPr>
            <a:picLocks noChangeAspect="1"/>
          </p:cNvPicPr>
          <p:nvPr/>
        </p:nvPicPr>
        <p:blipFill>
          <a:blip r:embed="rId3"/>
          <a:stretch>
            <a:fillRect/>
          </a:stretch>
        </p:blipFill>
        <p:spPr>
          <a:xfrm>
            <a:off x="7498080" y="5084064"/>
            <a:ext cx="365760" cy="237744"/>
          </a:xfrm>
          <a:prstGeom prst="rect">
            <a:avLst/>
          </a:prstGeom>
        </p:spPr>
      </p:pic>
      <p:sp>
        <p:nvSpPr>
          <p:cNvPr id="29" name="Text 23"/>
          <p:cNvSpPr/>
          <p:nvPr/>
        </p:nvSpPr>
        <p:spPr>
          <a:xfrm>
            <a:off x="8001000" y="4910328"/>
            <a:ext cx="3383280" cy="585216"/>
          </a:xfrm>
          <a:prstGeom prst="rect">
            <a:avLst/>
          </a:prstGeom>
          <a:noFill/>
          <a:ln/>
        </p:spPr>
        <p:txBody>
          <a:bodyPr wrap="square" rtlCol="0" anchor="ctr"/>
          <a:lstStyle/>
          <a:p>
            <a:pPr marL="0" indent="0">
              <a:buNone/>
            </a:pPr>
            <a:r>
              <a:rPr lang="en-US" sz="1450" b="1" dirty="0">
                <a:solidFill>
                  <a:srgbClr val="1D4ED8"/>
                </a:solidFill>
                <a:latin typeface="Consolas" pitchFamily="34" charset="0"/>
                <a:ea typeface="Consolas" pitchFamily="34" charset="-122"/>
                <a:cs typeface="Consolas" pitchFamily="34" charset="-120"/>
              </a:rPr>
              <a:t>1,500,000</a:t>
            </a:r>
            <a:endParaRPr lang="en-US" sz="1450" dirty="0"/>
          </a:p>
        </p:txBody>
      </p:sp>
      <p:sp>
        <p:nvSpPr>
          <p:cNvPr id="30" name="Shape 24"/>
          <p:cNvSpPr/>
          <p:nvPr/>
        </p:nvSpPr>
        <p:spPr>
          <a:xfrm>
            <a:off x="502920" y="5586984"/>
            <a:ext cx="11155680" cy="585216"/>
          </a:xfrm>
          <a:prstGeom prst="rect">
            <a:avLst/>
          </a:prstGeom>
          <a:solidFill>
            <a:srgbClr val="FFFFFF"/>
          </a:solidFill>
          <a:ln w="12700">
            <a:solidFill>
              <a:srgbClr val="DBE7FB"/>
            </a:solidFill>
            <a:prstDash val="solid"/>
          </a:ln>
        </p:spPr>
      </p:sp>
      <p:sp>
        <p:nvSpPr>
          <p:cNvPr id="31" name="Text 25"/>
          <p:cNvSpPr/>
          <p:nvPr/>
        </p:nvSpPr>
        <p:spPr>
          <a:xfrm>
            <a:off x="777240" y="5586984"/>
            <a:ext cx="3291840" cy="585216"/>
          </a:xfrm>
          <a:prstGeom prst="rect">
            <a:avLst/>
          </a:prstGeom>
          <a:noFill/>
          <a:ln/>
        </p:spPr>
        <p:txBody>
          <a:bodyPr wrap="square"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날짜·시간</a:t>
            </a:r>
            <a:endParaRPr lang="en-US" sz="1400" dirty="0"/>
          </a:p>
        </p:txBody>
      </p:sp>
      <p:sp>
        <p:nvSpPr>
          <p:cNvPr id="32" name="Text 26"/>
          <p:cNvSpPr/>
          <p:nvPr/>
        </p:nvSpPr>
        <p:spPr>
          <a:xfrm>
            <a:off x="4343400" y="5586984"/>
            <a:ext cx="3108960" cy="585216"/>
          </a:xfrm>
          <a:prstGeom prst="rect">
            <a:avLst/>
          </a:prstGeom>
          <a:noFill/>
          <a:ln/>
        </p:spPr>
        <p:txBody>
          <a:bodyPr wrap="square" rtlCol="0" anchor="ctr"/>
          <a:lstStyle/>
          <a:p>
            <a:pPr marL="0" indent="0">
              <a:buNone/>
            </a:pPr>
            <a:r>
              <a:rPr lang="en-US" sz="1400" dirty="0">
                <a:solidFill>
                  <a:srgbClr val="5B6B85"/>
                </a:solidFill>
                <a:latin typeface="Consolas" pitchFamily="34" charset="0"/>
                <a:ea typeface="Consolas" pitchFamily="34" charset="-122"/>
                <a:cs typeface="Consolas" pitchFamily="34" charset="-120"/>
              </a:rPr>
              <a:t>20260616</a:t>
            </a:r>
            <a:endParaRPr lang="en-US" sz="1400" dirty="0"/>
          </a:p>
        </p:txBody>
      </p:sp>
      <p:pic>
        <p:nvPicPr>
          <p:cNvPr id="33" name="Image 4" descr="preencoded.png"/>
          <p:cNvPicPr>
            <a:picLocks noChangeAspect="1"/>
          </p:cNvPicPr>
          <p:nvPr/>
        </p:nvPicPr>
        <p:blipFill>
          <a:blip r:embed="rId3"/>
          <a:stretch>
            <a:fillRect/>
          </a:stretch>
        </p:blipFill>
        <p:spPr>
          <a:xfrm>
            <a:off x="7498080" y="5760720"/>
            <a:ext cx="365760" cy="237744"/>
          </a:xfrm>
          <a:prstGeom prst="rect">
            <a:avLst/>
          </a:prstGeom>
        </p:spPr>
      </p:pic>
      <p:sp>
        <p:nvSpPr>
          <p:cNvPr id="34" name="Text 27"/>
          <p:cNvSpPr/>
          <p:nvPr/>
        </p:nvSpPr>
        <p:spPr>
          <a:xfrm>
            <a:off x="8001000" y="5586984"/>
            <a:ext cx="3383280" cy="585216"/>
          </a:xfrm>
          <a:prstGeom prst="rect">
            <a:avLst/>
          </a:prstGeom>
          <a:noFill/>
          <a:ln/>
        </p:spPr>
        <p:txBody>
          <a:bodyPr wrap="square" rtlCol="0" anchor="ctr"/>
          <a:lstStyle/>
          <a:p>
            <a:pPr marL="0" indent="0">
              <a:buNone/>
            </a:pPr>
            <a:r>
              <a:rPr lang="en-US" sz="1450" b="1" dirty="0">
                <a:solidFill>
                  <a:srgbClr val="1D4ED8"/>
                </a:solidFill>
                <a:latin typeface="Consolas" pitchFamily="34" charset="0"/>
                <a:ea typeface="Consolas" pitchFamily="34" charset="-122"/>
                <a:cs typeface="Consolas" pitchFamily="34" charset="-120"/>
              </a:rPr>
              <a:t>2026-06-16</a:t>
            </a:r>
            <a:endParaRPr lang="en-US" sz="1450" dirty="0"/>
          </a:p>
        </p:txBody>
      </p:sp>
      <p:sp>
        <p:nvSpPr>
          <p:cNvPr id="36" name="Text 28"/>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37" name="Text 29"/>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SUB MODULES</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서브 모듈: 업무별로 나눈 6개 서비스</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각 서비스는 독립적으로 동작하면서도 같은 Core를 공유합니다</a:t>
            </a:r>
            <a:endParaRPr lang="en-US" sz="1350" dirty="0"/>
          </a:p>
        </p:txBody>
      </p:sp>
      <p:sp>
        <p:nvSpPr>
          <p:cNvPr id="5" name="Shape 3"/>
          <p:cNvSpPr/>
          <p:nvPr/>
        </p:nvSpPr>
        <p:spPr>
          <a:xfrm>
            <a:off x="502920" y="2011680"/>
            <a:ext cx="3611880" cy="1783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Shape 4"/>
          <p:cNvSpPr/>
          <p:nvPr/>
        </p:nvSpPr>
        <p:spPr>
          <a:xfrm>
            <a:off x="795528" y="2322576"/>
            <a:ext cx="713232" cy="713232"/>
          </a:xfrm>
          <a:prstGeom prst="ellipse">
            <a:avLst/>
          </a:prstGeom>
          <a:solidFill>
            <a:srgbClr val="EAF1FC"/>
          </a:solidFill>
          <a:ln/>
        </p:spPr>
      </p:sp>
      <p:pic>
        <p:nvPicPr>
          <p:cNvPr id="7" name="Image 0" descr="preencoded.png"/>
          <p:cNvPicPr>
            <a:picLocks noChangeAspect="1"/>
          </p:cNvPicPr>
          <p:nvPr/>
        </p:nvPicPr>
        <p:blipFill>
          <a:blip r:embed="rId3"/>
          <a:stretch>
            <a:fillRect/>
          </a:stretch>
        </p:blipFill>
        <p:spPr>
          <a:xfrm>
            <a:off x="969264" y="2496312"/>
            <a:ext cx="365760" cy="365760"/>
          </a:xfrm>
          <a:prstGeom prst="rect">
            <a:avLst/>
          </a:prstGeom>
        </p:spPr>
      </p:pic>
      <p:sp>
        <p:nvSpPr>
          <p:cNvPr id="8" name="Text 5"/>
          <p:cNvSpPr/>
          <p:nvPr/>
        </p:nvSpPr>
        <p:spPr>
          <a:xfrm>
            <a:off x="1645920" y="2322576"/>
            <a:ext cx="2331720" cy="36576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Gateway</a:t>
            </a:r>
            <a:endParaRPr lang="en-US" sz="1600" dirty="0"/>
          </a:p>
        </p:txBody>
      </p:sp>
      <p:sp>
        <p:nvSpPr>
          <p:cNvPr id="9" name="Text 6"/>
          <p:cNvSpPr/>
          <p:nvPr/>
        </p:nvSpPr>
        <p:spPr>
          <a:xfrm>
            <a:off x="1645920" y="2688336"/>
            <a:ext cx="2331720" cy="310896"/>
          </a:xfrm>
          <a:prstGeom prst="rect">
            <a:avLst/>
          </a:prstGeom>
          <a:noFill/>
          <a:ln/>
        </p:spPr>
        <p:txBody>
          <a:bodyPr wrap="square" rtlCol="0" anchor="ctr"/>
          <a:lstStyle/>
          <a:p>
            <a:pPr marL="0" indent="0">
              <a:buNone/>
            </a:pPr>
            <a:r>
              <a:rPr lang="en-US" sz="1150" b="1" dirty="0">
                <a:solidFill>
                  <a:srgbClr val="2563EB"/>
                </a:solidFill>
                <a:latin typeface="맑은 고딕" pitchFamily="34" charset="0"/>
                <a:ea typeface="맑은 고딕" pitchFamily="34" charset="-122"/>
                <a:cs typeface="맑은 고딕" pitchFamily="34" charset="-120"/>
              </a:rPr>
              <a:t>관문·교통정리</a:t>
            </a:r>
            <a:endParaRPr lang="en-US" sz="1150" dirty="0"/>
          </a:p>
        </p:txBody>
      </p:sp>
      <p:sp>
        <p:nvSpPr>
          <p:cNvPr id="10" name="Text 7"/>
          <p:cNvSpPr/>
          <p:nvPr/>
        </p:nvSpPr>
        <p:spPr>
          <a:xfrm>
            <a:off x="795528" y="3154680"/>
            <a:ext cx="3063240" cy="548640"/>
          </a:xfrm>
          <a:prstGeom prst="rect">
            <a:avLst/>
          </a:prstGeom>
          <a:noFill/>
          <a:ln/>
        </p:spPr>
        <p:txBody>
          <a:bodyPr wrap="square" rtlCol="0" anchor="ctr"/>
          <a:lstStyle/>
          <a:p>
            <a:pPr marL="0" indent="0">
              <a:lnSpc>
                <a:spcPct val="110000"/>
              </a:lnSpc>
              <a:buNone/>
            </a:pPr>
            <a:r>
              <a:rPr lang="en-US" sz="1150" dirty="0">
                <a:solidFill>
                  <a:srgbClr val="5B6B85"/>
                </a:solidFill>
                <a:latin typeface="맑은 고딕" pitchFamily="34" charset="0"/>
                <a:ea typeface="맑은 고딕" pitchFamily="34" charset="-122"/>
                <a:cs typeface="맑은 고딕" pitchFamily="34" charset="-120"/>
              </a:rPr>
              <a:t>모든 요청의 첫 관문. 인증 확인 후 알맞은 서비스로 연결</a:t>
            </a:r>
            <a:endParaRPr lang="en-US" sz="1150" dirty="0"/>
          </a:p>
        </p:txBody>
      </p:sp>
      <p:sp>
        <p:nvSpPr>
          <p:cNvPr id="11" name="Text 8"/>
          <p:cNvSpPr/>
          <p:nvPr/>
        </p:nvSpPr>
        <p:spPr>
          <a:xfrm>
            <a:off x="2880360" y="2121408"/>
            <a:ext cx="1097280" cy="256032"/>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PORT 8080</a:t>
            </a:r>
            <a:endParaRPr lang="en-US" sz="900" dirty="0"/>
          </a:p>
        </p:txBody>
      </p:sp>
      <p:sp>
        <p:nvSpPr>
          <p:cNvPr id="12" name="Shape 9"/>
          <p:cNvSpPr/>
          <p:nvPr/>
        </p:nvSpPr>
        <p:spPr>
          <a:xfrm>
            <a:off x="4315968" y="2011680"/>
            <a:ext cx="3611880" cy="1783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3" name="Shape 10"/>
          <p:cNvSpPr/>
          <p:nvPr/>
        </p:nvSpPr>
        <p:spPr>
          <a:xfrm>
            <a:off x="4608576" y="2322576"/>
            <a:ext cx="713232" cy="713232"/>
          </a:xfrm>
          <a:prstGeom prst="ellipse">
            <a:avLst/>
          </a:prstGeom>
          <a:solidFill>
            <a:srgbClr val="EAF1FC"/>
          </a:solidFill>
          <a:ln/>
        </p:spPr>
      </p:sp>
      <p:pic>
        <p:nvPicPr>
          <p:cNvPr id="14" name="Image 1" descr="preencoded.png"/>
          <p:cNvPicPr>
            <a:picLocks noChangeAspect="1"/>
          </p:cNvPicPr>
          <p:nvPr/>
        </p:nvPicPr>
        <p:blipFill>
          <a:blip r:embed="rId4"/>
          <a:stretch>
            <a:fillRect/>
          </a:stretch>
        </p:blipFill>
        <p:spPr>
          <a:xfrm>
            <a:off x="4782312" y="2496312"/>
            <a:ext cx="365760" cy="365760"/>
          </a:xfrm>
          <a:prstGeom prst="rect">
            <a:avLst/>
          </a:prstGeom>
        </p:spPr>
      </p:pic>
      <p:sp>
        <p:nvSpPr>
          <p:cNvPr id="15" name="Text 11"/>
          <p:cNvSpPr/>
          <p:nvPr/>
        </p:nvSpPr>
        <p:spPr>
          <a:xfrm>
            <a:off x="5458968" y="2322576"/>
            <a:ext cx="2331720" cy="36576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Login</a:t>
            </a:r>
            <a:endParaRPr lang="en-US" sz="1600" dirty="0"/>
          </a:p>
        </p:txBody>
      </p:sp>
      <p:sp>
        <p:nvSpPr>
          <p:cNvPr id="16" name="Text 12"/>
          <p:cNvSpPr/>
          <p:nvPr/>
        </p:nvSpPr>
        <p:spPr>
          <a:xfrm>
            <a:off x="5458968" y="2688336"/>
            <a:ext cx="2331720" cy="310896"/>
          </a:xfrm>
          <a:prstGeom prst="rect">
            <a:avLst/>
          </a:prstGeom>
          <a:noFill/>
          <a:ln/>
        </p:spPr>
        <p:txBody>
          <a:bodyPr wrap="square" rtlCol="0" anchor="ctr"/>
          <a:lstStyle/>
          <a:p>
            <a:pPr marL="0" indent="0">
              <a:buNone/>
            </a:pPr>
            <a:r>
              <a:rPr lang="en-US" sz="1150" b="1" dirty="0">
                <a:solidFill>
                  <a:srgbClr val="2563EB"/>
                </a:solidFill>
                <a:latin typeface="맑은 고딕" pitchFamily="34" charset="0"/>
                <a:ea typeface="맑은 고딕" pitchFamily="34" charset="-122"/>
                <a:cs typeface="맑은 고딕" pitchFamily="34" charset="-120"/>
              </a:rPr>
              <a:t>로그인·인증</a:t>
            </a:r>
            <a:endParaRPr lang="en-US" sz="1150" dirty="0"/>
          </a:p>
        </p:txBody>
      </p:sp>
      <p:sp>
        <p:nvSpPr>
          <p:cNvPr id="17" name="Text 13"/>
          <p:cNvSpPr/>
          <p:nvPr/>
        </p:nvSpPr>
        <p:spPr>
          <a:xfrm>
            <a:off x="4608576" y="3154680"/>
            <a:ext cx="3063240" cy="548640"/>
          </a:xfrm>
          <a:prstGeom prst="rect">
            <a:avLst/>
          </a:prstGeom>
          <a:noFill/>
          <a:ln/>
        </p:spPr>
        <p:txBody>
          <a:bodyPr wrap="square" rtlCol="0" anchor="ctr"/>
          <a:lstStyle/>
          <a:p>
            <a:pPr marL="0" indent="0">
              <a:lnSpc>
                <a:spcPct val="110000"/>
              </a:lnSpc>
              <a:buNone/>
            </a:pPr>
            <a:r>
              <a:rPr lang="en-US" sz="1150" dirty="0">
                <a:solidFill>
                  <a:srgbClr val="5B6B85"/>
                </a:solidFill>
                <a:latin typeface="맑은 고딕" pitchFamily="34" charset="0"/>
                <a:ea typeface="맑은 고딕" pitchFamily="34" charset="-122"/>
                <a:cs typeface="맑은 고딕" pitchFamily="34" charset="-120"/>
              </a:rPr>
              <a:t>사용자 로그인과 기본 화면을 담당하는 출입구</a:t>
            </a:r>
            <a:endParaRPr lang="en-US" sz="1150" dirty="0"/>
          </a:p>
        </p:txBody>
      </p:sp>
      <p:sp>
        <p:nvSpPr>
          <p:cNvPr id="18" name="Text 14"/>
          <p:cNvSpPr/>
          <p:nvPr/>
        </p:nvSpPr>
        <p:spPr>
          <a:xfrm>
            <a:off x="6693408" y="2121408"/>
            <a:ext cx="1097280" cy="256032"/>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PORT 8081</a:t>
            </a:r>
            <a:endParaRPr lang="en-US" sz="900" dirty="0"/>
          </a:p>
        </p:txBody>
      </p:sp>
      <p:sp>
        <p:nvSpPr>
          <p:cNvPr id="19" name="Shape 15"/>
          <p:cNvSpPr/>
          <p:nvPr/>
        </p:nvSpPr>
        <p:spPr>
          <a:xfrm>
            <a:off x="8129016" y="2011680"/>
            <a:ext cx="3611880" cy="1783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0" name="Shape 16"/>
          <p:cNvSpPr/>
          <p:nvPr/>
        </p:nvSpPr>
        <p:spPr>
          <a:xfrm>
            <a:off x="8421624" y="2322576"/>
            <a:ext cx="713232" cy="713232"/>
          </a:xfrm>
          <a:prstGeom prst="ellipse">
            <a:avLst/>
          </a:prstGeom>
          <a:solidFill>
            <a:srgbClr val="EAF1FC"/>
          </a:solidFill>
          <a:ln/>
        </p:spPr>
      </p:sp>
      <p:pic>
        <p:nvPicPr>
          <p:cNvPr id="21" name="Image 2" descr="preencoded.png"/>
          <p:cNvPicPr>
            <a:picLocks noChangeAspect="1"/>
          </p:cNvPicPr>
          <p:nvPr/>
        </p:nvPicPr>
        <p:blipFill>
          <a:blip r:embed="rId5"/>
          <a:stretch>
            <a:fillRect/>
          </a:stretch>
        </p:blipFill>
        <p:spPr>
          <a:xfrm>
            <a:off x="8595360" y="2496312"/>
            <a:ext cx="365760" cy="365760"/>
          </a:xfrm>
          <a:prstGeom prst="rect">
            <a:avLst/>
          </a:prstGeom>
        </p:spPr>
      </p:pic>
      <p:sp>
        <p:nvSpPr>
          <p:cNvPr id="22" name="Text 17"/>
          <p:cNvSpPr/>
          <p:nvPr/>
        </p:nvSpPr>
        <p:spPr>
          <a:xfrm>
            <a:off x="9272016" y="2322576"/>
            <a:ext cx="2331720" cy="36576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FMS</a:t>
            </a:r>
            <a:endParaRPr lang="en-US" sz="1600" dirty="0"/>
          </a:p>
        </p:txBody>
      </p:sp>
      <p:sp>
        <p:nvSpPr>
          <p:cNvPr id="23" name="Text 18"/>
          <p:cNvSpPr/>
          <p:nvPr/>
        </p:nvSpPr>
        <p:spPr>
          <a:xfrm>
            <a:off x="9272016" y="2688336"/>
            <a:ext cx="2331720" cy="310896"/>
          </a:xfrm>
          <a:prstGeom prst="rect">
            <a:avLst/>
          </a:prstGeom>
          <a:noFill/>
          <a:ln/>
        </p:spPr>
        <p:txBody>
          <a:bodyPr wrap="square" rtlCol="0" anchor="ctr"/>
          <a:lstStyle/>
          <a:p>
            <a:pPr marL="0" indent="0">
              <a:buNone/>
            </a:pPr>
            <a:r>
              <a:rPr lang="en-US" sz="1150" b="1" dirty="0">
                <a:solidFill>
                  <a:srgbClr val="2563EB"/>
                </a:solidFill>
                <a:latin typeface="맑은 고딕" pitchFamily="34" charset="0"/>
                <a:ea typeface="맑은 고딕" pitchFamily="34" charset="-122"/>
                <a:cs typeface="맑은 고딕" pitchFamily="34" charset="-120"/>
              </a:rPr>
              <a:t>파일 관리</a:t>
            </a:r>
            <a:endParaRPr lang="en-US" sz="1150" dirty="0"/>
          </a:p>
        </p:txBody>
      </p:sp>
      <p:sp>
        <p:nvSpPr>
          <p:cNvPr id="24" name="Text 19"/>
          <p:cNvSpPr/>
          <p:nvPr/>
        </p:nvSpPr>
        <p:spPr>
          <a:xfrm>
            <a:off x="8421624" y="3154680"/>
            <a:ext cx="3063240" cy="548640"/>
          </a:xfrm>
          <a:prstGeom prst="rect">
            <a:avLst/>
          </a:prstGeom>
          <a:noFill/>
          <a:ln/>
        </p:spPr>
        <p:txBody>
          <a:bodyPr wrap="square" rtlCol="0" anchor="ctr"/>
          <a:lstStyle/>
          <a:p>
            <a:pPr marL="0" indent="0">
              <a:lnSpc>
                <a:spcPct val="110000"/>
              </a:lnSpc>
              <a:buNone/>
            </a:pPr>
            <a:r>
              <a:rPr lang="en-US" sz="1150" dirty="0">
                <a:solidFill>
                  <a:srgbClr val="5B6B85"/>
                </a:solidFill>
                <a:latin typeface="맑은 고딕" pitchFamily="34" charset="0"/>
                <a:ea typeface="맑은 고딕" pitchFamily="34" charset="-122"/>
                <a:cs typeface="맑은 고딕" pitchFamily="34" charset="-120"/>
              </a:rPr>
              <a:t>문서·엑셀 등 파일 업로드와 관리를 전담</a:t>
            </a:r>
            <a:endParaRPr lang="en-US" sz="1150" dirty="0"/>
          </a:p>
        </p:txBody>
      </p:sp>
      <p:sp>
        <p:nvSpPr>
          <p:cNvPr id="25" name="Text 20"/>
          <p:cNvSpPr/>
          <p:nvPr/>
        </p:nvSpPr>
        <p:spPr>
          <a:xfrm>
            <a:off x="10506456" y="2121408"/>
            <a:ext cx="1097280" cy="256032"/>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PORT 8082</a:t>
            </a:r>
            <a:endParaRPr lang="en-US" sz="900" dirty="0"/>
          </a:p>
        </p:txBody>
      </p:sp>
      <p:sp>
        <p:nvSpPr>
          <p:cNvPr id="26" name="Shape 21"/>
          <p:cNvSpPr/>
          <p:nvPr/>
        </p:nvSpPr>
        <p:spPr>
          <a:xfrm>
            <a:off x="502920" y="4023360"/>
            <a:ext cx="3611880" cy="1783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7" name="Shape 22"/>
          <p:cNvSpPr/>
          <p:nvPr/>
        </p:nvSpPr>
        <p:spPr>
          <a:xfrm>
            <a:off x="795528" y="4334256"/>
            <a:ext cx="713232" cy="713232"/>
          </a:xfrm>
          <a:prstGeom prst="ellipse">
            <a:avLst/>
          </a:prstGeom>
          <a:solidFill>
            <a:srgbClr val="EAF1FC"/>
          </a:solidFill>
          <a:ln/>
        </p:spPr>
      </p:sp>
      <p:pic>
        <p:nvPicPr>
          <p:cNvPr id="28" name="Image 3" descr="preencoded.png"/>
          <p:cNvPicPr>
            <a:picLocks noChangeAspect="1"/>
          </p:cNvPicPr>
          <p:nvPr/>
        </p:nvPicPr>
        <p:blipFill>
          <a:blip r:embed="rId6"/>
          <a:stretch>
            <a:fillRect/>
          </a:stretch>
        </p:blipFill>
        <p:spPr>
          <a:xfrm>
            <a:off x="969264" y="4507992"/>
            <a:ext cx="365760" cy="365760"/>
          </a:xfrm>
          <a:prstGeom prst="rect">
            <a:avLst/>
          </a:prstGeom>
        </p:spPr>
      </p:pic>
      <p:sp>
        <p:nvSpPr>
          <p:cNvPr id="29" name="Text 23"/>
          <p:cNvSpPr/>
          <p:nvPr/>
        </p:nvSpPr>
        <p:spPr>
          <a:xfrm>
            <a:off x="1645920" y="4334256"/>
            <a:ext cx="2331720" cy="36576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Management</a:t>
            </a:r>
            <a:endParaRPr lang="en-US" sz="1600" dirty="0"/>
          </a:p>
        </p:txBody>
      </p:sp>
      <p:sp>
        <p:nvSpPr>
          <p:cNvPr id="30" name="Text 24"/>
          <p:cNvSpPr/>
          <p:nvPr/>
        </p:nvSpPr>
        <p:spPr>
          <a:xfrm>
            <a:off x="1645920" y="4700016"/>
            <a:ext cx="2331720" cy="310896"/>
          </a:xfrm>
          <a:prstGeom prst="rect">
            <a:avLst/>
          </a:prstGeom>
          <a:noFill/>
          <a:ln/>
        </p:spPr>
        <p:txBody>
          <a:bodyPr wrap="square" rtlCol="0" anchor="ctr"/>
          <a:lstStyle/>
          <a:p>
            <a:pPr marL="0" indent="0">
              <a:buNone/>
            </a:pPr>
            <a:r>
              <a:rPr lang="en-US" sz="1150" b="1" dirty="0">
                <a:solidFill>
                  <a:srgbClr val="2563EB"/>
                </a:solidFill>
                <a:latin typeface="맑은 고딕" pitchFamily="34" charset="0"/>
                <a:ea typeface="맑은 고딕" pitchFamily="34" charset="-122"/>
                <a:cs typeface="맑은 고딕" pitchFamily="34" charset="-120"/>
              </a:rPr>
              <a:t>시스템 관리</a:t>
            </a:r>
            <a:endParaRPr lang="en-US" sz="1150" dirty="0"/>
          </a:p>
        </p:txBody>
      </p:sp>
      <p:sp>
        <p:nvSpPr>
          <p:cNvPr id="31" name="Text 25"/>
          <p:cNvSpPr/>
          <p:nvPr/>
        </p:nvSpPr>
        <p:spPr>
          <a:xfrm>
            <a:off x="795528" y="5166360"/>
            <a:ext cx="3063240" cy="548640"/>
          </a:xfrm>
          <a:prstGeom prst="rect">
            <a:avLst/>
          </a:prstGeom>
          <a:noFill/>
          <a:ln/>
        </p:spPr>
        <p:txBody>
          <a:bodyPr wrap="square" rtlCol="0" anchor="ctr"/>
          <a:lstStyle/>
          <a:p>
            <a:pPr marL="0" indent="0">
              <a:lnSpc>
                <a:spcPct val="110000"/>
              </a:lnSpc>
              <a:buNone/>
            </a:pPr>
            <a:r>
              <a:rPr lang="en-US" sz="1150" dirty="0">
                <a:solidFill>
                  <a:srgbClr val="5B6B85"/>
                </a:solidFill>
                <a:latin typeface="맑은 고딕" pitchFamily="34" charset="0"/>
                <a:ea typeface="맑은 고딕" pitchFamily="34" charset="-122"/>
                <a:cs typeface="맑은 고딕" pitchFamily="34" charset="-120"/>
              </a:rPr>
              <a:t>사용자·코드 등 시스템 전반의 설정 관리</a:t>
            </a:r>
            <a:endParaRPr lang="en-US" sz="1150" dirty="0"/>
          </a:p>
        </p:txBody>
      </p:sp>
      <p:sp>
        <p:nvSpPr>
          <p:cNvPr id="32" name="Text 26"/>
          <p:cNvSpPr/>
          <p:nvPr/>
        </p:nvSpPr>
        <p:spPr>
          <a:xfrm>
            <a:off x="2880360" y="4133088"/>
            <a:ext cx="1097280" cy="256032"/>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PORT 8083</a:t>
            </a:r>
            <a:endParaRPr lang="en-US" sz="900" dirty="0"/>
          </a:p>
        </p:txBody>
      </p:sp>
      <p:sp>
        <p:nvSpPr>
          <p:cNvPr id="33" name="Shape 27"/>
          <p:cNvSpPr/>
          <p:nvPr/>
        </p:nvSpPr>
        <p:spPr>
          <a:xfrm>
            <a:off x="4315968" y="4023360"/>
            <a:ext cx="3611880" cy="1783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34" name="Shape 28"/>
          <p:cNvSpPr/>
          <p:nvPr/>
        </p:nvSpPr>
        <p:spPr>
          <a:xfrm>
            <a:off x="4608576" y="4334256"/>
            <a:ext cx="713232" cy="713232"/>
          </a:xfrm>
          <a:prstGeom prst="ellipse">
            <a:avLst/>
          </a:prstGeom>
          <a:solidFill>
            <a:srgbClr val="EAF1FC"/>
          </a:solidFill>
          <a:ln/>
        </p:spPr>
      </p:sp>
      <p:pic>
        <p:nvPicPr>
          <p:cNvPr id="35" name="Image 4" descr="preencoded.png"/>
          <p:cNvPicPr>
            <a:picLocks noChangeAspect="1"/>
          </p:cNvPicPr>
          <p:nvPr/>
        </p:nvPicPr>
        <p:blipFill>
          <a:blip r:embed="rId7"/>
          <a:stretch>
            <a:fillRect/>
          </a:stretch>
        </p:blipFill>
        <p:spPr>
          <a:xfrm>
            <a:off x="4782312" y="4507992"/>
            <a:ext cx="365760" cy="365760"/>
          </a:xfrm>
          <a:prstGeom prst="rect">
            <a:avLst/>
          </a:prstGeom>
        </p:spPr>
      </p:pic>
      <p:sp>
        <p:nvSpPr>
          <p:cNvPr id="36" name="Text 29"/>
          <p:cNvSpPr/>
          <p:nvPr/>
        </p:nvSpPr>
        <p:spPr>
          <a:xfrm>
            <a:off x="5458968" y="4334256"/>
            <a:ext cx="2331720" cy="36576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Register</a:t>
            </a:r>
            <a:endParaRPr lang="en-US" sz="1600" dirty="0"/>
          </a:p>
        </p:txBody>
      </p:sp>
      <p:sp>
        <p:nvSpPr>
          <p:cNvPr id="37" name="Text 30"/>
          <p:cNvSpPr/>
          <p:nvPr/>
        </p:nvSpPr>
        <p:spPr>
          <a:xfrm>
            <a:off x="5458968" y="4700016"/>
            <a:ext cx="2331720" cy="310896"/>
          </a:xfrm>
          <a:prstGeom prst="rect">
            <a:avLst/>
          </a:prstGeom>
          <a:noFill/>
          <a:ln/>
        </p:spPr>
        <p:txBody>
          <a:bodyPr wrap="square" rtlCol="0" anchor="ctr"/>
          <a:lstStyle/>
          <a:p>
            <a:pPr marL="0" indent="0">
              <a:buNone/>
            </a:pPr>
            <a:r>
              <a:rPr lang="en-US" sz="1150" b="1" dirty="0">
                <a:solidFill>
                  <a:srgbClr val="2563EB"/>
                </a:solidFill>
                <a:latin typeface="맑은 고딕" pitchFamily="34" charset="0"/>
                <a:ea typeface="맑은 고딕" pitchFamily="34" charset="-122"/>
                <a:cs typeface="맑은 고딕" pitchFamily="34" charset="-120"/>
              </a:rPr>
              <a:t>접수</a:t>
            </a:r>
            <a:endParaRPr lang="en-US" sz="1150" dirty="0"/>
          </a:p>
        </p:txBody>
      </p:sp>
      <p:sp>
        <p:nvSpPr>
          <p:cNvPr id="38" name="Text 31"/>
          <p:cNvSpPr/>
          <p:nvPr/>
        </p:nvSpPr>
        <p:spPr>
          <a:xfrm>
            <a:off x="4608576" y="5166360"/>
            <a:ext cx="3063240" cy="548640"/>
          </a:xfrm>
          <a:prstGeom prst="rect">
            <a:avLst/>
          </a:prstGeom>
          <a:noFill/>
          <a:ln/>
        </p:spPr>
        <p:txBody>
          <a:bodyPr wrap="square" rtlCol="0" anchor="ctr"/>
          <a:lstStyle/>
          <a:p>
            <a:pPr marL="0" indent="0">
              <a:lnSpc>
                <a:spcPct val="110000"/>
              </a:lnSpc>
              <a:buNone/>
            </a:pPr>
            <a:r>
              <a:rPr lang="en-US" sz="1150" dirty="0">
                <a:solidFill>
                  <a:srgbClr val="5B6B85"/>
                </a:solidFill>
                <a:latin typeface="맑은 고딕" pitchFamily="34" charset="0"/>
                <a:ea typeface="맑은 고딕" pitchFamily="34" charset="-122"/>
                <a:cs typeface="맑은 고딕" pitchFamily="34" charset="-120"/>
              </a:rPr>
              <a:t>차량 검사 접수 업무 처리</a:t>
            </a:r>
            <a:endParaRPr lang="en-US" sz="1150" dirty="0"/>
          </a:p>
        </p:txBody>
      </p:sp>
      <p:sp>
        <p:nvSpPr>
          <p:cNvPr id="39" name="Text 32"/>
          <p:cNvSpPr/>
          <p:nvPr/>
        </p:nvSpPr>
        <p:spPr>
          <a:xfrm>
            <a:off x="6693408" y="4133088"/>
            <a:ext cx="1097280" cy="256032"/>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PORT 8085</a:t>
            </a:r>
            <a:endParaRPr lang="en-US" sz="900" dirty="0"/>
          </a:p>
        </p:txBody>
      </p:sp>
      <p:sp>
        <p:nvSpPr>
          <p:cNvPr id="40" name="Shape 33"/>
          <p:cNvSpPr/>
          <p:nvPr/>
        </p:nvSpPr>
        <p:spPr>
          <a:xfrm>
            <a:off x="8129016" y="4023360"/>
            <a:ext cx="3611880" cy="1783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41" name="Shape 34"/>
          <p:cNvSpPr/>
          <p:nvPr/>
        </p:nvSpPr>
        <p:spPr>
          <a:xfrm>
            <a:off x="8421624" y="4334256"/>
            <a:ext cx="713232" cy="713232"/>
          </a:xfrm>
          <a:prstGeom prst="ellipse">
            <a:avLst/>
          </a:prstGeom>
          <a:solidFill>
            <a:srgbClr val="EAF1FC"/>
          </a:solidFill>
          <a:ln/>
        </p:spPr>
      </p:sp>
      <p:pic>
        <p:nvPicPr>
          <p:cNvPr id="42" name="Image 5" descr="preencoded.png"/>
          <p:cNvPicPr>
            <a:picLocks noChangeAspect="1"/>
          </p:cNvPicPr>
          <p:nvPr/>
        </p:nvPicPr>
        <p:blipFill>
          <a:blip r:embed="rId8"/>
          <a:stretch>
            <a:fillRect/>
          </a:stretch>
        </p:blipFill>
        <p:spPr>
          <a:xfrm>
            <a:off x="8595360" y="4507992"/>
            <a:ext cx="365760" cy="365760"/>
          </a:xfrm>
          <a:prstGeom prst="rect">
            <a:avLst/>
          </a:prstGeom>
        </p:spPr>
      </p:pic>
      <p:sp>
        <p:nvSpPr>
          <p:cNvPr id="43" name="Text 35"/>
          <p:cNvSpPr/>
          <p:nvPr/>
        </p:nvSpPr>
        <p:spPr>
          <a:xfrm>
            <a:off x="9272016" y="4334256"/>
            <a:ext cx="2331720" cy="36576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Inspection</a:t>
            </a:r>
            <a:endParaRPr lang="en-US" sz="1600" dirty="0"/>
          </a:p>
        </p:txBody>
      </p:sp>
      <p:sp>
        <p:nvSpPr>
          <p:cNvPr id="44" name="Text 36"/>
          <p:cNvSpPr/>
          <p:nvPr/>
        </p:nvSpPr>
        <p:spPr>
          <a:xfrm>
            <a:off x="9272016" y="4700016"/>
            <a:ext cx="2331720" cy="310896"/>
          </a:xfrm>
          <a:prstGeom prst="rect">
            <a:avLst/>
          </a:prstGeom>
          <a:noFill/>
          <a:ln/>
        </p:spPr>
        <p:txBody>
          <a:bodyPr wrap="square" rtlCol="0" anchor="ctr"/>
          <a:lstStyle/>
          <a:p>
            <a:pPr marL="0" indent="0">
              <a:buNone/>
            </a:pPr>
            <a:r>
              <a:rPr lang="en-US" sz="1150" b="1" dirty="0">
                <a:solidFill>
                  <a:srgbClr val="2563EB"/>
                </a:solidFill>
                <a:latin typeface="맑은 고딕" pitchFamily="34" charset="0"/>
                <a:ea typeface="맑은 고딕" pitchFamily="34" charset="-122"/>
                <a:cs typeface="맑은 고딕" pitchFamily="34" charset="-120"/>
              </a:rPr>
              <a:t>검사</a:t>
            </a:r>
            <a:endParaRPr lang="en-US" sz="1150" dirty="0"/>
          </a:p>
        </p:txBody>
      </p:sp>
      <p:sp>
        <p:nvSpPr>
          <p:cNvPr id="45" name="Text 37"/>
          <p:cNvSpPr/>
          <p:nvPr/>
        </p:nvSpPr>
        <p:spPr>
          <a:xfrm>
            <a:off x="8421624" y="5166360"/>
            <a:ext cx="3063240" cy="548640"/>
          </a:xfrm>
          <a:prstGeom prst="rect">
            <a:avLst/>
          </a:prstGeom>
          <a:noFill/>
          <a:ln/>
        </p:spPr>
        <p:txBody>
          <a:bodyPr wrap="square" rtlCol="0" anchor="ctr"/>
          <a:lstStyle/>
          <a:p>
            <a:pPr marL="0" indent="0">
              <a:lnSpc>
                <a:spcPct val="110000"/>
              </a:lnSpc>
              <a:buNone/>
            </a:pPr>
            <a:r>
              <a:rPr lang="en-US" sz="1150" dirty="0">
                <a:solidFill>
                  <a:srgbClr val="5B6B85"/>
                </a:solidFill>
                <a:latin typeface="맑은 고딕" pitchFamily="34" charset="0"/>
                <a:ea typeface="맑은 고딕" pitchFamily="34" charset="-122"/>
                <a:cs typeface="맑은 고딕" pitchFamily="34" charset="-120"/>
              </a:rPr>
              <a:t>실제 차량 검사 진행과 결과 관리</a:t>
            </a:r>
            <a:endParaRPr lang="en-US" sz="1150" dirty="0"/>
          </a:p>
        </p:txBody>
      </p:sp>
      <p:sp>
        <p:nvSpPr>
          <p:cNvPr id="46" name="Text 38"/>
          <p:cNvSpPr/>
          <p:nvPr/>
        </p:nvSpPr>
        <p:spPr>
          <a:xfrm>
            <a:off x="10506456" y="4133088"/>
            <a:ext cx="1097280" cy="256032"/>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PORT 8086</a:t>
            </a:r>
            <a:endParaRPr lang="en-US" sz="900" dirty="0"/>
          </a:p>
        </p:txBody>
      </p:sp>
      <p:sp>
        <p:nvSpPr>
          <p:cNvPr id="48" name="Text 3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49" name="Text 40"/>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FILE MANAGEMENT SYSTEM</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파일관리시스템(FMS)</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문서·엑셀 같은 파일을 안전하게 보관하고 관리하는 전담 모듈</a:t>
            </a:r>
            <a:endParaRPr lang="en-US" sz="1350" dirty="0"/>
          </a:p>
        </p:txBody>
      </p:sp>
      <p:sp>
        <p:nvSpPr>
          <p:cNvPr id="5" name="Shape 3"/>
          <p:cNvSpPr/>
          <p:nvPr/>
        </p:nvSpPr>
        <p:spPr>
          <a:xfrm>
            <a:off x="502920" y="2103120"/>
            <a:ext cx="5577840" cy="4069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Text 4"/>
          <p:cNvSpPr/>
          <p:nvPr/>
        </p:nvSpPr>
        <p:spPr>
          <a:xfrm>
            <a:off x="777240" y="2331720"/>
            <a:ext cx="5029200" cy="365760"/>
          </a:xfrm>
          <a:prstGeom prst="rect">
            <a:avLst/>
          </a:prstGeom>
          <a:noFill/>
          <a:ln/>
        </p:spPr>
        <p:txBody>
          <a:bodyPr wrap="square" rtlCol="0" anchor="ctr"/>
          <a:lstStyle/>
          <a:p>
            <a:pPr marL="0" indent="0">
              <a:buNone/>
            </a:pPr>
            <a:r>
              <a:rPr lang="en-US" sz="1500" b="1" dirty="0">
                <a:solidFill>
                  <a:srgbClr val="2563EB"/>
                </a:solidFill>
                <a:latin typeface="맑은 고딕" pitchFamily="34" charset="0"/>
                <a:ea typeface="맑은 고딕" pitchFamily="34" charset="-122"/>
                <a:cs typeface="맑은 고딕" pitchFamily="34" charset="-120"/>
              </a:rPr>
              <a:t>파일이 들어오는 과정</a:t>
            </a:r>
            <a:endParaRPr lang="en-US" sz="1500" dirty="0"/>
          </a:p>
        </p:txBody>
      </p:sp>
      <p:sp>
        <p:nvSpPr>
          <p:cNvPr id="7" name="Shape 5"/>
          <p:cNvSpPr/>
          <p:nvPr/>
        </p:nvSpPr>
        <p:spPr>
          <a:xfrm>
            <a:off x="868680" y="2880360"/>
            <a:ext cx="658368" cy="658368"/>
          </a:xfrm>
          <a:prstGeom prst="ellipse">
            <a:avLst/>
          </a:prstGeom>
          <a:solidFill>
            <a:srgbClr val="1D4ED8"/>
          </a:solidFill>
          <a:ln/>
        </p:spPr>
      </p:sp>
      <p:pic>
        <p:nvPicPr>
          <p:cNvPr id="8" name="Image 0" descr="preencoded.png"/>
          <p:cNvPicPr>
            <a:picLocks noChangeAspect="1"/>
          </p:cNvPicPr>
          <p:nvPr/>
        </p:nvPicPr>
        <p:blipFill>
          <a:blip r:embed="rId3"/>
          <a:stretch>
            <a:fillRect/>
          </a:stretch>
        </p:blipFill>
        <p:spPr>
          <a:xfrm>
            <a:off x="1042416" y="3044952"/>
            <a:ext cx="329184" cy="329184"/>
          </a:xfrm>
          <a:prstGeom prst="rect">
            <a:avLst/>
          </a:prstGeom>
        </p:spPr>
      </p:pic>
      <p:sp>
        <p:nvSpPr>
          <p:cNvPr id="9" name="Text 6"/>
          <p:cNvSpPr/>
          <p:nvPr/>
        </p:nvSpPr>
        <p:spPr>
          <a:xfrm>
            <a:off x="1691640" y="2898648"/>
            <a:ext cx="411480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1. 업로드</a:t>
            </a:r>
            <a:endParaRPr lang="en-US" sz="1450" dirty="0"/>
          </a:p>
        </p:txBody>
      </p:sp>
      <p:sp>
        <p:nvSpPr>
          <p:cNvPr id="10" name="Text 7"/>
          <p:cNvSpPr/>
          <p:nvPr/>
        </p:nvSpPr>
        <p:spPr>
          <a:xfrm>
            <a:off x="1691640" y="3218688"/>
            <a:ext cx="420624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사용자가 파일을 올림</a:t>
            </a:r>
            <a:endParaRPr lang="en-US" sz="1150" dirty="0"/>
          </a:p>
        </p:txBody>
      </p:sp>
      <p:sp>
        <p:nvSpPr>
          <p:cNvPr id="11" name="Shape 8"/>
          <p:cNvSpPr/>
          <p:nvPr/>
        </p:nvSpPr>
        <p:spPr>
          <a:xfrm>
            <a:off x="1197864" y="3538728"/>
            <a:ext cx="0" cy="118872"/>
          </a:xfrm>
          <a:prstGeom prst="line">
            <a:avLst/>
          </a:prstGeom>
          <a:noFill/>
          <a:ln w="19050">
            <a:solidFill>
              <a:srgbClr val="3B82F6"/>
            </a:solidFill>
            <a:prstDash val="solid"/>
          </a:ln>
        </p:spPr>
      </p:sp>
      <p:sp>
        <p:nvSpPr>
          <p:cNvPr id="12" name="Shape 9"/>
          <p:cNvSpPr/>
          <p:nvPr/>
        </p:nvSpPr>
        <p:spPr>
          <a:xfrm>
            <a:off x="868680" y="3657600"/>
            <a:ext cx="658368" cy="658368"/>
          </a:xfrm>
          <a:prstGeom prst="ellipse">
            <a:avLst/>
          </a:prstGeom>
          <a:solidFill>
            <a:srgbClr val="1D4ED8"/>
          </a:solidFill>
          <a:ln/>
        </p:spPr>
      </p:sp>
      <p:pic>
        <p:nvPicPr>
          <p:cNvPr id="13" name="Image 1" descr="preencoded.png"/>
          <p:cNvPicPr>
            <a:picLocks noChangeAspect="1"/>
          </p:cNvPicPr>
          <p:nvPr/>
        </p:nvPicPr>
        <p:blipFill>
          <a:blip r:embed="rId4"/>
          <a:stretch>
            <a:fillRect/>
          </a:stretch>
        </p:blipFill>
        <p:spPr>
          <a:xfrm>
            <a:off x="1042416" y="3822192"/>
            <a:ext cx="329184" cy="329184"/>
          </a:xfrm>
          <a:prstGeom prst="rect">
            <a:avLst/>
          </a:prstGeom>
        </p:spPr>
      </p:pic>
      <p:sp>
        <p:nvSpPr>
          <p:cNvPr id="14" name="Text 10"/>
          <p:cNvSpPr/>
          <p:nvPr/>
        </p:nvSpPr>
        <p:spPr>
          <a:xfrm>
            <a:off x="1691640" y="3675888"/>
            <a:ext cx="411480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2. 검증·처리</a:t>
            </a:r>
            <a:endParaRPr lang="en-US" sz="1450" dirty="0"/>
          </a:p>
        </p:txBody>
      </p:sp>
      <p:sp>
        <p:nvSpPr>
          <p:cNvPr id="15" name="Text 11"/>
          <p:cNvSpPr/>
          <p:nvPr/>
        </p:nvSpPr>
        <p:spPr>
          <a:xfrm>
            <a:off x="1691640" y="3995928"/>
            <a:ext cx="420624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형식 확인 후 안전하게 처리</a:t>
            </a:r>
            <a:endParaRPr lang="en-US" sz="1150" dirty="0"/>
          </a:p>
        </p:txBody>
      </p:sp>
      <p:sp>
        <p:nvSpPr>
          <p:cNvPr id="16" name="Shape 12"/>
          <p:cNvSpPr/>
          <p:nvPr/>
        </p:nvSpPr>
        <p:spPr>
          <a:xfrm>
            <a:off x="1197864" y="4315968"/>
            <a:ext cx="0" cy="118872"/>
          </a:xfrm>
          <a:prstGeom prst="line">
            <a:avLst/>
          </a:prstGeom>
          <a:noFill/>
          <a:ln w="19050">
            <a:solidFill>
              <a:srgbClr val="3B82F6"/>
            </a:solidFill>
            <a:prstDash val="solid"/>
          </a:ln>
        </p:spPr>
      </p:sp>
      <p:sp>
        <p:nvSpPr>
          <p:cNvPr id="17" name="Shape 13"/>
          <p:cNvSpPr/>
          <p:nvPr/>
        </p:nvSpPr>
        <p:spPr>
          <a:xfrm>
            <a:off x="868680" y="4434840"/>
            <a:ext cx="658368" cy="658368"/>
          </a:xfrm>
          <a:prstGeom prst="ellipse">
            <a:avLst/>
          </a:prstGeom>
          <a:solidFill>
            <a:srgbClr val="1D4ED8"/>
          </a:solidFill>
          <a:ln/>
        </p:spPr>
      </p:sp>
      <p:pic>
        <p:nvPicPr>
          <p:cNvPr id="18" name="Image 2" descr="preencoded.png"/>
          <p:cNvPicPr>
            <a:picLocks noChangeAspect="1"/>
          </p:cNvPicPr>
          <p:nvPr/>
        </p:nvPicPr>
        <p:blipFill>
          <a:blip r:embed="rId5"/>
          <a:stretch>
            <a:fillRect/>
          </a:stretch>
        </p:blipFill>
        <p:spPr>
          <a:xfrm>
            <a:off x="1042416" y="4599432"/>
            <a:ext cx="329184" cy="329184"/>
          </a:xfrm>
          <a:prstGeom prst="rect">
            <a:avLst/>
          </a:prstGeom>
        </p:spPr>
      </p:pic>
      <p:sp>
        <p:nvSpPr>
          <p:cNvPr id="19" name="Text 14"/>
          <p:cNvSpPr/>
          <p:nvPr/>
        </p:nvSpPr>
        <p:spPr>
          <a:xfrm>
            <a:off x="1691640" y="4453128"/>
            <a:ext cx="411480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3. 보관</a:t>
            </a:r>
            <a:endParaRPr lang="en-US" sz="1450" dirty="0"/>
          </a:p>
        </p:txBody>
      </p:sp>
      <p:sp>
        <p:nvSpPr>
          <p:cNvPr id="20" name="Text 15"/>
          <p:cNvSpPr/>
          <p:nvPr/>
        </p:nvSpPr>
        <p:spPr>
          <a:xfrm>
            <a:off x="1691640" y="4773168"/>
            <a:ext cx="420624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파일 정보를 체계적으로 저장</a:t>
            </a:r>
            <a:endParaRPr lang="en-US" sz="1150" dirty="0"/>
          </a:p>
        </p:txBody>
      </p:sp>
      <p:sp>
        <p:nvSpPr>
          <p:cNvPr id="21" name="Shape 16"/>
          <p:cNvSpPr/>
          <p:nvPr/>
        </p:nvSpPr>
        <p:spPr>
          <a:xfrm>
            <a:off x="1197864" y="5093208"/>
            <a:ext cx="0" cy="118872"/>
          </a:xfrm>
          <a:prstGeom prst="line">
            <a:avLst/>
          </a:prstGeom>
          <a:noFill/>
          <a:ln w="19050">
            <a:solidFill>
              <a:srgbClr val="3B82F6"/>
            </a:solidFill>
            <a:prstDash val="solid"/>
          </a:ln>
        </p:spPr>
      </p:sp>
      <p:sp>
        <p:nvSpPr>
          <p:cNvPr id="22" name="Shape 17"/>
          <p:cNvSpPr/>
          <p:nvPr/>
        </p:nvSpPr>
        <p:spPr>
          <a:xfrm>
            <a:off x="868680" y="5212080"/>
            <a:ext cx="658368" cy="658368"/>
          </a:xfrm>
          <a:prstGeom prst="ellipse">
            <a:avLst/>
          </a:prstGeom>
          <a:solidFill>
            <a:srgbClr val="1D4ED8"/>
          </a:solidFill>
          <a:ln/>
        </p:spPr>
      </p:sp>
      <p:pic>
        <p:nvPicPr>
          <p:cNvPr id="23" name="Image 3" descr="preencoded.png"/>
          <p:cNvPicPr>
            <a:picLocks noChangeAspect="1"/>
          </p:cNvPicPr>
          <p:nvPr/>
        </p:nvPicPr>
        <p:blipFill>
          <a:blip r:embed="rId6"/>
          <a:stretch>
            <a:fillRect/>
          </a:stretch>
        </p:blipFill>
        <p:spPr>
          <a:xfrm>
            <a:off x="1042416" y="5376672"/>
            <a:ext cx="329184" cy="329184"/>
          </a:xfrm>
          <a:prstGeom prst="rect">
            <a:avLst/>
          </a:prstGeom>
        </p:spPr>
      </p:pic>
      <p:sp>
        <p:nvSpPr>
          <p:cNvPr id="24" name="Text 18"/>
          <p:cNvSpPr/>
          <p:nvPr/>
        </p:nvSpPr>
        <p:spPr>
          <a:xfrm>
            <a:off x="1691640" y="5230368"/>
            <a:ext cx="411480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4. 조회·활용</a:t>
            </a:r>
            <a:endParaRPr lang="en-US" sz="1450" dirty="0"/>
          </a:p>
        </p:txBody>
      </p:sp>
      <p:sp>
        <p:nvSpPr>
          <p:cNvPr id="25" name="Text 19"/>
          <p:cNvSpPr/>
          <p:nvPr/>
        </p:nvSpPr>
        <p:spPr>
          <a:xfrm>
            <a:off x="1691640" y="5550408"/>
            <a:ext cx="420624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필요할 때 다시 꺼내 사용</a:t>
            </a:r>
            <a:endParaRPr lang="en-US" sz="1150" dirty="0"/>
          </a:p>
        </p:txBody>
      </p:sp>
      <p:sp>
        <p:nvSpPr>
          <p:cNvPr id="26" name="Shape 20"/>
          <p:cNvSpPr/>
          <p:nvPr/>
        </p:nvSpPr>
        <p:spPr>
          <a:xfrm>
            <a:off x="6263640" y="2103120"/>
            <a:ext cx="5394960" cy="4069080"/>
          </a:xfrm>
          <a:prstGeom prst="rect">
            <a:avLst/>
          </a:prstGeom>
          <a:solidFill>
            <a:srgbClr val="0E1F45"/>
          </a:solidFill>
          <a:ln/>
          <a:effectLst>
            <a:outerShdw blurRad="114300" dist="38100" dir="5400000" algn="bl" rotWithShape="0">
              <a:srgbClr val="0E1F45">
                <a:alpha val="14000"/>
              </a:srgbClr>
            </a:outerShdw>
          </a:effectLst>
        </p:spPr>
      </p:sp>
      <p:sp>
        <p:nvSpPr>
          <p:cNvPr id="27" name="Text 21"/>
          <p:cNvSpPr/>
          <p:nvPr/>
        </p:nvSpPr>
        <p:spPr>
          <a:xfrm>
            <a:off x="6537960" y="2331720"/>
            <a:ext cx="4572000" cy="365760"/>
          </a:xfrm>
          <a:prstGeom prst="rect">
            <a:avLst/>
          </a:prstGeom>
          <a:noFill/>
          <a:ln/>
        </p:spPr>
        <p:txBody>
          <a:bodyPr wrap="square" rtlCol="0" anchor="ctr"/>
          <a:lstStyle/>
          <a:p>
            <a:pPr marL="0" indent="0">
              <a:buNone/>
            </a:pPr>
            <a:r>
              <a:rPr lang="en-US" sz="1600" b="1" dirty="0">
                <a:solidFill>
                  <a:srgbClr val="F4B740"/>
                </a:solidFill>
                <a:latin typeface="맑은 고딕" pitchFamily="34" charset="0"/>
                <a:ea typeface="맑은 고딕" pitchFamily="34" charset="-122"/>
                <a:cs typeface="맑은 고딕" pitchFamily="34" charset="-120"/>
              </a:rPr>
              <a:t>FMS의 강점</a:t>
            </a:r>
            <a:endParaRPr lang="en-US" sz="1600" dirty="0"/>
          </a:p>
        </p:txBody>
      </p:sp>
      <p:sp>
        <p:nvSpPr>
          <p:cNvPr id="28" name="Shape 22"/>
          <p:cNvSpPr/>
          <p:nvPr/>
        </p:nvSpPr>
        <p:spPr>
          <a:xfrm>
            <a:off x="6537960" y="2926080"/>
            <a:ext cx="640080" cy="640080"/>
          </a:xfrm>
          <a:prstGeom prst="ellipse">
            <a:avLst/>
          </a:prstGeom>
          <a:solidFill>
            <a:srgbClr val="14264F"/>
          </a:solidFill>
          <a:ln w="12700">
            <a:solidFill>
              <a:srgbClr val="3B82F6"/>
            </a:solidFill>
            <a:prstDash val="solid"/>
          </a:ln>
        </p:spPr>
      </p:sp>
      <p:pic>
        <p:nvPicPr>
          <p:cNvPr id="29" name="Image 4" descr="preencoded.png"/>
          <p:cNvPicPr>
            <a:picLocks noChangeAspect="1"/>
          </p:cNvPicPr>
          <p:nvPr/>
        </p:nvPicPr>
        <p:blipFill>
          <a:blip r:embed="rId7"/>
          <a:stretch>
            <a:fillRect/>
          </a:stretch>
        </p:blipFill>
        <p:spPr>
          <a:xfrm>
            <a:off x="6702552" y="3090672"/>
            <a:ext cx="310896" cy="310896"/>
          </a:xfrm>
          <a:prstGeom prst="rect">
            <a:avLst/>
          </a:prstGeom>
        </p:spPr>
      </p:pic>
      <p:sp>
        <p:nvSpPr>
          <p:cNvPr id="30" name="Text 23"/>
          <p:cNvSpPr/>
          <p:nvPr/>
        </p:nvSpPr>
        <p:spPr>
          <a:xfrm>
            <a:off x="7360920" y="2926080"/>
            <a:ext cx="4114800" cy="329184"/>
          </a:xfrm>
          <a:prstGeom prst="rect">
            <a:avLst/>
          </a:prstGeom>
          <a:noFill/>
          <a:ln/>
        </p:spPr>
        <p:txBody>
          <a:bodyPr wrap="square" rtlCol="0" anchor="ctr"/>
          <a:lstStyle/>
          <a:p>
            <a:pPr marL="0" indent="0">
              <a:buNone/>
            </a:pPr>
            <a:r>
              <a:rPr lang="en-US" sz="1450" b="1" dirty="0">
                <a:solidFill>
                  <a:srgbClr val="FFFFFF"/>
                </a:solidFill>
                <a:latin typeface="맑은 고딕" pitchFamily="34" charset="0"/>
                <a:ea typeface="맑은 고딕" pitchFamily="34" charset="-122"/>
                <a:cs typeface="맑은 고딕" pitchFamily="34" charset="-120"/>
              </a:rPr>
              <a:t>엑셀 일괄 업로드</a:t>
            </a:r>
            <a:endParaRPr lang="en-US" sz="1450" dirty="0"/>
          </a:p>
        </p:txBody>
      </p:sp>
      <p:sp>
        <p:nvSpPr>
          <p:cNvPr id="31" name="Text 24"/>
          <p:cNvSpPr/>
          <p:nvPr/>
        </p:nvSpPr>
        <p:spPr>
          <a:xfrm>
            <a:off x="7360920" y="3255264"/>
            <a:ext cx="4160520" cy="502920"/>
          </a:xfrm>
          <a:prstGeom prst="rect">
            <a:avLst/>
          </a:prstGeom>
          <a:noFill/>
          <a:ln/>
        </p:spPr>
        <p:txBody>
          <a:bodyPr wrap="square" rtlCol="0" anchor="ctr"/>
          <a:lstStyle/>
          <a:p>
            <a:pPr marL="0" indent="0">
              <a:lnSpc>
                <a:spcPct val="110000"/>
              </a:lnSpc>
              <a:buNone/>
            </a:pPr>
            <a:r>
              <a:rPr lang="en-US" sz="1150" dirty="0">
                <a:solidFill>
                  <a:srgbClr val="DBE7FB"/>
                </a:solidFill>
                <a:latin typeface="맑은 고딕" pitchFamily="34" charset="0"/>
                <a:ea typeface="맑은 고딕" pitchFamily="34" charset="-122"/>
                <a:cs typeface="맑은 고딕" pitchFamily="34" charset="-120"/>
              </a:rPr>
              <a:t>대량 데이터를 엑셀로 한 번에 등록</a:t>
            </a:r>
            <a:endParaRPr lang="en-US" sz="1150" dirty="0"/>
          </a:p>
        </p:txBody>
      </p:sp>
      <p:sp>
        <p:nvSpPr>
          <p:cNvPr id="32" name="Shape 25"/>
          <p:cNvSpPr/>
          <p:nvPr/>
        </p:nvSpPr>
        <p:spPr>
          <a:xfrm>
            <a:off x="6537960" y="3931920"/>
            <a:ext cx="640080" cy="640080"/>
          </a:xfrm>
          <a:prstGeom prst="ellipse">
            <a:avLst/>
          </a:prstGeom>
          <a:solidFill>
            <a:srgbClr val="14264F"/>
          </a:solidFill>
          <a:ln w="12700">
            <a:solidFill>
              <a:srgbClr val="3B82F6"/>
            </a:solidFill>
            <a:prstDash val="solid"/>
          </a:ln>
        </p:spPr>
      </p:sp>
      <p:pic>
        <p:nvPicPr>
          <p:cNvPr id="33" name="Image 5" descr="preencoded.png"/>
          <p:cNvPicPr>
            <a:picLocks noChangeAspect="1"/>
          </p:cNvPicPr>
          <p:nvPr/>
        </p:nvPicPr>
        <p:blipFill>
          <a:blip r:embed="rId8"/>
          <a:stretch>
            <a:fillRect/>
          </a:stretch>
        </p:blipFill>
        <p:spPr>
          <a:xfrm>
            <a:off x="6702552" y="4096512"/>
            <a:ext cx="310896" cy="310896"/>
          </a:xfrm>
          <a:prstGeom prst="rect">
            <a:avLst/>
          </a:prstGeom>
        </p:spPr>
      </p:pic>
      <p:sp>
        <p:nvSpPr>
          <p:cNvPr id="34" name="Text 26"/>
          <p:cNvSpPr/>
          <p:nvPr/>
        </p:nvSpPr>
        <p:spPr>
          <a:xfrm>
            <a:off x="7360920" y="3931920"/>
            <a:ext cx="4114800" cy="329184"/>
          </a:xfrm>
          <a:prstGeom prst="rect">
            <a:avLst/>
          </a:prstGeom>
          <a:noFill/>
          <a:ln/>
        </p:spPr>
        <p:txBody>
          <a:bodyPr wrap="square" rtlCol="0" anchor="ctr"/>
          <a:lstStyle/>
          <a:p>
            <a:pPr marL="0" indent="0">
              <a:buNone/>
            </a:pPr>
            <a:r>
              <a:rPr lang="en-US" sz="1450" b="1" dirty="0">
                <a:solidFill>
                  <a:srgbClr val="FFFFFF"/>
                </a:solidFill>
                <a:latin typeface="맑은 고딕" pitchFamily="34" charset="0"/>
                <a:ea typeface="맑은 고딕" pitchFamily="34" charset="-122"/>
                <a:cs typeface="맑은 고딕" pitchFamily="34" charset="-120"/>
              </a:rPr>
              <a:t>전담 분리 구조</a:t>
            </a:r>
            <a:endParaRPr lang="en-US" sz="1450" dirty="0"/>
          </a:p>
        </p:txBody>
      </p:sp>
      <p:sp>
        <p:nvSpPr>
          <p:cNvPr id="35" name="Text 27"/>
          <p:cNvSpPr/>
          <p:nvPr/>
        </p:nvSpPr>
        <p:spPr>
          <a:xfrm>
            <a:off x="7360920" y="4261104"/>
            <a:ext cx="4160520" cy="502920"/>
          </a:xfrm>
          <a:prstGeom prst="rect">
            <a:avLst/>
          </a:prstGeom>
          <a:noFill/>
          <a:ln/>
        </p:spPr>
        <p:txBody>
          <a:bodyPr wrap="square" rtlCol="0" anchor="ctr"/>
          <a:lstStyle/>
          <a:p>
            <a:pPr marL="0" indent="0">
              <a:lnSpc>
                <a:spcPct val="110000"/>
              </a:lnSpc>
              <a:buNone/>
            </a:pPr>
            <a:r>
              <a:rPr lang="en-US" sz="1150" dirty="0">
                <a:solidFill>
                  <a:srgbClr val="DBE7FB"/>
                </a:solidFill>
                <a:latin typeface="맑은 고딕" pitchFamily="34" charset="0"/>
                <a:ea typeface="맑은 고딕" pitchFamily="34" charset="-122"/>
                <a:cs typeface="맑은 고딕" pitchFamily="34" charset="-120"/>
              </a:rPr>
              <a:t>파일 처리를 별도 서비스로 분리해 안정적</a:t>
            </a:r>
            <a:endParaRPr lang="en-US" sz="1150" dirty="0"/>
          </a:p>
        </p:txBody>
      </p:sp>
      <p:sp>
        <p:nvSpPr>
          <p:cNvPr id="36" name="Shape 28"/>
          <p:cNvSpPr/>
          <p:nvPr/>
        </p:nvSpPr>
        <p:spPr>
          <a:xfrm>
            <a:off x="6537960" y="4937760"/>
            <a:ext cx="640080" cy="640080"/>
          </a:xfrm>
          <a:prstGeom prst="ellipse">
            <a:avLst/>
          </a:prstGeom>
          <a:solidFill>
            <a:srgbClr val="14264F"/>
          </a:solidFill>
          <a:ln w="12700">
            <a:solidFill>
              <a:srgbClr val="3B82F6"/>
            </a:solidFill>
            <a:prstDash val="solid"/>
          </a:ln>
        </p:spPr>
      </p:sp>
      <p:pic>
        <p:nvPicPr>
          <p:cNvPr id="37" name="Image 6" descr="preencoded.png"/>
          <p:cNvPicPr>
            <a:picLocks noChangeAspect="1"/>
          </p:cNvPicPr>
          <p:nvPr/>
        </p:nvPicPr>
        <p:blipFill>
          <a:blip r:embed="rId9"/>
          <a:stretch>
            <a:fillRect/>
          </a:stretch>
        </p:blipFill>
        <p:spPr>
          <a:xfrm>
            <a:off x="6702552" y="5102352"/>
            <a:ext cx="310896" cy="310896"/>
          </a:xfrm>
          <a:prstGeom prst="rect">
            <a:avLst/>
          </a:prstGeom>
        </p:spPr>
      </p:pic>
      <p:sp>
        <p:nvSpPr>
          <p:cNvPr id="38" name="Text 29"/>
          <p:cNvSpPr/>
          <p:nvPr/>
        </p:nvSpPr>
        <p:spPr>
          <a:xfrm>
            <a:off x="7360920" y="4937760"/>
            <a:ext cx="4114800" cy="329184"/>
          </a:xfrm>
          <a:prstGeom prst="rect">
            <a:avLst/>
          </a:prstGeom>
          <a:noFill/>
          <a:ln/>
        </p:spPr>
        <p:txBody>
          <a:bodyPr wrap="square" rtlCol="0" anchor="ctr"/>
          <a:lstStyle/>
          <a:p>
            <a:pPr marL="0" indent="0">
              <a:buNone/>
            </a:pPr>
            <a:r>
              <a:rPr lang="en-US" sz="1450" b="1" dirty="0">
                <a:solidFill>
                  <a:srgbClr val="FFFFFF"/>
                </a:solidFill>
                <a:latin typeface="맑은 고딕" pitchFamily="34" charset="0"/>
                <a:ea typeface="맑은 고딕" pitchFamily="34" charset="-122"/>
                <a:cs typeface="맑은 고딕" pitchFamily="34" charset="-120"/>
              </a:rPr>
              <a:t>공통 Core 사용</a:t>
            </a:r>
            <a:endParaRPr lang="en-US" sz="1450" dirty="0"/>
          </a:p>
        </p:txBody>
      </p:sp>
      <p:sp>
        <p:nvSpPr>
          <p:cNvPr id="39" name="Text 30"/>
          <p:cNvSpPr/>
          <p:nvPr/>
        </p:nvSpPr>
        <p:spPr>
          <a:xfrm>
            <a:off x="7360920" y="5266944"/>
            <a:ext cx="4160520" cy="502920"/>
          </a:xfrm>
          <a:prstGeom prst="rect">
            <a:avLst/>
          </a:prstGeom>
          <a:noFill/>
          <a:ln/>
        </p:spPr>
        <p:txBody>
          <a:bodyPr wrap="square" rtlCol="0" anchor="ctr"/>
          <a:lstStyle/>
          <a:p>
            <a:pPr marL="0" indent="0">
              <a:lnSpc>
                <a:spcPct val="110000"/>
              </a:lnSpc>
              <a:buNone/>
            </a:pPr>
            <a:r>
              <a:rPr lang="en-US" sz="1150" dirty="0">
                <a:solidFill>
                  <a:srgbClr val="DBE7FB"/>
                </a:solidFill>
                <a:latin typeface="맑은 고딕" pitchFamily="34" charset="0"/>
                <a:ea typeface="맑은 고딕" pitchFamily="34" charset="-122"/>
                <a:cs typeface="맑은 고딕" pitchFamily="34" charset="-120"/>
              </a:rPr>
              <a:t>보안·기록 기능을 그대로 공유</a:t>
            </a:r>
            <a:endParaRPr lang="en-US" sz="1150" dirty="0"/>
          </a:p>
        </p:txBody>
      </p:sp>
      <p:sp>
        <p:nvSpPr>
          <p:cNvPr id="41" name="Text 31"/>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42" name="Text 32"/>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SCALABILITY &amp; OPERATION</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새 업무가 생겨도 끄떡없습니다</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기존을 건드리지 않고 모듈만 추가, 운영은 자동으로 정비</a:t>
            </a:r>
            <a:endParaRPr lang="en-US" sz="1350" dirty="0"/>
          </a:p>
        </p:txBody>
      </p:sp>
      <p:sp>
        <p:nvSpPr>
          <p:cNvPr id="5" name="Shape 3"/>
          <p:cNvSpPr/>
          <p:nvPr/>
        </p:nvSpPr>
        <p:spPr>
          <a:xfrm>
            <a:off x="502920" y="2057400"/>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Shape 4"/>
          <p:cNvSpPr/>
          <p:nvPr/>
        </p:nvSpPr>
        <p:spPr>
          <a:xfrm>
            <a:off x="850392" y="2560320"/>
            <a:ext cx="841248" cy="841248"/>
          </a:xfrm>
          <a:prstGeom prst="ellipse">
            <a:avLst/>
          </a:prstGeom>
          <a:solidFill>
            <a:srgbClr val="1D4ED8"/>
          </a:solidFill>
          <a:ln/>
        </p:spPr>
      </p:sp>
      <p:pic>
        <p:nvPicPr>
          <p:cNvPr id="7" name="Image 0" descr="preencoded.png"/>
          <p:cNvPicPr>
            <a:picLocks noChangeAspect="1"/>
          </p:cNvPicPr>
          <p:nvPr/>
        </p:nvPicPr>
        <p:blipFill>
          <a:blip r:embed="rId3"/>
          <a:stretch>
            <a:fillRect/>
          </a:stretch>
        </p:blipFill>
        <p:spPr>
          <a:xfrm>
            <a:off x="1060704" y="2770632"/>
            <a:ext cx="420624" cy="420624"/>
          </a:xfrm>
          <a:prstGeom prst="rect">
            <a:avLst/>
          </a:prstGeom>
        </p:spPr>
      </p:pic>
      <p:sp>
        <p:nvSpPr>
          <p:cNvPr id="8" name="Text 5"/>
          <p:cNvSpPr/>
          <p:nvPr/>
        </p:nvSpPr>
        <p:spPr>
          <a:xfrm>
            <a:off x="1920240" y="2423160"/>
            <a:ext cx="3794760" cy="411480"/>
          </a:xfrm>
          <a:prstGeom prst="rect">
            <a:avLst/>
          </a:prstGeom>
          <a:noFill/>
          <a:ln/>
        </p:spPr>
        <p:txBody>
          <a:bodyPr wrap="square" rtlCol="0" anchor="ctr"/>
          <a:lstStyle/>
          <a:p>
            <a:pPr marL="0" indent="0">
              <a:buNone/>
            </a:pPr>
            <a:r>
              <a:rPr lang="en-US" sz="1800" b="1" dirty="0">
                <a:solidFill>
                  <a:srgbClr val="1E293B"/>
                </a:solidFill>
                <a:latin typeface="맑은 고딕" pitchFamily="34" charset="0"/>
                <a:ea typeface="맑은 고딕" pitchFamily="34" charset="-122"/>
                <a:cs typeface="맑은 고딕" pitchFamily="34" charset="-120"/>
              </a:rPr>
              <a:t>모듈만 추가</a:t>
            </a:r>
            <a:endParaRPr lang="en-US" sz="1800" dirty="0"/>
          </a:p>
        </p:txBody>
      </p:sp>
      <p:sp>
        <p:nvSpPr>
          <p:cNvPr id="9" name="Text 6"/>
          <p:cNvSpPr/>
          <p:nvPr/>
        </p:nvSpPr>
        <p:spPr>
          <a:xfrm>
            <a:off x="1920240" y="2898648"/>
            <a:ext cx="3794760" cy="868680"/>
          </a:xfrm>
          <a:prstGeom prst="rect">
            <a:avLst/>
          </a:prstGeom>
          <a:noFill/>
          <a:ln/>
        </p:spPr>
        <p:txBody>
          <a:bodyPr wrap="square" rtlCol="0" anchor="ctr"/>
          <a:lstStyle/>
          <a:p>
            <a:pPr marL="0" indent="0">
              <a:lnSpc>
                <a:spcPct val="118000"/>
              </a:lnSpc>
              <a:buNone/>
            </a:pPr>
            <a:r>
              <a:rPr lang="en-US" sz="1250" dirty="0">
                <a:solidFill>
                  <a:srgbClr val="5B6B85"/>
                </a:solidFill>
                <a:latin typeface="맑은 고딕" pitchFamily="34" charset="0"/>
                <a:ea typeface="맑은 고딕" pitchFamily="34" charset="-122"/>
                <a:cs typeface="맑은 고딕" pitchFamily="34" charset="-120"/>
              </a:rPr>
              <a:t>새 업무가 생기면 새 서비스(모듈)만 끼우면 됩니다. 기존 서비스는 그대로 — 위험 없이 확장.</a:t>
            </a:r>
            <a:endParaRPr lang="en-US" sz="1250" dirty="0"/>
          </a:p>
        </p:txBody>
      </p:sp>
      <p:sp>
        <p:nvSpPr>
          <p:cNvPr id="10" name="Shape 7"/>
          <p:cNvSpPr/>
          <p:nvPr/>
        </p:nvSpPr>
        <p:spPr>
          <a:xfrm>
            <a:off x="6309360" y="2057400"/>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1" name="Shape 8"/>
          <p:cNvSpPr/>
          <p:nvPr/>
        </p:nvSpPr>
        <p:spPr>
          <a:xfrm>
            <a:off x="6656832" y="2560320"/>
            <a:ext cx="841248" cy="841248"/>
          </a:xfrm>
          <a:prstGeom prst="ellipse">
            <a:avLst/>
          </a:prstGeom>
          <a:solidFill>
            <a:srgbClr val="1D4ED8"/>
          </a:solidFill>
          <a:ln/>
        </p:spPr>
      </p:sp>
      <p:pic>
        <p:nvPicPr>
          <p:cNvPr id="12" name="Image 1" descr="preencoded.png"/>
          <p:cNvPicPr>
            <a:picLocks noChangeAspect="1"/>
          </p:cNvPicPr>
          <p:nvPr/>
        </p:nvPicPr>
        <p:blipFill>
          <a:blip r:embed="rId4"/>
          <a:stretch>
            <a:fillRect/>
          </a:stretch>
        </p:blipFill>
        <p:spPr>
          <a:xfrm>
            <a:off x="6867144" y="2770632"/>
            <a:ext cx="420624" cy="420624"/>
          </a:xfrm>
          <a:prstGeom prst="rect">
            <a:avLst/>
          </a:prstGeom>
        </p:spPr>
      </p:pic>
      <p:sp>
        <p:nvSpPr>
          <p:cNvPr id="13" name="Text 9"/>
          <p:cNvSpPr/>
          <p:nvPr/>
        </p:nvSpPr>
        <p:spPr>
          <a:xfrm>
            <a:off x="7726680" y="2423160"/>
            <a:ext cx="3794760" cy="411480"/>
          </a:xfrm>
          <a:prstGeom prst="rect">
            <a:avLst/>
          </a:prstGeom>
          <a:noFill/>
          <a:ln/>
        </p:spPr>
        <p:txBody>
          <a:bodyPr wrap="square" rtlCol="0" anchor="ctr"/>
          <a:lstStyle/>
          <a:p>
            <a:pPr marL="0" indent="0">
              <a:buNone/>
            </a:pPr>
            <a:r>
              <a:rPr lang="en-US" sz="1800" b="1" dirty="0">
                <a:solidFill>
                  <a:srgbClr val="1E293B"/>
                </a:solidFill>
                <a:latin typeface="맑은 고딕" pitchFamily="34" charset="0"/>
                <a:ea typeface="맑은 고딕" pitchFamily="34" charset="-122"/>
                <a:cs typeface="맑은 고딕" pitchFamily="34" charset="-120"/>
              </a:rPr>
              <a:t>Core 그대로 재사용</a:t>
            </a:r>
            <a:endParaRPr lang="en-US" sz="1800" dirty="0"/>
          </a:p>
        </p:txBody>
      </p:sp>
      <p:sp>
        <p:nvSpPr>
          <p:cNvPr id="14" name="Text 10"/>
          <p:cNvSpPr/>
          <p:nvPr/>
        </p:nvSpPr>
        <p:spPr>
          <a:xfrm>
            <a:off x="7726680" y="2898648"/>
            <a:ext cx="3794760" cy="868680"/>
          </a:xfrm>
          <a:prstGeom prst="rect">
            <a:avLst/>
          </a:prstGeom>
          <a:noFill/>
          <a:ln/>
        </p:spPr>
        <p:txBody>
          <a:bodyPr wrap="square" rtlCol="0" anchor="ctr"/>
          <a:lstStyle/>
          <a:p>
            <a:pPr marL="0" indent="0">
              <a:lnSpc>
                <a:spcPct val="118000"/>
              </a:lnSpc>
              <a:buNone/>
            </a:pPr>
            <a:r>
              <a:rPr lang="en-US" sz="1250" dirty="0">
                <a:solidFill>
                  <a:srgbClr val="5B6B85"/>
                </a:solidFill>
                <a:latin typeface="맑은 고딕" pitchFamily="34" charset="0"/>
                <a:ea typeface="맑은 고딕" pitchFamily="34" charset="-122"/>
                <a:cs typeface="맑은 고딕" pitchFamily="34" charset="-120"/>
              </a:rPr>
              <a:t>새 모듈도 보안·공통기능을 Core에서 즉시 물려받아, 빠르게 안정적으로 출시.</a:t>
            </a:r>
            <a:endParaRPr lang="en-US" sz="1250" dirty="0"/>
          </a:p>
        </p:txBody>
      </p:sp>
      <p:sp>
        <p:nvSpPr>
          <p:cNvPr id="15" name="Shape 11"/>
          <p:cNvSpPr/>
          <p:nvPr/>
        </p:nvSpPr>
        <p:spPr>
          <a:xfrm>
            <a:off x="502920" y="4178808"/>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6" name="Shape 12"/>
          <p:cNvSpPr/>
          <p:nvPr/>
        </p:nvSpPr>
        <p:spPr>
          <a:xfrm>
            <a:off x="850392" y="4681728"/>
            <a:ext cx="841248" cy="841248"/>
          </a:xfrm>
          <a:prstGeom prst="ellipse">
            <a:avLst/>
          </a:prstGeom>
          <a:solidFill>
            <a:srgbClr val="1D4ED8"/>
          </a:solidFill>
          <a:ln/>
        </p:spPr>
      </p:sp>
      <p:pic>
        <p:nvPicPr>
          <p:cNvPr id="17" name="Image 2" descr="preencoded.png"/>
          <p:cNvPicPr>
            <a:picLocks noChangeAspect="1"/>
          </p:cNvPicPr>
          <p:nvPr/>
        </p:nvPicPr>
        <p:blipFill>
          <a:blip r:embed="rId5"/>
          <a:stretch>
            <a:fillRect/>
          </a:stretch>
        </p:blipFill>
        <p:spPr>
          <a:xfrm>
            <a:off x="1060704" y="4892040"/>
            <a:ext cx="420624" cy="420624"/>
          </a:xfrm>
          <a:prstGeom prst="rect">
            <a:avLst/>
          </a:prstGeom>
        </p:spPr>
      </p:pic>
      <p:sp>
        <p:nvSpPr>
          <p:cNvPr id="18" name="Text 13"/>
          <p:cNvSpPr/>
          <p:nvPr/>
        </p:nvSpPr>
        <p:spPr>
          <a:xfrm>
            <a:off x="1920240" y="4544568"/>
            <a:ext cx="3794760" cy="411480"/>
          </a:xfrm>
          <a:prstGeom prst="rect">
            <a:avLst/>
          </a:prstGeom>
          <a:noFill/>
          <a:ln/>
        </p:spPr>
        <p:txBody>
          <a:bodyPr wrap="square" rtlCol="0" anchor="ctr"/>
          <a:lstStyle/>
          <a:p>
            <a:pPr marL="0" indent="0">
              <a:buNone/>
            </a:pPr>
            <a:r>
              <a:rPr lang="en-US" sz="1800" b="1" dirty="0">
                <a:solidFill>
                  <a:srgbClr val="1E293B"/>
                </a:solidFill>
                <a:latin typeface="맑은 고딕" pitchFamily="34" charset="0"/>
                <a:ea typeface="맑은 고딕" pitchFamily="34" charset="-122"/>
                <a:cs typeface="맑은 고딕" pitchFamily="34" charset="-120"/>
              </a:rPr>
              <a:t>DB 자동 정비</a:t>
            </a:r>
            <a:endParaRPr lang="en-US" sz="1800" dirty="0"/>
          </a:p>
        </p:txBody>
      </p:sp>
      <p:sp>
        <p:nvSpPr>
          <p:cNvPr id="19" name="Text 14"/>
          <p:cNvSpPr/>
          <p:nvPr/>
        </p:nvSpPr>
        <p:spPr>
          <a:xfrm>
            <a:off x="1920240" y="5020056"/>
            <a:ext cx="3794760" cy="868680"/>
          </a:xfrm>
          <a:prstGeom prst="rect">
            <a:avLst/>
          </a:prstGeom>
          <a:noFill/>
          <a:ln/>
        </p:spPr>
        <p:txBody>
          <a:bodyPr wrap="square" rtlCol="0" anchor="ctr"/>
          <a:lstStyle/>
          <a:p>
            <a:pPr marL="0" indent="0">
              <a:lnSpc>
                <a:spcPct val="118000"/>
              </a:lnSpc>
              <a:buNone/>
            </a:pPr>
            <a:r>
              <a:rPr lang="en-US" sz="1250" dirty="0">
                <a:solidFill>
                  <a:srgbClr val="5B6B85"/>
                </a:solidFill>
                <a:latin typeface="맑은 고딕" pitchFamily="34" charset="0"/>
                <a:ea typeface="맑은 고딕" pitchFamily="34" charset="-122"/>
                <a:cs typeface="맑은 고딕" pitchFamily="34" charset="-120"/>
              </a:rPr>
              <a:t>기록이 쌓이는 표를 매일 새벽 자동으로 정리·준비해, 시간이 지나도 빠른 속도 유지.</a:t>
            </a:r>
            <a:endParaRPr lang="en-US" sz="1250" dirty="0"/>
          </a:p>
        </p:txBody>
      </p:sp>
      <p:sp>
        <p:nvSpPr>
          <p:cNvPr id="20" name="Shape 15"/>
          <p:cNvSpPr/>
          <p:nvPr/>
        </p:nvSpPr>
        <p:spPr>
          <a:xfrm>
            <a:off x="6309360" y="4178808"/>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1" name="Shape 16"/>
          <p:cNvSpPr/>
          <p:nvPr/>
        </p:nvSpPr>
        <p:spPr>
          <a:xfrm>
            <a:off x="6656832" y="4681728"/>
            <a:ext cx="841248" cy="841248"/>
          </a:xfrm>
          <a:prstGeom prst="ellipse">
            <a:avLst/>
          </a:prstGeom>
          <a:solidFill>
            <a:srgbClr val="1D4ED8"/>
          </a:solidFill>
          <a:ln/>
        </p:spPr>
      </p:sp>
      <p:pic>
        <p:nvPicPr>
          <p:cNvPr id="22" name="Image 3" descr="preencoded.png"/>
          <p:cNvPicPr>
            <a:picLocks noChangeAspect="1"/>
          </p:cNvPicPr>
          <p:nvPr/>
        </p:nvPicPr>
        <p:blipFill>
          <a:blip r:embed="rId6"/>
          <a:stretch>
            <a:fillRect/>
          </a:stretch>
        </p:blipFill>
        <p:spPr>
          <a:xfrm>
            <a:off x="6867144" y="4892040"/>
            <a:ext cx="420624" cy="420624"/>
          </a:xfrm>
          <a:prstGeom prst="rect">
            <a:avLst/>
          </a:prstGeom>
        </p:spPr>
      </p:pic>
      <p:sp>
        <p:nvSpPr>
          <p:cNvPr id="23" name="Text 17"/>
          <p:cNvSpPr/>
          <p:nvPr/>
        </p:nvSpPr>
        <p:spPr>
          <a:xfrm>
            <a:off x="7726680" y="4544568"/>
            <a:ext cx="3794760" cy="411480"/>
          </a:xfrm>
          <a:prstGeom prst="rect">
            <a:avLst/>
          </a:prstGeom>
          <a:noFill/>
          <a:ln/>
        </p:spPr>
        <p:txBody>
          <a:bodyPr wrap="square" rtlCol="0" anchor="ctr"/>
          <a:lstStyle/>
          <a:p>
            <a:pPr marL="0" indent="0">
              <a:buNone/>
            </a:pPr>
            <a:r>
              <a:rPr lang="en-US" sz="1800" b="1" dirty="0">
                <a:solidFill>
                  <a:srgbClr val="1E293B"/>
                </a:solidFill>
                <a:latin typeface="맑은 고딕" pitchFamily="34" charset="0"/>
                <a:ea typeface="맑은 고딕" pitchFamily="34" charset="-122"/>
                <a:cs typeface="맑은 고딕" pitchFamily="34" charset="-120"/>
              </a:rPr>
              <a:t>독립 운영·장애 격리</a:t>
            </a:r>
            <a:endParaRPr lang="en-US" sz="1800" dirty="0"/>
          </a:p>
        </p:txBody>
      </p:sp>
      <p:sp>
        <p:nvSpPr>
          <p:cNvPr id="24" name="Text 18"/>
          <p:cNvSpPr/>
          <p:nvPr/>
        </p:nvSpPr>
        <p:spPr>
          <a:xfrm>
            <a:off x="7726680" y="5020056"/>
            <a:ext cx="3794760" cy="868680"/>
          </a:xfrm>
          <a:prstGeom prst="rect">
            <a:avLst/>
          </a:prstGeom>
          <a:noFill/>
          <a:ln/>
        </p:spPr>
        <p:txBody>
          <a:bodyPr wrap="square" rtlCol="0" anchor="ctr"/>
          <a:lstStyle/>
          <a:p>
            <a:pPr marL="0" indent="0">
              <a:lnSpc>
                <a:spcPct val="118000"/>
              </a:lnSpc>
              <a:buNone/>
            </a:pPr>
            <a:r>
              <a:rPr lang="en-US" sz="1250" dirty="0">
                <a:solidFill>
                  <a:srgbClr val="5B6B85"/>
                </a:solidFill>
                <a:latin typeface="맑은 고딕" pitchFamily="34" charset="0"/>
                <a:ea typeface="맑은 고딕" pitchFamily="34" charset="-122"/>
                <a:cs typeface="맑은 고딕" pitchFamily="34" charset="-120"/>
              </a:rPr>
              <a:t>서비스가 분리돼 한 곳에 문제가 생겨도 전체가 멈추지 않습니다.</a:t>
            </a:r>
            <a:endParaRPr lang="en-US" sz="1250" dirty="0"/>
          </a:p>
        </p:txBody>
      </p:sp>
      <p:sp>
        <p:nvSpPr>
          <p:cNvPr id="26" name="Text 1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27" name="Text 20"/>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BUSINESS VALUE</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회사가 얻는 실질적 효과</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기술적 선택이 곧 비용·품질·미래 경쟁력으로 이어집니다</a:t>
            </a:r>
            <a:endParaRPr lang="en-US" sz="1350" dirty="0"/>
          </a:p>
        </p:txBody>
      </p:sp>
      <p:sp>
        <p:nvSpPr>
          <p:cNvPr id="5" name="Shape 3"/>
          <p:cNvSpPr/>
          <p:nvPr/>
        </p:nvSpPr>
        <p:spPr>
          <a:xfrm>
            <a:off x="502920" y="2103120"/>
            <a:ext cx="3611880" cy="39319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Shape 4"/>
          <p:cNvSpPr/>
          <p:nvPr/>
        </p:nvSpPr>
        <p:spPr>
          <a:xfrm>
            <a:off x="502920" y="2103120"/>
            <a:ext cx="3611880" cy="146304"/>
          </a:xfrm>
          <a:prstGeom prst="rect">
            <a:avLst/>
          </a:prstGeom>
          <a:solidFill>
            <a:srgbClr val="1D4ED8"/>
          </a:solidFill>
          <a:ln/>
        </p:spPr>
      </p:sp>
      <p:sp>
        <p:nvSpPr>
          <p:cNvPr id="7" name="Shape 5"/>
          <p:cNvSpPr/>
          <p:nvPr/>
        </p:nvSpPr>
        <p:spPr>
          <a:xfrm>
            <a:off x="1760220" y="2514600"/>
            <a:ext cx="1097280" cy="1097280"/>
          </a:xfrm>
          <a:prstGeom prst="ellipse">
            <a:avLst/>
          </a:prstGeom>
          <a:solidFill>
            <a:srgbClr val="1D4ED8"/>
          </a:solidFill>
          <a:ln/>
        </p:spPr>
      </p:sp>
      <p:pic>
        <p:nvPicPr>
          <p:cNvPr id="8" name="Image 0" descr="preencoded.png"/>
          <p:cNvPicPr>
            <a:picLocks noChangeAspect="1"/>
          </p:cNvPicPr>
          <p:nvPr/>
        </p:nvPicPr>
        <p:blipFill>
          <a:blip r:embed="rId3"/>
          <a:stretch>
            <a:fillRect/>
          </a:stretch>
        </p:blipFill>
        <p:spPr>
          <a:xfrm>
            <a:off x="2016252" y="2770632"/>
            <a:ext cx="585216" cy="585216"/>
          </a:xfrm>
          <a:prstGeom prst="rect">
            <a:avLst/>
          </a:prstGeom>
        </p:spPr>
      </p:pic>
      <p:sp>
        <p:nvSpPr>
          <p:cNvPr id="9" name="Text 6"/>
          <p:cNvSpPr/>
          <p:nvPr/>
        </p:nvSpPr>
        <p:spPr>
          <a:xfrm>
            <a:off x="731520" y="3749040"/>
            <a:ext cx="3154680" cy="502920"/>
          </a:xfrm>
          <a:prstGeom prst="rect">
            <a:avLst/>
          </a:prstGeom>
          <a:noFill/>
          <a:ln/>
        </p:spPr>
        <p:txBody>
          <a:bodyPr wrap="square" rtlCol="0" anchor="ctr"/>
          <a:lstStyle/>
          <a:p>
            <a:pPr marL="0" indent="0" algn="ctr">
              <a:buNone/>
            </a:pPr>
            <a:r>
              <a:rPr lang="en-US" sz="2000" b="1" dirty="0">
                <a:solidFill>
                  <a:srgbClr val="1D4ED8"/>
                </a:solidFill>
                <a:latin typeface="맑은 고딕" pitchFamily="34" charset="0"/>
                <a:ea typeface="맑은 고딕" pitchFamily="34" charset="-122"/>
                <a:cs typeface="맑은 고딕" pitchFamily="34" charset="-120"/>
              </a:rPr>
              <a:t>중복 개발 제거</a:t>
            </a:r>
            <a:endParaRPr lang="en-US" sz="2000" dirty="0"/>
          </a:p>
        </p:txBody>
      </p:sp>
      <p:sp>
        <p:nvSpPr>
          <p:cNvPr id="10" name="Text 7"/>
          <p:cNvSpPr/>
          <p:nvPr/>
        </p:nvSpPr>
        <p:spPr>
          <a:xfrm>
            <a:off x="731520" y="4315968"/>
            <a:ext cx="3154680" cy="411480"/>
          </a:xfrm>
          <a:prstGeom prst="rect">
            <a:avLst/>
          </a:prstGeom>
          <a:noFill/>
          <a:ln/>
        </p:spPr>
        <p:txBody>
          <a:bodyPr wrap="square" rtlCol="0" anchor="ctr"/>
          <a:lstStyle/>
          <a:p>
            <a:pPr marL="0" indent="0" algn="ctr">
              <a:buNone/>
            </a:pPr>
            <a:r>
              <a:rPr lang="en-US" sz="1450" b="1" dirty="0">
                <a:solidFill>
                  <a:srgbClr val="1E293B"/>
                </a:solidFill>
                <a:latin typeface="맑은 고딕" pitchFamily="34" charset="0"/>
                <a:ea typeface="맑은 고딕" pitchFamily="34" charset="-122"/>
                <a:cs typeface="맑은 고딕" pitchFamily="34" charset="-120"/>
              </a:rPr>
              <a:t>개발 효율 · 비용 절감</a:t>
            </a:r>
            <a:endParaRPr lang="en-US" sz="1450" dirty="0"/>
          </a:p>
        </p:txBody>
      </p:sp>
      <p:sp>
        <p:nvSpPr>
          <p:cNvPr id="11" name="Text 8"/>
          <p:cNvSpPr/>
          <p:nvPr/>
        </p:nvSpPr>
        <p:spPr>
          <a:xfrm>
            <a:off x="822960" y="4800600"/>
            <a:ext cx="2971800" cy="1097280"/>
          </a:xfrm>
          <a:prstGeom prst="rect">
            <a:avLst/>
          </a:prstGeom>
          <a:noFill/>
          <a:ln/>
        </p:spPr>
        <p:txBody>
          <a:bodyPr wrap="square" rtlCol="0" anchor="ctr"/>
          <a:lstStyle/>
          <a:p>
            <a:pPr marL="0" indent="0" algn="ctr">
              <a:lnSpc>
                <a:spcPct val="120000"/>
              </a:lnSpc>
              <a:buNone/>
            </a:pPr>
            <a:r>
              <a:rPr lang="en-US" sz="1250" dirty="0">
                <a:solidFill>
                  <a:srgbClr val="5B6B85"/>
                </a:solidFill>
                <a:latin typeface="맑은 고딕" pitchFamily="34" charset="0"/>
                <a:ea typeface="맑은 고딕" pitchFamily="34" charset="-122"/>
                <a:cs typeface="맑은 고딕" pitchFamily="34" charset="-120"/>
              </a:rPr>
              <a:t>공통 기능을 한 번만 만들어 재사용 → 개발 시간과 인건비 절감</a:t>
            </a:r>
            <a:endParaRPr lang="en-US" sz="1250" dirty="0"/>
          </a:p>
        </p:txBody>
      </p:sp>
      <p:sp>
        <p:nvSpPr>
          <p:cNvPr id="12" name="Shape 9"/>
          <p:cNvSpPr/>
          <p:nvPr/>
        </p:nvSpPr>
        <p:spPr>
          <a:xfrm>
            <a:off x="4407408" y="2103120"/>
            <a:ext cx="3611880" cy="39319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3" name="Shape 10"/>
          <p:cNvSpPr/>
          <p:nvPr/>
        </p:nvSpPr>
        <p:spPr>
          <a:xfrm>
            <a:off x="4407408" y="2103120"/>
            <a:ext cx="3611880" cy="146304"/>
          </a:xfrm>
          <a:prstGeom prst="rect">
            <a:avLst/>
          </a:prstGeom>
          <a:solidFill>
            <a:srgbClr val="2563EB"/>
          </a:solidFill>
          <a:ln/>
        </p:spPr>
      </p:sp>
      <p:sp>
        <p:nvSpPr>
          <p:cNvPr id="14" name="Shape 11"/>
          <p:cNvSpPr/>
          <p:nvPr/>
        </p:nvSpPr>
        <p:spPr>
          <a:xfrm>
            <a:off x="5664708" y="2514600"/>
            <a:ext cx="1097280" cy="1097280"/>
          </a:xfrm>
          <a:prstGeom prst="ellipse">
            <a:avLst/>
          </a:prstGeom>
          <a:solidFill>
            <a:srgbClr val="2563EB"/>
          </a:solidFill>
          <a:ln/>
        </p:spPr>
      </p:sp>
      <p:pic>
        <p:nvPicPr>
          <p:cNvPr id="15" name="Image 1" descr="preencoded.png"/>
          <p:cNvPicPr>
            <a:picLocks noChangeAspect="1"/>
          </p:cNvPicPr>
          <p:nvPr/>
        </p:nvPicPr>
        <p:blipFill>
          <a:blip r:embed="rId4"/>
          <a:stretch>
            <a:fillRect/>
          </a:stretch>
        </p:blipFill>
        <p:spPr>
          <a:xfrm>
            <a:off x="5920740" y="2770632"/>
            <a:ext cx="585216" cy="585216"/>
          </a:xfrm>
          <a:prstGeom prst="rect">
            <a:avLst/>
          </a:prstGeom>
        </p:spPr>
      </p:pic>
      <p:sp>
        <p:nvSpPr>
          <p:cNvPr id="16" name="Text 12"/>
          <p:cNvSpPr/>
          <p:nvPr/>
        </p:nvSpPr>
        <p:spPr>
          <a:xfrm>
            <a:off x="4636008" y="3749040"/>
            <a:ext cx="3154680" cy="502920"/>
          </a:xfrm>
          <a:prstGeom prst="rect">
            <a:avLst/>
          </a:prstGeom>
          <a:noFill/>
          <a:ln/>
        </p:spPr>
        <p:txBody>
          <a:bodyPr wrap="square" rtlCol="0" anchor="ctr"/>
          <a:lstStyle/>
          <a:p>
            <a:pPr marL="0" indent="0" algn="ctr">
              <a:buNone/>
            </a:pPr>
            <a:r>
              <a:rPr lang="en-US" sz="2000" b="1" dirty="0">
                <a:solidFill>
                  <a:srgbClr val="2563EB"/>
                </a:solidFill>
                <a:latin typeface="맑은 고딕" pitchFamily="34" charset="0"/>
                <a:ea typeface="맑은 고딕" pitchFamily="34" charset="-122"/>
                <a:cs typeface="맑은 고딕" pitchFamily="34" charset="-120"/>
              </a:rPr>
              <a:t>일관된 동작</a:t>
            </a:r>
            <a:endParaRPr lang="en-US" sz="2000" dirty="0"/>
          </a:p>
        </p:txBody>
      </p:sp>
      <p:sp>
        <p:nvSpPr>
          <p:cNvPr id="17" name="Text 13"/>
          <p:cNvSpPr/>
          <p:nvPr/>
        </p:nvSpPr>
        <p:spPr>
          <a:xfrm>
            <a:off x="4636008" y="4315968"/>
            <a:ext cx="3154680" cy="411480"/>
          </a:xfrm>
          <a:prstGeom prst="rect">
            <a:avLst/>
          </a:prstGeom>
          <a:noFill/>
          <a:ln/>
        </p:spPr>
        <p:txBody>
          <a:bodyPr wrap="square" rtlCol="0" anchor="ctr"/>
          <a:lstStyle/>
          <a:p>
            <a:pPr marL="0" indent="0" algn="ctr">
              <a:buNone/>
            </a:pPr>
            <a:r>
              <a:rPr lang="en-US" sz="1450" b="1" dirty="0">
                <a:solidFill>
                  <a:srgbClr val="1E293B"/>
                </a:solidFill>
                <a:latin typeface="맑은 고딕" pitchFamily="34" charset="0"/>
                <a:ea typeface="맑은 고딕" pitchFamily="34" charset="-122"/>
                <a:cs typeface="맑은 고딕" pitchFamily="34" charset="-120"/>
              </a:rPr>
              <a:t>품질 · 표준화</a:t>
            </a:r>
            <a:endParaRPr lang="en-US" sz="1450" dirty="0"/>
          </a:p>
        </p:txBody>
      </p:sp>
      <p:sp>
        <p:nvSpPr>
          <p:cNvPr id="18" name="Text 14"/>
          <p:cNvSpPr/>
          <p:nvPr/>
        </p:nvSpPr>
        <p:spPr>
          <a:xfrm>
            <a:off x="4727448" y="4800600"/>
            <a:ext cx="2971800" cy="1097280"/>
          </a:xfrm>
          <a:prstGeom prst="rect">
            <a:avLst/>
          </a:prstGeom>
          <a:noFill/>
          <a:ln/>
        </p:spPr>
        <p:txBody>
          <a:bodyPr wrap="square" rtlCol="0" anchor="ctr"/>
          <a:lstStyle/>
          <a:p>
            <a:pPr marL="0" indent="0" algn="ctr">
              <a:lnSpc>
                <a:spcPct val="120000"/>
              </a:lnSpc>
              <a:buNone/>
            </a:pPr>
            <a:r>
              <a:rPr lang="en-US" sz="1250" dirty="0">
                <a:solidFill>
                  <a:srgbClr val="5B6B85"/>
                </a:solidFill>
                <a:latin typeface="맑은 고딕" pitchFamily="34" charset="0"/>
                <a:ea typeface="맑은 고딕" pitchFamily="34" charset="-122"/>
                <a:cs typeface="맑은 고딕" pitchFamily="34" charset="-120"/>
              </a:rPr>
              <a:t>모든 서비스가 같은 규칙으로 동작 → 오류 감소, 유지보수 용이</a:t>
            </a:r>
            <a:endParaRPr lang="en-US" sz="1250" dirty="0"/>
          </a:p>
        </p:txBody>
      </p:sp>
      <p:sp>
        <p:nvSpPr>
          <p:cNvPr id="19" name="Shape 15"/>
          <p:cNvSpPr/>
          <p:nvPr/>
        </p:nvSpPr>
        <p:spPr>
          <a:xfrm>
            <a:off x="8311896" y="2103120"/>
            <a:ext cx="3611880" cy="39319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0" name="Shape 16"/>
          <p:cNvSpPr/>
          <p:nvPr/>
        </p:nvSpPr>
        <p:spPr>
          <a:xfrm>
            <a:off x="8311896" y="2103120"/>
            <a:ext cx="3611880" cy="146304"/>
          </a:xfrm>
          <a:prstGeom prst="rect">
            <a:avLst/>
          </a:prstGeom>
          <a:solidFill>
            <a:srgbClr val="1B6FB0"/>
          </a:solidFill>
          <a:ln/>
        </p:spPr>
      </p:sp>
      <p:sp>
        <p:nvSpPr>
          <p:cNvPr id="21" name="Shape 17"/>
          <p:cNvSpPr/>
          <p:nvPr/>
        </p:nvSpPr>
        <p:spPr>
          <a:xfrm>
            <a:off x="9569196" y="2514600"/>
            <a:ext cx="1097280" cy="1097280"/>
          </a:xfrm>
          <a:prstGeom prst="ellipse">
            <a:avLst/>
          </a:prstGeom>
          <a:solidFill>
            <a:srgbClr val="1B6FB0"/>
          </a:solidFill>
          <a:ln/>
        </p:spPr>
      </p:sp>
      <p:pic>
        <p:nvPicPr>
          <p:cNvPr id="22" name="Image 2" descr="preencoded.png"/>
          <p:cNvPicPr>
            <a:picLocks noChangeAspect="1"/>
          </p:cNvPicPr>
          <p:nvPr/>
        </p:nvPicPr>
        <p:blipFill>
          <a:blip r:embed="rId5"/>
          <a:stretch>
            <a:fillRect/>
          </a:stretch>
        </p:blipFill>
        <p:spPr>
          <a:xfrm>
            <a:off x="9825228" y="2770632"/>
            <a:ext cx="585216" cy="585216"/>
          </a:xfrm>
          <a:prstGeom prst="rect">
            <a:avLst/>
          </a:prstGeom>
        </p:spPr>
      </p:pic>
      <p:sp>
        <p:nvSpPr>
          <p:cNvPr id="23" name="Text 18"/>
          <p:cNvSpPr/>
          <p:nvPr/>
        </p:nvSpPr>
        <p:spPr>
          <a:xfrm>
            <a:off x="8540496" y="3749040"/>
            <a:ext cx="3154680" cy="502920"/>
          </a:xfrm>
          <a:prstGeom prst="rect">
            <a:avLst/>
          </a:prstGeom>
          <a:noFill/>
          <a:ln/>
        </p:spPr>
        <p:txBody>
          <a:bodyPr wrap="square" rtlCol="0" anchor="ctr"/>
          <a:lstStyle/>
          <a:p>
            <a:pPr marL="0" indent="0" algn="ctr">
              <a:buNone/>
            </a:pPr>
            <a:r>
              <a:rPr lang="en-US" sz="2000" b="1" dirty="0">
                <a:solidFill>
                  <a:srgbClr val="1B6FB0"/>
                </a:solidFill>
                <a:latin typeface="맑은 고딕" pitchFamily="34" charset="0"/>
                <a:ea typeface="맑은 고딕" pitchFamily="34" charset="-122"/>
                <a:cs typeface="맑은 고딕" pitchFamily="34" charset="-120"/>
              </a:rPr>
              <a:t>유연한 성장</a:t>
            </a:r>
            <a:endParaRPr lang="en-US" sz="2000" dirty="0"/>
          </a:p>
        </p:txBody>
      </p:sp>
      <p:sp>
        <p:nvSpPr>
          <p:cNvPr id="24" name="Text 19"/>
          <p:cNvSpPr/>
          <p:nvPr/>
        </p:nvSpPr>
        <p:spPr>
          <a:xfrm>
            <a:off x="8540496" y="4315968"/>
            <a:ext cx="3154680" cy="411480"/>
          </a:xfrm>
          <a:prstGeom prst="rect">
            <a:avLst/>
          </a:prstGeom>
          <a:noFill/>
          <a:ln/>
        </p:spPr>
        <p:txBody>
          <a:bodyPr wrap="square" rtlCol="0" anchor="ctr"/>
          <a:lstStyle/>
          <a:p>
            <a:pPr marL="0" indent="0" algn="ctr">
              <a:buNone/>
            </a:pPr>
            <a:r>
              <a:rPr lang="en-US" sz="1450" b="1" dirty="0">
                <a:solidFill>
                  <a:srgbClr val="1E293B"/>
                </a:solidFill>
                <a:latin typeface="맑은 고딕" pitchFamily="34" charset="0"/>
                <a:ea typeface="맑은 고딕" pitchFamily="34" charset="-122"/>
                <a:cs typeface="맑은 고딕" pitchFamily="34" charset="-120"/>
              </a:rPr>
              <a:t>확장성 · 미래 대응</a:t>
            </a:r>
            <a:endParaRPr lang="en-US" sz="1450" dirty="0"/>
          </a:p>
        </p:txBody>
      </p:sp>
      <p:sp>
        <p:nvSpPr>
          <p:cNvPr id="25" name="Text 20"/>
          <p:cNvSpPr/>
          <p:nvPr/>
        </p:nvSpPr>
        <p:spPr>
          <a:xfrm>
            <a:off x="8631936" y="4800600"/>
            <a:ext cx="2971800" cy="1097280"/>
          </a:xfrm>
          <a:prstGeom prst="rect">
            <a:avLst/>
          </a:prstGeom>
          <a:noFill/>
          <a:ln/>
        </p:spPr>
        <p:txBody>
          <a:bodyPr wrap="square" rtlCol="0" anchor="ctr"/>
          <a:lstStyle/>
          <a:p>
            <a:pPr marL="0" indent="0" algn="ctr">
              <a:lnSpc>
                <a:spcPct val="120000"/>
              </a:lnSpc>
              <a:buNone/>
            </a:pPr>
            <a:r>
              <a:rPr lang="en-US" sz="1250" dirty="0">
                <a:solidFill>
                  <a:srgbClr val="5B6B85"/>
                </a:solidFill>
                <a:latin typeface="맑은 고딕" pitchFamily="34" charset="0"/>
                <a:ea typeface="맑은 고딕" pitchFamily="34" charset="-122"/>
                <a:cs typeface="맑은 고딕" pitchFamily="34" charset="-120"/>
              </a:rPr>
              <a:t>새 업무를 모듈 추가로 빠르게 흡수 → 사업 변화에 신속 대응</a:t>
            </a:r>
            <a:endParaRPr lang="en-US" sz="1250" dirty="0"/>
          </a:p>
        </p:txBody>
      </p:sp>
      <p:sp>
        <p:nvSpPr>
          <p:cNvPr id="27" name="Text 21"/>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MVIMS 프레임워크 · Core 기반 시스템</a:t>
            </a:r>
            <a:endParaRPr lang="en-US" sz="900" dirty="0"/>
          </a:p>
        </p:txBody>
      </p:sp>
      <p:sp>
        <p:nvSpPr>
          <p:cNvPr id="28" name="Text 22"/>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F45"/>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4264F"/>
          </a:solidFill>
          <a:ln/>
        </p:spPr>
      </p:sp>
      <p:sp>
        <p:nvSpPr>
          <p:cNvPr id="3" name="Shape 1"/>
          <p:cNvSpPr/>
          <p:nvPr/>
        </p:nvSpPr>
        <p:spPr>
          <a:xfrm>
            <a:off x="9601200" y="3657600"/>
            <a:ext cx="4572000" cy="4572000"/>
          </a:xfrm>
          <a:prstGeom prst="ellipse">
            <a:avLst/>
          </a:prstGeom>
          <a:solidFill>
            <a:srgbClr val="1D4ED8">
              <a:alpha val="20000"/>
            </a:srgbClr>
          </a:solidFill>
          <a:ln/>
        </p:spPr>
      </p:sp>
      <p:sp>
        <p:nvSpPr>
          <p:cNvPr id="4" name="Shape 2"/>
          <p:cNvSpPr/>
          <p:nvPr/>
        </p:nvSpPr>
        <p:spPr>
          <a:xfrm>
            <a:off x="548640" y="1691640"/>
            <a:ext cx="566928" cy="91440"/>
          </a:xfrm>
          <a:prstGeom prst="rect">
            <a:avLst/>
          </a:prstGeom>
          <a:solidFill>
            <a:srgbClr val="F4B740"/>
          </a:solidFill>
          <a:ln/>
        </p:spPr>
      </p:sp>
      <p:sp>
        <p:nvSpPr>
          <p:cNvPr id="5" name="Text 3"/>
          <p:cNvSpPr/>
          <p:nvPr/>
        </p:nvSpPr>
        <p:spPr>
          <a:xfrm>
            <a:off x="548640" y="1188720"/>
            <a:ext cx="5486400" cy="365760"/>
          </a:xfrm>
          <a:prstGeom prst="rect">
            <a:avLst/>
          </a:prstGeom>
          <a:noFill/>
          <a:ln/>
        </p:spPr>
        <p:txBody>
          <a:bodyPr wrap="square" rtlCol="0" anchor="ctr"/>
          <a:lstStyle/>
          <a:p>
            <a:pPr marL="0" indent="0">
              <a:buNone/>
            </a:pPr>
            <a:r>
              <a:rPr lang="en-US" sz="1300" b="1" kern="0" spc="200" dirty="0">
                <a:solidFill>
                  <a:srgbClr val="3B82F6"/>
                </a:solidFill>
                <a:latin typeface="맑은 고딕" pitchFamily="34" charset="0"/>
                <a:ea typeface="맑은 고딕" pitchFamily="34" charset="-122"/>
                <a:cs typeface="맑은 고딕" pitchFamily="34" charset="-120"/>
              </a:rPr>
              <a:t>정리하며</a:t>
            </a:r>
            <a:endParaRPr lang="en-US" sz="1300" dirty="0"/>
          </a:p>
        </p:txBody>
      </p:sp>
      <p:sp>
        <p:nvSpPr>
          <p:cNvPr id="6" name="Text 4"/>
          <p:cNvSpPr/>
          <p:nvPr/>
        </p:nvSpPr>
        <p:spPr>
          <a:xfrm>
            <a:off x="548640" y="1874520"/>
            <a:ext cx="10972800" cy="1554480"/>
          </a:xfrm>
          <a:prstGeom prst="rect">
            <a:avLst/>
          </a:prstGeom>
          <a:noFill/>
          <a:ln/>
        </p:spPr>
        <p:txBody>
          <a:bodyPr wrap="square" rtlCol="0" anchor="ctr"/>
          <a:lstStyle/>
          <a:p>
            <a:pPr marL="0" indent="0">
              <a:lnSpc>
                <a:spcPct val="110000"/>
              </a:lnSpc>
              <a:buNone/>
            </a:pPr>
            <a:r>
              <a:rPr lang="en-US" sz="3800" b="1" dirty="0">
                <a:solidFill>
                  <a:srgbClr val="FFFFFF"/>
                </a:solidFill>
                <a:latin typeface="맑은 고딕" pitchFamily="34" charset="0"/>
                <a:ea typeface="맑은 고딕" pitchFamily="34" charset="-122"/>
                <a:cs typeface="맑은 고딕" pitchFamily="34" charset="-120"/>
              </a:rPr>
              <a:t>하나의 토대로,
</a:t>
            </a:r>
            <a:r>
              <a:rPr lang="en-US" sz="3800" b="1" dirty="0">
                <a:solidFill>
                  <a:srgbClr val="F4B740"/>
                </a:solidFill>
                <a:latin typeface="맑은 고딕" pitchFamily="34" charset="0"/>
                <a:ea typeface="맑은 고딕" pitchFamily="34" charset="-122"/>
                <a:cs typeface="맑은 고딕" pitchFamily="34" charset="-120"/>
              </a:rPr>
              <a:t>더 빠르고 · 안전하고 · 멀리</a:t>
            </a:r>
            <a:endParaRPr lang="en-US" sz="3800" dirty="0"/>
          </a:p>
        </p:txBody>
      </p:sp>
      <p:sp>
        <p:nvSpPr>
          <p:cNvPr id="7" name="Text 5"/>
          <p:cNvSpPr/>
          <p:nvPr/>
        </p:nvSpPr>
        <p:spPr>
          <a:xfrm>
            <a:off x="548640" y="3611880"/>
            <a:ext cx="10607040" cy="1280160"/>
          </a:xfrm>
          <a:prstGeom prst="rect">
            <a:avLst/>
          </a:prstGeom>
          <a:noFill/>
          <a:ln/>
        </p:spPr>
        <p:txBody>
          <a:bodyPr wrap="square" rtlCol="0" anchor="ctr"/>
          <a:lstStyle/>
          <a:p>
            <a:pPr marL="0" indent="0">
              <a:lnSpc>
                <a:spcPct val="135000"/>
              </a:lnSpc>
              <a:buNone/>
            </a:pPr>
            <a:r>
              <a:rPr lang="en-US" sz="1500" dirty="0">
                <a:solidFill>
                  <a:srgbClr val="DBE7FB"/>
                </a:solidFill>
                <a:latin typeface="맑은 고딕" pitchFamily="34" charset="0"/>
                <a:ea typeface="맑은 고딕" pitchFamily="34" charset="-122"/>
                <a:cs typeface="맑은 고딕" pitchFamily="34" charset="-120"/>
              </a:rPr>
              <a:t>MVIMS 프레임워크는 Core라는 공용 토대 위에 업무 서비스를 쌓는 구조입니다. 보안과 공통 기능은 한 번만 만들어 모두가 함께 쓰고, 새로운 업무는 모듈 추가만으로 흡수합니다. 이는 곧 더 낮은 비용, 더 높은 품질, 그리고 더 유연한 성장으로 이어집니다.</a:t>
            </a:r>
            <a:endParaRPr lang="en-US" sz="1500" dirty="0"/>
          </a:p>
        </p:txBody>
      </p:sp>
      <p:sp>
        <p:nvSpPr>
          <p:cNvPr id="8" name="Shape 6"/>
          <p:cNvSpPr/>
          <p:nvPr/>
        </p:nvSpPr>
        <p:spPr>
          <a:xfrm>
            <a:off x="548640" y="5212080"/>
            <a:ext cx="2377440" cy="457200"/>
          </a:xfrm>
          <a:prstGeom prst="roundRect">
            <a:avLst>
              <a:gd name="adj" fmla="val 50000"/>
            </a:avLst>
          </a:prstGeom>
          <a:solidFill>
            <a:srgbClr val="14264F"/>
          </a:solidFill>
          <a:ln w="12700">
            <a:solidFill>
              <a:srgbClr val="3B82F6"/>
            </a:solidFill>
            <a:prstDash val="solid"/>
          </a:ln>
        </p:spPr>
      </p:sp>
      <p:sp>
        <p:nvSpPr>
          <p:cNvPr id="9" name="Text 7"/>
          <p:cNvSpPr/>
          <p:nvPr/>
        </p:nvSpPr>
        <p:spPr>
          <a:xfrm>
            <a:off x="548640" y="5212080"/>
            <a:ext cx="2377440" cy="457200"/>
          </a:xfrm>
          <a:prstGeom prst="rect">
            <a:avLst/>
          </a:prstGeom>
          <a:noFill/>
          <a:ln/>
        </p:spPr>
        <p:txBody>
          <a:bodyPr wrap="square" rtlCol="0" anchor="ctr"/>
          <a:lstStyle/>
          <a:p>
            <a:pPr marL="0" indent="0" algn="ctr">
              <a:buNone/>
            </a:pPr>
            <a:r>
              <a:rPr lang="en-US" sz="1200" dirty="0">
                <a:solidFill>
                  <a:srgbClr val="DBE7FB"/>
                </a:solidFill>
                <a:latin typeface="맑은 고딕" pitchFamily="34" charset="0"/>
                <a:ea typeface="맑은 고딕" pitchFamily="34" charset="-122"/>
                <a:cs typeface="맑은 고딕" pitchFamily="34" charset="-120"/>
              </a:rPr>
              <a:t>개발 효율·비용 절감</a:t>
            </a:r>
            <a:endParaRPr lang="en-US" sz="1200" dirty="0"/>
          </a:p>
        </p:txBody>
      </p:sp>
      <p:sp>
        <p:nvSpPr>
          <p:cNvPr id="10" name="Shape 8"/>
          <p:cNvSpPr/>
          <p:nvPr/>
        </p:nvSpPr>
        <p:spPr>
          <a:xfrm>
            <a:off x="3127248" y="5212080"/>
            <a:ext cx="1463040" cy="457200"/>
          </a:xfrm>
          <a:prstGeom prst="roundRect">
            <a:avLst>
              <a:gd name="adj" fmla="val 50000"/>
            </a:avLst>
          </a:prstGeom>
          <a:solidFill>
            <a:srgbClr val="14264F"/>
          </a:solidFill>
          <a:ln w="12700">
            <a:solidFill>
              <a:srgbClr val="3B82F6"/>
            </a:solidFill>
            <a:prstDash val="solid"/>
          </a:ln>
        </p:spPr>
      </p:sp>
      <p:sp>
        <p:nvSpPr>
          <p:cNvPr id="11" name="Text 9"/>
          <p:cNvSpPr/>
          <p:nvPr/>
        </p:nvSpPr>
        <p:spPr>
          <a:xfrm>
            <a:off x="3127248" y="5212080"/>
            <a:ext cx="1463040" cy="457200"/>
          </a:xfrm>
          <a:prstGeom prst="rect">
            <a:avLst/>
          </a:prstGeom>
          <a:noFill/>
          <a:ln/>
        </p:spPr>
        <p:txBody>
          <a:bodyPr wrap="square" rtlCol="0" anchor="ctr"/>
          <a:lstStyle/>
          <a:p>
            <a:pPr marL="0" indent="0" algn="ctr">
              <a:buNone/>
            </a:pPr>
            <a:r>
              <a:rPr lang="en-US" sz="1200" dirty="0">
                <a:solidFill>
                  <a:srgbClr val="DBE7FB"/>
                </a:solidFill>
                <a:latin typeface="맑은 고딕" pitchFamily="34" charset="0"/>
                <a:ea typeface="맑은 고딕" pitchFamily="34" charset="-122"/>
                <a:cs typeface="맑은 고딕" pitchFamily="34" charset="-120"/>
              </a:rPr>
              <a:t>보안·안정성</a:t>
            </a:r>
            <a:endParaRPr lang="en-US" sz="1200" dirty="0"/>
          </a:p>
        </p:txBody>
      </p:sp>
      <p:sp>
        <p:nvSpPr>
          <p:cNvPr id="12" name="Shape 10"/>
          <p:cNvSpPr/>
          <p:nvPr/>
        </p:nvSpPr>
        <p:spPr>
          <a:xfrm>
            <a:off x="4791456" y="5212080"/>
            <a:ext cx="1463040" cy="457200"/>
          </a:xfrm>
          <a:prstGeom prst="roundRect">
            <a:avLst>
              <a:gd name="adj" fmla="val 50000"/>
            </a:avLst>
          </a:prstGeom>
          <a:solidFill>
            <a:srgbClr val="14264F"/>
          </a:solidFill>
          <a:ln w="12700">
            <a:solidFill>
              <a:srgbClr val="3B82F6"/>
            </a:solidFill>
            <a:prstDash val="solid"/>
          </a:ln>
        </p:spPr>
      </p:sp>
      <p:sp>
        <p:nvSpPr>
          <p:cNvPr id="13" name="Text 11"/>
          <p:cNvSpPr/>
          <p:nvPr/>
        </p:nvSpPr>
        <p:spPr>
          <a:xfrm>
            <a:off x="4791456" y="5212080"/>
            <a:ext cx="1463040" cy="457200"/>
          </a:xfrm>
          <a:prstGeom prst="rect">
            <a:avLst/>
          </a:prstGeom>
          <a:noFill/>
          <a:ln/>
        </p:spPr>
        <p:txBody>
          <a:bodyPr wrap="square" rtlCol="0" anchor="ctr"/>
          <a:lstStyle/>
          <a:p>
            <a:pPr marL="0" indent="0" algn="ctr">
              <a:buNone/>
            </a:pPr>
            <a:r>
              <a:rPr lang="en-US" sz="1200" dirty="0">
                <a:solidFill>
                  <a:srgbClr val="DBE7FB"/>
                </a:solidFill>
                <a:latin typeface="맑은 고딕" pitchFamily="34" charset="0"/>
                <a:ea typeface="맑은 고딕" pitchFamily="34" charset="-122"/>
                <a:cs typeface="맑은 고딕" pitchFamily="34" charset="-120"/>
              </a:rPr>
              <a:t>품질·표준화</a:t>
            </a:r>
            <a:endParaRPr lang="en-US" sz="1200" dirty="0"/>
          </a:p>
        </p:txBody>
      </p:sp>
      <p:sp>
        <p:nvSpPr>
          <p:cNvPr id="14" name="Shape 12"/>
          <p:cNvSpPr/>
          <p:nvPr/>
        </p:nvSpPr>
        <p:spPr>
          <a:xfrm>
            <a:off x="6455664" y="5212080"/>
            <a:ext cx="2011680" cy="457200"/>
          </a:xfrm>
          <a:prstGeom prst="roundRect">
            <a:avLst>
              <a:gd name="adj" fmla="val 50000"/>
            </a:avLst>
          </a:prstGeom>
          <a:solidFill>
            <a:srgbClr val="14264F"/>
          </a:solidFill>
          <a:ln w="12700">
            <a:solidFill>
              <a:srgbClr val="3B82F6"/>
            </a:solidFill>
            <a:prstDash val="solid"/>
          </a:ln>
        </p:spPr>
      </p:sp>
      <p:sp>
        <p:nvSpPr>
          <p:cNvPr id="15" name="Text 13"/>
          <p:cNvSpPr/>
          <p:nvPr/>
        </p:nvSpPr>
        <p:spPr>
          <a:xfrm>
            <a:off x="6455664" y="5212080"/>
            <a:ext cx="2011680" cy="457200"/>
          </a:xfrm>
          <a:prstGeom prst="rect">
            <a:avLst/>
          </a:prstGeom>
          <a:noFill/>
          <a:ln/>
        </p:spPr>
        <p:txBody>
          <a:bodyPr wrap="square" rtlCol="0" anchor="ctr"/>
          <a:lstStyle/>
          <a:p>
            <a:pPr marL="0" indent="0" algn="ctr">
              <a:buNone/>
            </a:pPr>
            <a:r>
              <a:rPr lang="en-US" sz="1200" dirty="0">
                <a:solidFill>
                  <a:srgbClr val="DBE7FB"/>
                </a:solidFill>
                <a:latin typeface="맑은 고딕" pitchFamily="34" charset="0"/>
                <a:ea typeface="맑은 고딕" pitchFamily="34" charset="-122"/>
                <a:cs typeface="맑은 고딕" pitchFamily="34" charset="-120"/>
              </a:rPr>
              <a:t>확장성·미래 대응</a:t>
            </a:r>
            <a:endParaRPr lang="en-US" sz="1200" dirty="0"/>
          </a:p>
        </p:txBody>
      </p:sp>
      <p:sp>
        <p:nvSpPr>
          <p:cNvPr id="16" name="Text 14"/>
          <p:cNvSpPr/>
          <p:nvPr/>
        </p:nvSpPr>
        <p:spPr>
          <a:xfrm>
            <a:off x="548640" y="5989320"/>
            <a:ext cx="7315200" cy="457200"/>
          </a:xfrm>
          <a:prstGeom prst="rect">
            <a:avLst/>
          </a:prstGeom>
          <a:noFill/>
          <a:ln/>
        </p:spPr>
        <p:txBody>
          <a:bodyPr wrap="square"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감사합니다.</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2343</Words>
  <Application>Microsoft Macintosh PowerPoint</Application>
  <PresentationFormat>와이드스크린</PresentationFormat>
  <Paragraphs>287</Paragraphs>
  <Slides>15</Slides>
  <Notes>15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15</vt:i4>
      </vt:variant>
    </vt:vector>
  </HeadingPairs>
  <TitlesOfParts>
    <vt:vector size="20" baseType="lpstr">
      <vt:lpstr>맑은 고딕</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MVIMS 프레임워크 소개</dc:title>
  <dc:subject>PptxGenJS Presentation</dc:subject>
  <dc:creator>MVIMS Team</dc:creator>
  <cp:lastModifiedBy>Microsoft Office User</cp:lastModifiedBy>
  <cp:revision>5</cp:revision>
  <cp:lastPrinted>2026-06-16T05:58:44Z</cp:lastPrinted>
  <dcterms:created xsi:type="dcterms:W3CDTF">2026-06-16T05:39:42Z</dcterms:created>
  <dcterms:modified xsi:type="dcterms:W3CDTF">2026-06-16T05:58:51Z</dcterms:modified>
</cp:coreProperties>
</file>