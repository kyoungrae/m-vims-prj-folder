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85"/>
  </p:normalViewPr>
  <p:slideViewPr>
    <p:cSldViewPr snapToGrid="0" snapToObjects="1">
      <p:cViewPr varScale="1">
        <p:scale>
          <a:sx n="133" d="100"/>
          <a:sy n="133" d="100"/>
        </p:scale>
        <p:origin x="14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01369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오늘은 저희가 운영하는 VIMS, 차량 검사 관리 시스템의 기술적 뼈대인 '프레임워크'를 보고드리겠습니다.
어려운 기술 용어보다는, 이 구조가 회사에 어떤 이익을 주는지에 초점을 맞추겠습니다. 핵심은 세 가지입니다. 개발 효율과 비용 절감, 보안과 안정성, 그리고 확장성. 이 세 가지를 기억하시면서 들어주시면 됩니다.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말씀드릴 순서입니다. 먼저 시스템이 무엇인지 한눈에 보고, 그 중심인 'Core'의 역할을 설명드립니다. 이어서 보안과 안정성, 각 업무 모듈과 파일 관리, 확장성, 그리고 마지막으로 회사가 얻는 실질적 효과를 정리하겠습니다.
전체적으로 '하나를 잘 만들어 여러 곳이 함께 쓴다'는 한 가지 흐름으로 이어집니다.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VIMS를 쉽게 비유하면 '잘 지어진 건물'입니다. 튼튼한 기초와 골조가 'Core'이고, 그 위에 로그인·접수·검사·관리 같은 사무실, 즉 각 업무 서비스가 들어섭니다.
중요한 점은, 전기나 수도처럼 모든 사무실이 공통으로 쓰는 것 — 보안, 데이터 처리 같은 기능을 건물 전체가 함께 쓴다는 겁니다. 기초가 튼튼하니 새 사무실을 올리기도 쉽습니다.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시스템의 가장 중요한 개념입니다. 'Core'는 모든 서비스의 공용 엔진입니다. 보안·데이터 처리·기록 같은 공통 기능을 Core에 딱 한 번만 만들어두면, 6개 서비스가 그대로 가져다 씁니다.
오른쪽을 보시면, 예전 방식은 서비스마다 따로 만들어 제각각이고 고칠 때 일일이 손봐야 했습니다. VIMS 방식은 한 곳만 고치면 전체에 반영됩니다. 이것이 비용과 품질의 차이를 만듭니다.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구조입니다. 사용자가 접속하면 먼저 'Gateway'라는 관문을 통과합니다. 여기서 신원을 확인한 뒤 알맞은 업무 서비스로 연결됩니다.
로그인, 파일관리, 시스템관리, 접수, 검사 등 여섯 개 서비스가 각자 일을 하지만, 화면 아래쪽 'Core 라이브러리'라는 공통 토대를 모두 함께 사용합니다. 복잡해 보여도 핵심은 '관문 하나, 공통 토대 하나' 입니다.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Core는 구체적으로 무슨 일을 하느냐. 크게 네 가지입니다.
첫째 인증과 보안, 즉 아무나 못 들어오게 막는 역할. 둘째 조회·등록·수정·삭제 같은 공통 업무 기능. 셋째 데이터를 자동으로 정리해주는 처리. 넷째 누가 무엇을 했는지 남기는 기록과 운영 관리입니다.
다음 장부터 이 네 가지를 하나씩 보겠습니다.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보안입니다. 로그인을 하면 위·변조가 불가능한 '디지털 출입증'을 발급하고, 요청이 올 때마다 이 출입증을 자동으로 확인합니다.
또한 권한을 일반·관리자·매니저로 나누고, 조회·등록·수정·삭제까지 세분화해 딱 필요한 만큼만 접근을 허용합니다. 비밀번호 규칙도 시스템이 강제하고, 모든 접근이 관문 한 곳을 지나므로 통제가 일원화돼 있습니다. 안심하셔도 됩니다.
(약 50초)</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보안과 연결되는 기록 기능입니다. 누군가 데이터를 등록·수정·삭제하면, 그리고 시스템에 접속하면, Core가 그 이력을 자동으로 남깁니다.
담당자가 따로 신경 쓰지 않아도 시스템이 빠짐없이 기록하기 때문에, 혹시 문제가 생겼을 때 '누가 언제 무엇을 했는지'를 즉시 확인할 수 있습니다. 사고 대응과 책임 소재 확인이 명확해진다는 점이 핵심입니다.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Core의 두 번째 역할, 공통 업무 기능입니다. 어떤 시스템이든 결국 정보를 '찾고, 넣고, 고치고, 지우는' 네 가지가 기본입니다. Core가 이 표준 골격을 미리 제공합니다.
그래서 새 서비스를 만들 때 처음부터 짜지 않고 가져다 쓰니 개발이 빨라지고, 모두 같은 방식으로 동작하니 일관성이 높고 오류가 줄며, 결국 중복 개발이 사라져 비용이 절감됩니다.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역할, 데이터 자동 정리입니다. 표를 보시면 왼쪽은 사람이 입력한 원본, 오른쪽은 시스템이 자동으로 바꿔준 결과입니다.
주민번호·전화번호에 하이픈을 넣고, 금액에 콤마를 찍고, 날짜 형식을 맞추는 일을 사람이 일일이 하지 않아도 됩니다. 이런 자잘한 작업이 사실 실수와 데이터 불일치의 주된 원인인데, Core가 알아서 통일해주니 품질이 올라갑니다.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실제 업무 모듈입니다. 업무 성격에 따라 여섯 개로 나눴습니다. 관문 역할의 Gateway, 로그인, 파일관리 FMS, 시스템관리, 접수, 그리고 차량 검사입니다.
나눠 놓은 이유는, 한 곳에 문제가 생겨도 전체가 멈추지 않고, 각각을 따로 개선할 수 있기 때문입니다. 그러면서도 앞서 말씀드린 Core는 모두가 똑같이 공유합니다.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모듈 중 파일관리시스템, FMS를 조금 더 보겠습니다. 문서나 엑셀 같은 파일을 받아서 검증·처리하고, 체계적으로 보관했다가 필요할 때 다시 꺼내 쓰는 흐름입니다.
특히 엑셀을 올리면 대량 데이터를 한 번에 읽어 처리할 수 있어, 손으로 하나씩 입력하는 수고를 덜어줍니다. 파일 처리를 별도 서비스로 분리해 안정적이고, 보안과 기록 기능은 역시 Core를 그대로 씁니다.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미래는 어떠냐. 새로운 업무가 생기면 기존 시스템을 건드리지 않고 모듈만 새로 끼워 넣으면 됩니다. 위험 없이 확장할 수 있습니다.
새 모듈도 보안·공통기능을 Core에서 바로 물려받으니 빠르게, 안정적으로 출시됩니다. 또 데이터가 쌓이는 표는 매일 새벽 시스템이 자동으로 정비해, 시간이 지나도 속도가 느려지지 않습니다. 한마디로 '커져도 흔들리지 않는' 구조입니다.
(약 45초)</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이 기술적 선택이 회사에 주는 효과는 세 가지입니다.
첫째 개발 효율과 비용 절감 — 공통 기능을 한 번만 만들어 재사용하니 시간과 인건비가 줄어듭니다. 둘째 품질과 표준화 — 모든 서비스가 같은 규칙으로 동작해 오류가 적고 유지보수가 쉽습니다. 셋째 확장성 — 새 업무를 빠르게 흡수해 사업 변화에 신속히 대응합니다.
(약 40초)</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마무리하겠습니다. VIMS는 'Core'라는 하나의 공용 토대 위에 업무 서비스를 쌓는 구조입니다. 보안과 공통 기능은 한 번 만들어 모두가 함께 쓰고, 새 업무는 모듈 추가만으로 흡수합니다.
이것이 곧 더 낮은 비용, 더 높은 품질, 더 유연한 성장으로 이어집니다. 이상으로 발표를 마치겠습니다. 질문 있으시면 편하게 말씀해 주십시오. 감사합니다.
(약 30초)</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9"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8869680" y="-1920240"/>
            <a:ext cx="5120640" cy="5120640"/>
          </a:xfrm>
          <a:prstGeom prst="ellipse">
            <a:avLst/>
          </a:prstGeom>
          <a:solidFill>
            <a:srgbClr val="14264F"/>
          </a:solidFill>
          <a:ln/>
        </p:spPr>
      </p:sp>
      <p:sp>
        <p:nvSpPr>
          <p:cNvPr id="3" name="Shape 1"/>
          <p:cNvSpPr/>
          <p:nvPr/>
        </p:nvSpPr>
        <p:spPr>
          <a:xfrm>
            <a:off x="10149840" y="3840480"/>
            <a:ext cx="4023360" cy="4023360"/>
          </a:xfrm>
          <a:prstGeom prst="ellipse">
            <a:avLst/>
          </a:prstGeom>
          <a:solidFill>
            <a:srgbClr val="1D4ED8">
              <a:alpha val="22000"/>
            </a:srgbClr>
          </a:solidFill>
          <a:ln/>
        </p:spPr>
      </p:sp>
      <p:sp>
        <p:nvSpPr>
          <p:cNvPr id="4" name="Shape 2"/>
          <p:cNvSpPr/>
          <p:nvPr/>
        </p:nvSpPr>
        <p:spPr>
          <a:xfrm>
            <a:off x="502920" y="1874520"/>
            <a:ext cx="566928" cy="91440"/>
          </a:xfrm>
          <a:prstGeom prst="rect">
            <a:avLst/>
          </a:prstGeom>
          <a:solidFill>
            <a:srgbClr val="F4B740"/>
          </a:solidFill>
          <a:ln/>
        </p:spPr>
      </p:sp>
      <p:sp>
        <p:nvSpPr>
          <p:cNvPr id="5" name="Text 3"/>
          <p:cNvSpPr/>
          <p:nvPr/>
        </p:nvSpPr>
        <p:spPr>
          <a:xfrm>
            <a:off x="502920" y="1371600"/>
            <a:ext cx="7315200" cy="365760"/>
          </a:xfrm>
          <a:prstGeom prst="rect">
            <a:avLst/>
          </a:prstGeom>
          <a:noFill/>
          <a:ln/>
        </p:spPr>
        <p:txBody>
          <a:bodyPr wrap="square" rtlCol="0" anchor="ctr"/>
          <a:lstStyle/>
          <a:p>
            <a:pPr marL="0" indent="0">
              <a:buNone/>
            </a:pPr>
            <a:r>
              <a:rPr lang="en-US" sz="1300" b="1" kern="0" spc="200" dirty="0">
                <a:solidFill>
                  <a:srgbClr val="3B82F6"/>
                </a:solidFill>
                <a:latin typeface="맑은 고딕" pitchFamily="34" charset="0"/>
                <a:ea typeface="맑은 고딕" pitchFamily="34" charset="-122"/>
                <a:cs typeface="맑은 고딕" pitchFamily="34" charset="-120"/>
              </a:rPr>
              <a:t>내부 기술 발표 자료</a:t>
            </a:r>
            <a:endParaRPr lang="en-US" sz="1300" dirty="0"/>
          </a:p>
        </p:txBody>
      </p:sp>
      <p:sp>
        <p:nvSpPr>
          <p:cNvPr id="6" name="Text 4"/>
          <p:cNvSpPr/>
          <p:nvPr/>
        </p:nvSpPr>
        <p:spPr>
          <a:xfrm>
            <a:off x="457200" y="2057400"/>
            <a:ext cx="10972800" cy="914400"/>
          </a:xfrm>
          <a:prstGeom prst="rect">
            <a:avLst/>
          </a:prstGeom>
          <a:noFill/>
          <a:ln/>
        </p:spPr>
        <p:txBody>
          <a:bodyPr wrap="square" rtlCol="0" anchor="ctr"/>
          <a:lstStyle/>
          <a:p>
            <a:pPr marL="0" indent="0">
              <a:buNone/>
            </a:pPr>
            <a:r>
              <a:rPr lang="en-US" sz="4800" b="1" dirty="0">
                <a:solidFill>
                  <a:srgbClr val="FFFFFF"/>
                </a:solidFill>
                <a:latin typeface="맑은 고딕" pitchFamily="34" charset="0"/>
                <a:ea typeface="맑은 고딕" pitchFamily="34" charset="-122"/>
                <a:cs typeface="맑은 고딕" pitchFamily="34" charset="-120"/>
              </a:rPr>
              <a:t>VIMS 통합 프레임워크</a:t>
            </a:r>
            <a:endParaRPr lang="en-US" sz="4800" dirty="0"/>
          </a:p>
        </p:txBody>
      </p:sp>
      <p:sp>
        <p:nvSpPr>
          <p:cNvPr id="7" name="Text 5"/>
          <p:cNvSpPr/>
          <p:nvPr/>
        </p:nvSpPr>
        <p:spPr>
          <a:xfrm>
            <a:off x="502920" y="3063240"/>
            <a:ext cx="10972800" cy="548640"/>
          </a:xfrm>
          <a:prstGeom prst="rect">
            <a:avLst/>
          </a:prstGeom>
          <a:noFill/>
          <a:ln/>
        </p:spPr>
        <p:txBody>
          <a:bodyPr wrap="square" rtlCol="0" anchor="ctr"/>
          <a:lstStyle/>
          <a:p>
            <a:pPr marL="0" indent="0">
              <a:buNone/>
            </a:pPr>
            <a:r>
              <a:rPr lang="en-US" sz="2400" dirty="0">
                <a:solidFill>
                  <a:srgbClr val="DBE7FB"/>
                </a:solidFill>
                <a:latin typeface="맑은 고딕" pitchFamily="34" charset="0"/>
                <a:ea typeface="맑은 고딕" pitchFamily="34" charset="-122"/>
                <a:cs typeface="맑은 고딕" pitchFamily="34" charset="-120"/>
              </a:rPr>
              <a:t>Core 라이브러리 기반의 차량 검사 관리 시스템</a:t>
            </a:r>
            <a:endParaRPr lang="en-US" sz="2400" dirty="0"/>
          </a:p>
        </p:txBody>
      </p:sp>
      <p:sp>
        <p:nvSpPr>
          <p:cNvPr id="8" name="Text 6"/>
          <p:cNvSpPr/>
          <p:nvPr/>
        </p:nvSpPr>
        <p:spPr>
          <a:xfrm>
            <a:off x="521208" y="3886200"/>
            <a:ext cx="10515600" cy="457200"/>
          </a:xfrm>
          <a:prstGeom prst="rect">
            <a:avLst/>
          </a:prstGeom>
          <a:noFill/>
          <a:ln/>
        </p:spPr>
        <p:txBody>
          <a:bodyPr wrap="square" rtlCol="0" anchor="ctr"/>
          <a:lstStyle/>
          <a:p>
            <a:pPr marL="0" indent="0">
              <a:buNone/>
            </a:pPr>
            <a:r>
              <a:rPr lang="en-US" sz="1500" dirty="0">
                <a:solidFill>
                  <a:srgbClr val="B9C9E6"/>
                </a:solidFill>
                <a:latin typeface="맑은 고딕" pitchFamily="34" charset="0"/>
                <a:ea typeface="맑은 고딕" pitchFamily="34" charset="-122"/>
                <a:cs typeface="맑은 고딕" pitchFamily="34" charset="-120"/>
              </a:rPr>
              <a:t>하나의 토대(Core)로 모든 서비스를 — 더 빠르게, 더 안전하게, 더 일관되게</a:t>
            </a:r>
            <a:endParaRPr lang="en-US" sz="1500" dirty="0"/>
          </a:p>
        </p:txBody>
      </p:sp>
      <p:sp>
        <p:nvSpPr>
          <p:cNvPr id="9" name="Shape 7"/>
          <p:cNvSpPr/>
          <p:nvPr/>
        </p:nvSpPr>
        <p:spPr>
          <a:xfrm>
            <a:off x="502920" y="4892040"/>
            <a:ext cx="2478024" cy="457200"/>
          </a:xfrm>
          <a:prstGeom prst="roundRect">
            <a:avLst>
              <a:gd name="adj" fmla="val 50000"/>
            </a:avLst>
          </a:prstGeom>
          <a:solidFill>
            <a:srgbClr val="14264F"/>
          </a:solidFill>
          <a:ln w="12700">
            <a:solidFill>
              <a:srgbClr val="3B82F6"/>
            </a:solidFill>
            <a:prstDash val="solid"/>
          </a:ln>
        </p:spPr>
      </p:sp>
      <p:sp>
        <p:nvSpPr>
          <p:cNvPr id="10" name="Text 8"/>
          <p:cNvSpPr/>
          <p:nvPr/>
        </p:nvSpPr>
        <p:spPr>
          <a:xfrm>
            <a:off x="502920" y="4892040"/>
            <a:ext cx="2478024" cy="457200"/>
          </a:xfrm>
          <a:prstGeom prst="rect">
            <a:avLst/>
          </a:prstGeom>
          <a:noFill/>
          <a:ln/>
        </p:spPr>
        <p:txBody>
          <a:bodyPr wrap="square" rtlCol="0" anchor="ctr"/>
          <a:lstStyle/>
          <a:p>
            <a:pPr marL="0" indent="0" algn="ctr">
              <a:buNone/>
            </a:pPr>
            <a:r>
              <a:rPr lang="en-US" sz="1250" dirty="0">
                <a:solidFill>
                  <a:srgbClr val="DBE7FB"/>
                </a:solidFill>
                <a:latin typeface="맑은 고딕" pitchFamily="34" charset="0"/>
                <a:ea typeface="맑은 고딕" pitchFamily="34" charset="-122"/>
                <a:cs typeface="맑은 고딕" pitchFamily="34" charset="-120"/>
              </a:rPr>
              <a:t>개발 효율·비용 절감</a:t>
            </a:r>
            <a:endParaRPr lang="en-US" sz="1250" dirty="0"/>
          </a:p>
        </p:txBody>
      </p:sp>
      <p:sp>
        <p:nvSpPr>
          <p:cNvPr id="11" name="Shape 9"/>
          <p:cNvSpPr/>
          <p:nvPr/>
        </p:nvSpPr>
        <p:spPr>
          <a:xfrm>
            <a:off x="3209544" y="4892040"/>
            <a:ext cx="1517904" cy="457200"/>
          </a:xfrm>
          <a:prstGeom prst="roundRect">
            <a:avLst>
              <a:gd name="adj" fmla="val 50000"/>
            </a:avLst>
          </a:prstGeom>
          <a:solidFill>
            <a:srgbClr val="14264F"/>
          </a:solidFill>
          <a:ln w="12700">
            <a:solidFill>
              <a:srgbClr val="3B82F6"/>
            </a:solidFill>
            <a:prstDash val="solid"/>
          </a:ln>
        </p:spPr>
      </p:sp>
      <p:sp>
        <p:nvSpPr>
          <p:cNvPr id="12" name="Text 10"/>
          <p:cNvSpPr/>
          <p:nvPr/>
        </p:nvSpPr>
        <p:spPr>
          <a:xfrm>
            <a:off x="3209544" y="4892040"/>
            <a:ext cx="1517904" cy="457200"/>
          </a:xfrm>
          <a:prstGeom prst="rect">
            <a:avLst/>
          </a:prstGeom>
          <a:noFill/>
          <a:ln/>
        </p:spPr>
        <p:txBody>
          <a:bodyPr wrap="square" rtlCol="0" anchor="ctr"/>
          <a:lstStyle/>
          <a:p>
            <a:pPr marL="0" indent="0" algn="ctr">
              <a:buNone/>
            </a:pPr>
            <a:r>
              <a:rPr lang="en-US" sz="1250" dirty="0">
                <a:solidFill>
                  <a:srgbClr val="DBE7FB"/>
                </a:solidFill>
                <a:latin typeface="맑은 고딕" pitchFamily="34" charset="0"/>
                <a:ea typeface="맑은 고딕" pitchFamily="34" charset="-122"/>
                <a:cs typeface="맑은 고딕" pitchFamily="34" charset="-120"/>
              </a:rPr>
              <a:t>보안·안정성</a:t>
            </a:r>
            <a:endParaRPr lang="en-US" sz="1250" dirty="0"/>
          </a:p>
        </p:txBody>
      </p:sp>
      <p:sp>
        <p:nvSpPr>
          <p:cNvPr id="13" name="Shape 11"/>
          <p:cNvSpPr/>
          <p:nvPr/>
        </p:nvSpPr>
        <p:spPr>
          <a:xfrm>
            <a:off x="4956048" y="4892040"/>
            <a:ext cx="2093976" cy="457200"/>
          </a:xfrm>
          <a:prstGeom prst="roundRect">
            <a:avLst>
              <a:gd name="adj" fmla="val 50000"/>
            </a:avLst>
          </a:prstGeom>
          <a:solidFill>
            <a:srgbClr val="14264F"/>
          </a:solidFill>
          <a:ln w="12700">
            <a:solidFill>
              <a:srgbClr val="3B82F6"/>
            </a:solidFill>
            <a:prstDash val="solid"/>
          </a:ln>
        </p:spPr>
      </p:sp>
      <p:sp>
        <p:nvSpPr>
          <p:cNvPr id="14" name="Text 12"/>
          <p:cNvSpPr/>
          <p:nvPr/>
        </p:nvSpPr>
        <p:spPr>
          <a:xfrm>
            <a:off x="4956048" y="4892040"/>
            <a:ext cx="2093976" cy="457200"/>
          </a:xfrm>
          <a:prstGeom prst="rect">
            <a:avLst/>
          </a:prstGeom>
          <a:noFill/>
          <a:ln/>
        </p:spPr>
        <p:txBody>
          <a:bodyPr wrap="square" rtlCol="0" anchor="ctr"/>
          <a:lstStyle/>
          <a:p>
            <a:pPr marL="0" indent="0" algn="ctr">
              <a:buNone/>
            </a:pPr>
            <a:r>
              <a:rPr lang="en-US" sz="1250" dirty="0">
                <a:solidFill>
                  <a:srgbClr val="DBE7FB"/>
                </a:solidFill>
                <a:latin typeface="맑은 고딕" pitchFamily="34" charset="0"/>
                <a:ea typeface="맑은 고딕" pitchFamily="34" charset="-122"/>
                <a:cs typeface="맑은 고딕" pitchFamily="34" charset="-120"/>
              </a:rPr>
              <a:t>확장성·미래 대응</a:t>
            </a:r>
            <a:endParaRPr lang="en-US" sz="1250" dirty="0"/>
          </a:p>
        </p:txBody>
      </p:sp>
      <p:sp>
        <p:nvSpPr>
          <p:cNvPr id="15" name="Text 13"/>
          <p:cNvSpPr/>
          <p:nvPr/>
        </p:nvSpPr>
        <p:spPr>
          <a:xfrm>
            <a:off x="502920" y="5989320"/>
            <a:ext cx="10058400" cy="365760"/>
          </a:xfrm>
          <a:prstGeom prst="rect">
            <a:avLst/>
          </a:prstGeom>
          <a:noFill/>
          <a:ln/>
        </p:spPr>
        <p:txBody>
          <a:bodyPr wrap="square" rtlCol="0" anchor="ctr"/>
          <a:lstStyle/>
          <a:p>
            <a:pPr marL="0" indent="0">
              <a:buNone/>
            </a:pPr>
            <a:r>
              <a:rPr lang="en-US" sz="1200" dirty="0">
                <a:solidFill>
                  <a:srgbClr val="8FA6CC"/>
                </a:solidFill>
                <a:latin typeface="맑은 고딕" pitchFamily="34" charset="0"/>
                <a:ea typeface="맑은 고딕" pitchFamily="34" charset="-122"/>
                <a:cs typeface="맑은 고딕" pitchFamily="34" charset="-120"/>
              </a:rPr>
              <a:t>발표 대상: 사장님 · 부사장님 및 임직원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AGENDA</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오늘 말씀드릴 내용</a:t>
            </a:r>
            <a:endParaRPr lang="en-US" sz="3000" dirty="0"/>
          </a:p>
        </p:txBody>
      </p:sp>
      <p:sp>
        <p:nvSpPr>
          <p:cNvPr id="4" name="Shape 2"/>
          <p:cNvSpPr/>
          <p:nvPr/>
        </p:nvSpPr>
        <p:spPr>
          <a:xfrm>
            <a:off x="502920" y="1965960"/>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5" name="Text 3"/>
          <p:cNvSpPr/>
          <p:nvPr/>
        </p:nvSpPr>
        <p:spPr>
          <a:xfrm>
            <a:off x="731520" y="2130552"/>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01</a:t>
            </a:r>
            <a:endParaRPr lang="en-US" sz="3400" dirty="0"/>
          </a:p>
        </p:txBody>
      </p:sp>
      <p:pic>
        <p:nvPicPr>
          <p:cNvPr id="6" name="Image 0" descr="preencoded.png"/>
          <p:cNvPicPr>
            <a:picLocks noChangeAspect="1"/>
          </p:cNvPicPr>
          <p:nvPr/>
        </p:nvPicPr>
        <p:blipFill>
          <a:blip r:embed="rId3"/>
          <a:stretch>
            <a:fillRect/>
          </a:stretch>
        </p:blipFill>
        <p:spPr>
          <a:xfrm>
            <a:off x="1737360" y="2386584"/>
            <a:ext cx="457200" cy="457200"/>
          </a:xfrm>
          <a:prstGeom prst="rect">
            <a:avLst/>
          </a:prstGeom>
        </p:spPr>
      </p:pic>
      <p:sp>
        <p:nvSpPr>
          <p:cNvPr id="7" name="Text 4"/>
          <p:cNvSpPr/>
          <p:nvPr/>
        </p:nvSpPr>
        <p:spPr>
          <a:xfrm>
            <a:off x="2377440" y="2221992"/>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시스템 한눈에 보기</a:t>
            </a:r>
            <a:endParaRPr lang="en-US" sz="1600" dirty="0"/>
          </a:p>
        </p:txBody>
      </p:sp>
      <p:sp>
        <p:nvSpPr>
          <p:cNvPr id="8" name="Text 5"/>
          <p:cNvSpPr/>
          <p:nvPr/>
        </p:nvSpPr>
        <p:spPr>
          <a:xfrm>
            <a:off x="2377440" y="2642616"/>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VIMS가 무엇이고 어떻게 생겼는지</a:t>
            </a:r>
            <a:endParaRPr lang="en-US" sz="1200" dirty="0"/>
          </a:p>
        </p:txBody>
      </p:sp>
      <p:sp>
        <p:nvSpPr>
          <p:cNvPr id="9" name="Shape 6"/>
          <p:cNvSpPr/>
          <p:nvPr/>
        </p:nvSpPr>
        <p:spPr>
          <a:xfrm>
            <a:off x="6263640" y="1965960"/>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0" name="Text 7"/>
          <p:cNvSpPr/>
          <p:nvPr/>
        </p:nvSpPr>
        <p:spPr>
          <a:xfrm>
            <a:off x="6492240" y="2130552"/>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02</a:t>
            </a:r>
            <a:endParaRPr lang="en-US" sz="3400" dirty="0"/>
          </a:p>
        </p:txBody>
      </p:sp>
      <p:pic>
        <p:nvPicPr>
          <p:cNvPr id="11" name="Image 1" descr="preencoded.png"/>
          <p:cNvPicPr>
            <a:picLocks noChangeAspect="1"/>
          </p:cNvPicPr>
          <p:nvPr/>
        </p:nvPicPr>
        <p:blipFill>
          <a:blip r:embed="rId4"/>
          <a:stretch>
            <a:fillRect/>
          </a:stretch>
        </p:blipFill>
        <p:spPr>
          <a:xfrm>
            <a:off x="7498080" y="2386584"/>
            <a:ext cx="457200" cy="457200"/>
          </a:xfrm>
          <a:prstGeom prst="rect">
            <a:avLst/>
          </a:prstGeom>
        </p:spPr>
      </p:pic>
      <p:sp>
        <p:nvSpPr>
          <p:cNvPr id="12" name="Text 8"/>
          <p:cNvSpPr/>
          <p:nvPr/>
        </p:nvSpPr>
        <p:spPr>
          <a:xfrm>
            <a:off x="8138160" y="2221992"/>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Core(코어)의 역할</a:t>
            </a:r>
            <a:endParaRPr lang="en-US" sz="1600" dirty="0"/>
          </a:p>
        </p:txBody>
      </p:sp>
      <p:sp>
        <p:nvSpPr>
          <p:cNvPr id="13" name="Text 9"/>
          <p:cNvSpPr/>
          <p:nvPr/>
        </p:nvSpPr>
        <p:spPr>
          <a:xfrm>
            <a:off x="8138160" y="2642616"/>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모든 서비스가 공유하는 핵심 토대</a:t>
            </a:r>
            <a:endParaRPr lang="en-US" sz="1200" dirty="0"/>
          </a:p>
        </p:txBody>
      </p:sp>
      <p:sp>
        <p:nvSpPr>
          <p:cNvPr id="14" name="Shape 10"/>
          <p:cNvSpPr/>
          <p:nvPr/>
        </p:nvSpPr>
        <p:spPr>
          <a:xfrm>
            <a:off x="502920" y="3538728"/>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5" name="Text 11"/>
          <p:cNvSpPr/>
          <p:nvPr/>
        </p:nvSpPr>
        <p:spPr>
          <a:xfrm>
            <a:off x="731520" y="3703320"/>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03</a:t>
            </a:r>
            <a:endParaRPr lang="en-US" sz="3400" dirty="0"/>
          </a:p>
        </p:txBody>
      </p:sp>
      <p:pic>
        <p:nvPicPr>
          <p:cNvPr id="16" name="Image 2" descr="preencoded.png"/>
          <p:cNvPicPr>
            <a:picLocks noChangeAspect="1"/>
          </p:cNvPicPr>
          <p:nvPr/>
        </p:nvPicPr>
        <p:blipFill>
          <a:blip r:embed="rId5"/>
          <a:stretch>
            <a:fillRect/>
          </a:stretch>
        </p:blipFill>
        <p:spPr>
          <a:xfrm>
            <a:off x="1737360" y="3959352"/>
            <a:ext cx="457200" cy="457200"/>
          </a:xfrm>
          <a:prstGeom prst="rect">
            <a:avLst/>
          </a:prstGeom>
        </p:spPr>
      </p:pic>
      <p:sp>
        <p:nvSpPr>
          <p:cNvPr id="17" name="Text 12"/>
          <p:cNvSpPr/>
          <p:nvPr/>
        </p:nvSpPr>
        <p:spPr>
          <a:xfrm>
            <a:off x="2377440" y="3794760"/>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보안과 안정성</a:t>
            </a:r>
            <a:endParaRPr lang="en-US" sz="1600" dirty="0"/>
          </a:p>
        </p:txBody>
      </p:sp>
      <p:sp>
        <p:nvSpPr>
          <p:cNvPr id="18" name="Text 13"/>
          <p:cNvSpPr/>
          <p:nvPr/>
        </p:nvSpPr>
        <p:spPr>
          <a:xfrm>
            <a:off x="2377440" y="4215384"/>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믿고 맡길 수 있는 이유</a:t>
            </a:r>
            <a:endParaRPr lang="en-US" sz="1200" dirty="0"/>
          </a:p>
        </p:txBody>
      </p:sp>
      <p:sp>
        <p:nvSpPr>
          <p:cNvPr id="19" name="Shape 14"/>
          <p:cNvSpPr/>
          <p:nvPr/>
        </p:nvSpPr>
        <p:spPr>
          <a:xfrm>
            <a:off x="6263640" y="3538728"/>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0" name="Text 15"/>
          <p:cNvSpPr/>
          <p:nvPr/>
        </p:nvSpPr>
        <p:spPr>
          <a:xfrm>
            <a:off x="6492240" y="3703320"/>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04</a:t>
            </a:r>
            <a:endParaRPr lang="en-US" sz="3400" dirty="0"/>
          </a:p>
        </p:txBody>
      </p:sp>
      <p:pic>
        <p:nvPicPr>
          <p:cNvPr id="21" name="Image 3" descr="preencoded.png"/>
          <p:cNvPicPr>
            <a:picLocks noChangeAspect="1"/>
          </p:cNvPicPr>
          <p:nvPr/>
        </p:nvPicPr>
        <p:blipFill>
          <a:blip r:embed="rId6"/>
          <a:stretch>
            <a:fillRect/>
          </a:stretch>
        </p:blipFill>
        <p:spPr>
          <a:xfrm>
            <a:off x="7498080" y="3959352"/>
            <a:ext cx="457200" cy="457200"/>
          </a:xfrm>
          <a:prstGeom prst="rect">
            <a:avLst/>
          </a:prstGeom>
        </p:spPr>
      </p:pic>
      <p:sp>
        <p:nvSpPr>
          <p:cNvPr id="22" name="Text 16"/>
          <p:cNvSpPr/>
          <p:nvPr/>
        </p:nvSpPr>
        <p:spPr>
          <a:xfrm>
            <a:off x="8138160" y="3794760"/>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서브 모듈 · 파일 시스템</a:t>
            </a:r>
            <a:endParaRPr lang="en-US" sz="1600" dirty="0"/>
          </a:p>
        </p:txBody>
      </p:sp>
      <p:sp>
        <p:nvSpPr>
          <p:cNvPr id="23" name="Text 17"/>
          <p:cNvSpPr/>
          <p:nvPr/>
        </p:nvSpPr>
        <p:spPr>
          <a:xfrm>
            <a:off x="8138160" y="4215384"/>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각 업무 서비스와 파일 관리</a:t>
            </a:r>
            <a:endParaRPr lang="en-US" sz="1200" dirty="0"/>
          </a:p>
        </p:txBody>
      </p:sp>
      <p:sp>
        <p:nvSpPr>
          <p:cNvPr id="24" name="Shape 18"/>
          <p:cNvSpPr/>
          <p:nvPr/>
        </p:nvSpPr>
        <p:spPr>
          <a:xfrm>
            <a:off x="502920" y="5111496"/>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5" name="Text 19"/>
          <p:cNvSpPr/>
          <p:nvPr/>
        </p:nvSpPr>
        <p:spPr>
          <a:xfrm>
            <a:off x="731520" y="5276088"/>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05</a:t>
            </a:r>
            <a:endParaRPr lang="en-US" sz="3400" dirty="0"/>
          </a:p>
        </p:txBody>
      </p:sp>
      <p:pic>
        <p:nvPicPr>
          <p:cNvPr id="26" name="Image 4" descr="preencoded.png"/>
          <p:cNvPicPr>
            <a:picLocks noChangeAspect="1"/>
          </p:cNvPicPr>
          <p:nvPr/>
        </p:nvPicPr>
        <p:blipFill>
          <a:blip r:embed="rId7"/>
          <a:stretch>
            <a:fillRect/>
          </a:stretch>
        </p:blipFill>
        <p:spPr>
          <a:xfrm>
            <a:off x="1737360" y="5532120"/>
            <a:ext cx="457200" cy="457200"/>
          </a:xfrm>
          <a:prstGeom prst="rect">
            <a:avLst/>
          </a:prstGeom>
        </p:spPr>
      </p:pic>
      <p:sp>
        <p:nvSpPr>
          <p:cNvPr id="27" name="Text 20"/>
          <p:cNvSpPr/>
          <p:nvPr/>
        </p:nvSpPr>
        <p:spPr>
          <a:xfrm>
            <a:off x="2377440" y="5367528"/>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확장성과 운영</a:t>
            </a:r>
            <a:endParaRPr lang="en-US" sz="1600" dirty="0"/>
          </a:p>
        </p:txBody>
      </p:sp>
      <p:sp>
        <p:nvSpPr>
          <p:cNvPr id="28" name="Text 21"/>
          <p:cNvSpPr/>
          <p:nvPr/>
        </p:nvSpPr>
        <p:spPr>
          <a:xfrm>
            <a:off x="2377440" y="5788152"/>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새 업무가 생겨도 끄떡없는 구조</a:t>
            </a:r>
            <a:endParaRPr lang="en-US" sz="1200" dirty="0"/>
          </a:p>
        </p:txBody>
      </p:sp>
      <p:sp>
        <p:nvSpPr>
          <p:cNvPr id="29" name="Shape 22"/>
          <p:cNvSpPr/>
          <p:nvPr/>
        </p:nvSpPr>
        <p:spPr>
          <a:xfrm>
            <a:off x="6263640" y="5111496"/>
            <a:ext cx="5394960" cy="128016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30" name="Text 23"/>
          <p:cNvSpPr/>
          <p:nvPr/>
        </p:nvSpPr>
        <p:spPr>
          <a:xfrm>
            <a:off x="6492240" y="5276088"/>
            <a:ext cx="914400" cy="914400"/>
          </a:xfrm>
          <a:prstGeom prst="rect">
            <a:avLst/>
          </a:prstGeom>
          <a:noFill/>
          <a:ln/>
        </p:spPr>
        <p:txBody>
          <a:bodyPr wrap="square" rtlCol="0" anchor="ctr"/>
          <a:lstStyle/>
          <a:p>
            <a:pPr marL="0" indent="0">
              <a:buNone/>
            </a:pPr>
            <a:r>
              <a:rPr lang="en-US" sz="3400" b="1" dirty="0">
                <a:solidFill>
                  <a:srgbClr val="DBE7FB"/>
                </a:solidFill>
                <a:latin typeface="맑은 고딕" pitchFamily="34" charset="0"/>
                <a:ea typeface="맑은 고딕" pitchFamily="34" charset="-122"/>
                <a:cs typeface="맑은 고딕" pitchFamily="34" charset="-120"/>
              </a:rPr>
              <a:t>06</a:t>
            </a:r>
            <a:endParaRPr lang="en-US" sz="3400" dirty="0"/>
          </a:p>
        </p:txBody>
      </p:sp>
      <p:pic>
        <p:nvPicPr>
          <p:cNvPr id="31" name="Image 5" descr="preencoded.png"/>
          <p:cNvPicPr>
            <a:picLocks noChangeAspect="1"/>
          </p:cNvPicPr>
          <p:nvPr/>
        </p:nvPicPr>
        <p:blipFill>
          <a:blip r:embed="rId8"/>
          <a:stretch>
            <a:fillRect/>
          </a:stretch>
        </p:blipFill>
        <p:spPr>
          <a:xfrm>
            <a:off x="7498080" y="5532120"/>
            <a:ext cx="457200" cy="457200"/>
          </a:xfrm>
          <a:prstGeom prst="rect">
            <a:avLst/>
          </a:prstGeom>
        </p:spPr>
      </p:pic>
      <p:sp>
        <p:nvSpPr>
          <p:cNvPr id="32" name="Text 24"/>
          <p:cNvSpPr/>
          <p:nvPr/>
        </p:nvSpPr>
        <p:spPr>
          <a:xfrm>
            <a:off x="8138160" y="5367528"/>
            <a:ext cx="3383280" cy="41148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비즈니스 효과</a:t>
            </a:r>
            <a:endParaRPr lang="en-US" sz="1600" dirty="0"/>
          </a:p>
        </p:txBody>
      </p:sp>
      <p:sp>
        <p:nvSpPr>
          <p:cNvPr id="33" name="Text 25"/>
          <p:cNvSpPr/>
          <p:nvPr/>
        </p:nvSpPr>
        <p:spPr>
          <a:xfrm>
            <a:off x="8138160" y="5788152"/>
            <a:ext cx="3383280" cy="457200"/>
          </a:xfrm>
          <a:prstGeom prst="rect">
            <a:avLst/>
          </a:prstGeom>
          <a:noFill/>
          <a:ln/>
        </p:spPr>
        <p:txBody>
          <a:bodyPr wrap="square" rtlCol="0" anchor="ctr"/>
          <a:lstStyle/>
          <a:p>
            <a:pPr marL="0" indent="0">
              <a:buNone/>
            </a:pPr>
            <a:r>
              <a:rPr lang="en-US" sz="1200" dirty="0">
                <a:solidFill>
                  <a:srgbClr val="5B6B85"/>
                </a:solidFill>
                <a:latin typeface="맑은 고딕" pitchFamily="34" charset="0"/>
                <a:ea typeface="맑은 고딕" pitchFamily="34" charset="-122"/>
                <a:cs typeface="맑은 고딕" pitchFamily="34" charset="-120"/>
              </a:rPr>
              <a:t>회사가 얻는 실질적 이익</a:t>
            </a:r>
            <a:endParaRPr lang="en-US" sz="1200" dirty="0"/>
          </a:p>
        </p:txBody>
      </p:sp>
      <p:sp>
        <p:nvSpPr>
          <p:cNvPr id="35" name="Text 26"/>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36" name="Text 27"/>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OVERVIEW</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VIMS는 한마디로?</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여러 업무 시스템을 하나로 묶은 '차량 검사 관리 통합 시스템'</a:t>
            </a:r>
            <a:endParaRPr lang="en-US" sz="1350" dirty="0"/>
          </a:p>
        </p:txBody>
      </p:sp>
      <p:sp>
        <p:nvSpPr>
          <p:cNvPr id="5" name="Shape 3"/>
          <p:cNvSpPr/>
          <p:nvPr/>
        </p:nvSpPr>
        <p:spPr>
          <a:xfrm>
            <a:off x="502920" y="2057400"/>
            <a:ext cx="5669280" cy="4114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Text 4"/>
          <p:cNvSpPr/>
          <p:nvPr/>
        </p:nvSpPr>
        <p:spPr>
          <a:xfrm>
            <a:off x="777240" y="2286000"/>
            <a:ext cx="5120640" cy="365760"/>
          </a:xfrm>
          <a:prstGeom prst="rect">
            <a:avLst/>
          </a:prstGeom>
          <a:noFill/>
          <a:ln/>
        </p:spPr>
        <p:txBody>
          <a:bodyPr wrap="square" rtlCol="0" anchor="ctr"/>
          <a:lstStyle/>
          <a:p>
            <a:pPr marL="0" indent="0">
              <a:buNone/>
            </a:pPr>
            <a:r>
              <a:rPr lang="en-US" sz="1500" b="1" dirty="0">
                <a:solidFill>
                  <a:srgbClr val="2563EB"/>
                </a:solidFill>
                <a:latin typeface="맑은 고딕" pitchFamily="34" charset="0"/>
                <a:ea typeface="맑은 고딕" pitchFamily="34" charset="-122"/>
                <a:cs typeface="맑은 고딕" pitchFamily="34" charset="-120"/>
              </a:rPr>
              <a:t>쉽게 비유하면</a:t>
            </a:r>
            <a:endParaRPr lang="en-US" sz="1500" dirty="0"/>
          </a:p>
        </p:txBody>
      </p:sp>
      <p:sp>
        <p:nvSpPr>
          <p:cNvPr id="7" name="Text 5"/>
          <p:cNvSpPr/>
          <p:nvPr/>
        </p:nvSpPr>
        <p:spPr>
          <a:xfrm>
            <a:off x="777240" y="2743200"/>
            <a:ext cx="5120640" cy="3200400"/>
          </a:xfrm>
          <a:prstGeom prst="rect">
            <a:avLst/>
          </a:prstGeom>
          <a:noFill/>
          <a:ln/>
        </p:spPr>
        <p:txBody>
          <a:bodyPr wrap="square" rtlCol="0" anchor="t"/>
          <a:lstStyle/>
          <a:p>
            <a:pPr marL="0" indent="0">
              <a:lnSpc>
                <a:spcPct val="125000"/>
              </a:lnSpc>
              <a:buNone/>
            </a:pPr>
            <a:r>
              <a:rPr lang="en-US" sz="1450" b="1" dirty="0">
                <a:solidFill>
                  <a:srgbClr val="1E293B"/>
                </a:solidFill>
                <a:latin typeface="맑은 고딕" pitchFamily="34" charset="0"/>
                <a:ea typeface="맑은 고딕" pitchFamily="34" charset="-122"/>
                <a:cs typeface="맑은 고딕" pitchFamily="34" charset="-120"/>
              </a:rPr>
              <a:t>잘 지어진 건물</a:t>
            </a:r>
            <a:r>
              <a:rPr lang="en-US" sz="1450" dirty="0">
                <a:solidFill>
                  <a:srgbClr val="1E293B"/>
                </a:solidFill>
                <a:latin typeface="맑은 고딕" pitchFamily="34" charset="0"/>
                <a:ea typeface="맑은 고딕" pitchFamily="34" charset="-122"/>
                <a:cs typeface="맑은 고딕" pitchFamily="34" charset="-120"/>
              </a:rPr>
              <a:t>과 같습니다.
</a:t>
            </a:r>
            <a:r>
              <a:rPr lang="en-US" sz="1450" dirty="0">
                <a:solidFill>
                  <a:srgbClr val="5B6B85"/>
                </a:solidFill>
                <a:latin typeface="맑은 고딕" pitchFamily="34" charset="0"/>
                <a:ea typeface="맑은 고딕" pitchFamily="34" charset="-122"/>
                <a:cs typeface="맑은 고딕" pitchFamily="34" charset="-120"/>
              </a:rPr>
              <a:t>튼튼한 </a:t>
            </a:r>
            <a:r>
              <a:rPr lang="en-US" sz="1450" b="1" dirty="0">
                <a:solidFill>
                  <a:srgbClr val="2563EB"/>
                </a:solidFill>
                <a:latin typeface="맑은 고딕" pitchFamily="34" charset="0"/>
                <a:ea typeface="맑은 고딕" pitchFamily="34" charset="-122"/>
                <a:cs typeface="맑은 고딕" pitchFamily="34" charset="-120"/>
              </a:rPr>
              <a:t>기초·골조(Core)</a:t>
            </a:r>
            <a:r>
              <a:rPr lang="en-US" sz="1450" dirty="0">
                <a:solidFill>
                  <a:srgbClr val="5B6B85"/>
                </a:solidFill>
                <a:latin typeface="맑은 고딕" pitchFamily="34" charset="0"/>
                <a:ea typeface="맑은 고딕" pitchFamily="34" charset="-122"/>
                <a:cs typeface="맑은 고딕" pitchFamily="34" charset="-120"/>
              </a:rPr>
              <a:t> 위에</a:t>
            </a:r>
            <a:endParaRPr lang="en-US" sz="1450" dirty="0"/>
          </a:p>
          <a:p>
            <a:pPr marL="0" indent="0">
              <a:lnSpc>
                <a:spcPct val="125000"/>
              </a:lnSpc>
              <a:buNone/>
            </a:pPr>
            <a:r>
              <a:rPr lang="en-US" sz="1450" dirty="0">
                <a:solidFill>
                  <a:srgbClr val="5B6B85"/>
                </a:solidFill>
                <a:latin typeface="맑은 고딕" pitchFamily="34" charset="0"/>
                <a:ea typeface="맑은 고딕" pitchFamily="34" charset="-122"/>
                <a:cs typeface="맑은 고딕" pitchFamily="34" charset="-120"/>
              </a:rPr>
              <a:t>로그인·검사·관리 같은 </a:t>
            </a:r>
            <a:endParaRPr lang="en-US" sz="1450" dirty="0"/>
          </a:p>
          <a:p>
            <a:pPr marL="0" indent="0">
              <a:lnSpc>
                <a:spcPct val="125000"/>
              </a:lnSpc>
              <a:buNone/>
            </a:pPr>
            <a:r>
              <a:rPr lang="en-US" sz="1450" b="1" dirty="0">
                <a:solidFill>
                  <a:srgbClr val="2563EB"/>
                </a:solidFill>
                <a:latin typeface="맑은 고딕" pitchFamily="34" charset="0"/>
                <a:ea typeface="맑은 고딕" pitchFamily="34" charset="-122"/>
                <a:cs typeface="맑은 고딕" pitchFamily="34" charset="-120"/>
              </a:rPr>
              <a:t>각 사무실(서비스)</a:t>
            </a:r>
            <a:r>
              <a:rPr lang="en-US" sz="1450" dirty="0">
                <a:solidFill>
                  <a:srgbClr val="5B6B85"/>
                </a:solidFill>
                <a:latin typeface="맑은 고딕" pitchFamily="34" charset="0"/>
                <a:ea typeface="맑은 고딕" pitchFamily="34" charset="-122"/>
                <a:cs typeface="맑은 고딕" pitchFamily="34" charset="-120"/>
              </a:rPr>
              <a:t>이 들어섭니다.</a:t>
            </a:r>
            <a:endParaRPr lang="en-US" sz="1450" dirty="0"/>
          </a:p>
          <a:p>
            <a:pPr marL="0" indent="0">
              <a:lnSpc>
                <a:spcPct val="125000"/>
              </a:lnSpc>
              <a:buNone/>
            </a:pPr>
            <a:endParaRPr lang="en-US" sz="1450" dirty="0"/>
          </a:p>
          <a:p>
            <a:pPr marL="0" indent="0">
              <a:lnSpc>
                <a:spcPct val="125000"/>
              </a:lnSpc>
              <a:buNone/>
            </a:pPr>
            <a:r>
              <a:rPr lang="en-US" sz="1450" dirty="0">
                <a:solidFill>
                  <a:srgbClr val="5B6B85"/>
                </a:solidFill>
                <a:latin typeface="맑은 고딕" pitchFamily="34" charset="0"/>
                <a:ea typeface="맑은 고딕" pitchFamily="34" charset="-122"/>
                <a:cs typeface="맑은 고딕" pitchFamily="34" charset="-120"/>
              </a:rPr>
              <a:t>기초가 튼튼하니 사무실을 추가하기 쉽고,</a:t>
            </a:r>
            <a:endParaRPr lang="en-US" sz="1450" dirty="0"/>
          </a:p>
          <a:p>
            <a:pPr marL="0" indent="0">
              <a:lnSpc>
                <a:spcPct val="125000"/>
              </a:lnSpc>
              <a:buNone/>
            </a:pPr>
            <a:r>
              <a:rPr lang="en-US" sz="1450" dirty="0">
                <a:solidFill>
                  <a:srgbClr val="5B6B85"/>
                </a:solidFill>
                <a:latin typeface="맑은 고딕" pitchFamily="34" charset="0"/>
                <a:ea typeface="맑은 고딕" pitchFamily="34" charset="-122"/>
                <a:cs typeface="맑은 고딕" pitchFamily="34" charset="-120"/>
              </a:rPr>
              <a:t>전기·수도(보안·공통기능)는 건물 전체가 함께 씁니다.</a:t>
            </a:r>
            <a:endParaRPr lang="en-US" sz="1450" dirty="0"/>
          </a:p>
        </p:txBody>
      </p:sp>
      <p:sp>
        <p:nvSpPr>
          <p:cNvPr id="8" name="Shape 6"/>
          <p:cNvSpPr/>
          <p:nvPr/>
        </p:nvSpPr>
        <p:spPr>
          <a:xfrm>
            <a:off x="6583680" y="2057400"/>
            <a:ext cx="5074920" cy="4114800"/>
          </a:xfrm>
          <a:prstGeom prst="rect">
            <a:avLst/>
          </a:prstGeom>
          <a:solidFill>
            <a:srgbClr val="0E1F45"/>
          </a:solidFill>
          <a:ln/>
          <a:effectLst>
            <a:outerShdw blurRad="114300" dist="38100" dir="5400000" algn="bl" rotWithShape="0">
              <a:srgbClr val="0E1F45">
                <a:alpha val="14000"/>
              </a:srgbClr>
            </a:outerShdw>
          </a:effectLst>
        </p:spPr>
      </p:sp>
      <p:sp>
        <p:nvSpPr>
          <p:cNvPr id="9" name="Shape 7"/>
          <p:cNvSpPr/>
          <p:nvPr/>
        </p:nvSpPr>
        <p:spPr>
          <a:xfrm>
            <a:off x="6995160" y="2395728"/>
            <a:ext cx="4251960" cy="566928"/>
          </a:xfrm>
          <a:prstGeom prst="rect">
            <a:avLst/>
          </a:prstGeom>
          <a:solidFill>
            <a:srgbClr val="14264F"/>
          </a:solidFill>
          <a:ln w="12700">
            <a:solidFill>
              <a:srgbClr val="3B82F6"/>
            </a:solidFill>
            <a:prstDash val="solid"/>
          </a:ln>
        </p:spPr>
      </p:sp>
      <p:sp>
        <p:nvSpPr>
          <p:cNvPr id="10" name="Text 8"/>
          <p:cNvSpPr/>
          <p:nvPr/>
        </p:nvSpPr>
        <p:spPr>
          <a:xfrm>
            <a:off x="7178040" y="2395728"/>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검사 (Inspection)</a:t>
            </a:r>
            <a:endParaRPr lang="en-US" sz="1300" dirty="0"/>
          </a:p>
        </p:txBody>
      </p:sp>
      <p:sp>
        <p:nvSpPr>
          <p:cNvPr id="11" name="Shape 9"/>
          <p:cNvSpPr/>
          <p:nvPr/>
        </p:nvSpPr>
        <p:spPr>
          <a:xfrm>
            <a:off x="6995160" y="3072384"/>
            <a:ext cx="4251960" cy="566928"/>
          </a:xfrm>
          <a:prstGeom prst="rect">
            <a:avLst/>
          </a:prstGeom>
          <a:solidFill>
            <a:srgbClr val="14264F"/>
          </a:solidFill>
          <a:ln w="12700">
            <a:solidFill>
              <a:srgbClr val="3B82F6"/>
            </a:solidFill>
            <a:prstDash val="solid"/>
          </a:ln>
        </p:spPr>
      </p:sp>
      <p:sp>
        <p:nvSpPr>
          <p:cNvPr id="12" name="Text 10"/>
          <p:cNvSpPr/>
          <p:nvPr/>
        </p:nvSpPr>
        <p:spPr>
          <a:xfrm>
            <a:off x="7178040" y="3072384"/>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관리 (Management)</a:t>
            </a:r>
            <a:endParaRPr lang="en-US" sz="1300" dirty="0"/>
          </a:p>
        </p:txBody>
      </p:sp>
      <p:sp>
        <p:nvSpPr>
          <p:cNvPr id="13" name="Shape 11"/>
          <p:cNvSpPr/>
          <p:nvPr/>
        </p:nvSpPr>
        <p:spPr>
          <a:xfrm>
            <a:off x="6995160" y="3749040"/>
            <a:ext cx="4251960" cy="566928"/>
          </a:xfrm>
          <a:prstGeom prst="rect">
            <a:avLst/>
          </a:prstGeom>
          <a:solidFill>
            <a:srgbClr val="14264F"/>
          </a:solidFill>
          <a:ln w="12700">
            <a:solidFill>
              <a:srgbClr val="3B82F6"/>
            </a:solidFill>
            <a:prstDash val="solid"/>
          </a:ln>
        </p:spPr>
      </p:sp>
      <p:sp>
        <p:nvSpPr>
          <p:cNvPr id="14" name="Text 12"/>
          <p:cNvSpPr/>
          <p:nvPr/>
        </p:nvSpPr>
        <p:spPr>
          <a:xfrm>
            <a:off x="7178040" y="3749040"/>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접수 (Register)</a:t>
            </a:r>
            <a:endParaRPr lang="en-US" sz="1300" dirty="0"/>
          </a:p>
        </p:txBody>
      </p:sp>
      <p:sp>
        <p:nvSpPr>
          <p:cNvPr id="15" name="Shape 13"/>
          <p:cNvSpPr/>
          <p:nvPr/>
        </p:nvSpPr>
        <p:spPr>
          <a:xfrm>
            <a:off x="6995160" y="4425696"/>
            <a:ext cx="4251960" cy="566928"/>
          </a:xfrm>
          <a:prstGeom prst="rect">
            <a:avLst/>
          </a:prstGeom>
          <a:solidFill>
            <a:srgbClr val="14264F"/>
          </a:solidFill>
          <a:ln w="12700">
            <a:solidFill>
              <a:srgbClr val="3B82F6"/>
            </a:solidFill>
            <a:prstDash val="solid"/>
          </a:ln>
        </p:spPr>
      </p:sp>
      <p:sp>
        <p:nvSpPr>
          <p:cNvPr id="16" name="Text 14"/>
          <p:cNvSpPr/>
          <p:nvPr/>
        </p:nvSpPr>
        <p:spPr>
          <a:xfrm>
            <a:off x="7178040" y="4425696"/>
            <a:ext cx="3977640" cy="566928"/>
          </a:xfrm>
          <a:prstGeom prst="rect">
            <a:avLst/>
          </a:prstGeom>
          <a:noFill/>
          <a:ln/>
        </p:spPr>
        <p:txBody>
          <a:bodyPr wrap="square" rtlCol="0" anchor="ctr"/>
          <a:lstStyle/>
          <a:p>
            <a:pPr marL="0" indent="0">
              <a:buNone/>
            </a:pPr>
            <a:r>
              <a:rPr lang="en-US" sz="1300" dirty="0">
                <a:solidFill>
                  <a:srgbClr val="DBE7FB"/>
                </a:solidFill>
                <a:latin typeface="맑은 고딕" pitchFamily="34" charset="0"/>
                <a:ea typeface="맑은 고딕" pitchFamily="34" charset="-122"/>
                <a:cs typeface="맑은 고딕" pitchFamily="34" charset="-120"/>
              </a:rPr>
              <a:t>로그인 (Login)</a:t>
            </a:r>
            <a:endParaRPr lang="en-US" sz="1300" dirty="0"/>
          </a:p>
        </p:txBody>
      </p:sp>
      <p:sp>
        <p:nvSpPr>
          <p:cNvPr id="17" name="Shape 15"/>
          <p:cNvSpPr/>
          <p:nvPr/>
        </p:nvSpPr>
        <p:spPr>
          <a:xfrm>
            <a:off x="6812280" y="5175504"/>
            <a:ext cx="4617720" cy="777240"/>
          </a:xfrm>
          <a:prstGeom prst="rect">
            <a:avLst/>
          </a:prstGeom>
          <a:solidFill>
            <a:srgbClr val="F4B740"/>
          </a:solidFill>
          <a:ln/>
        </p:spPr>
      </p:sp>
      <p:sp>
        <p:nvSpPr>
          <p:cNvPr id="18" name="Text 16"/>
          <p:cNvSpPr/>
          <p:nvPr/>
        </p:nvSpPr>
        <p:spPr>
          <a:xfrm>
            <a:off x="6812280" y="5175504"/>
            <a:ext cx="4617720" cy="777240"/>
          </a:xfrm>
          <a:prstGeom prst="rect">
            <a:avLst/>
          </a:prstGeom>
          <a:noFill/>
          <a:ln/>
        </p:spPr>
        <p:txBody>
          <a:bodyPr wrap="square" rtlCol="0" anchor="ctr"/>
          <a:lstStyle/>
          <a:p>
            <a:pPr marL="0" indent="0" algn="ctr">
              <a:buNone/>
            </a:pPr>
            <a:r>
              <a:rPr lang="en-US" sz="1500" b="1" dirty="0">
                <a:solidFill>
                  <a:srgbClr val="0E1F45"/>
                </a:solidFill>
                <a:latin typeface="맑은 고딕" pitchFamily="34" charset="0"/>
                <a:ea typeface="맑은 고딕" pitchFamily="34" charset="-122"/>
                <a:cs typeface="맑은 고딕" pitchFamily="34" charset="-120"/>
              </a:rPr>
              <a:t>CORE 라이브러리  ·  공용 토대</a:t>
            </a:r>
            <a:endParaRPr lang="en-US" sz="1500" dirty="0"/>
          </a:p>
        </p:txBody>
      </p:sp>
      <p:sp>
        <p:nvSpPr>
          <p:cNvPr id="19" name="Text 17"/>
          <p:cNvSpPr/>
          <p:nvPr/>
        </p:nvSpPr>
        <p:spPr>
          <a:xfrm>
            <a:off x="6583680" y="6263640"/>
            <a:ext cx="5074920" cy="274320"/>
          </a:xfrm>
          <a:prstGeom prst="rect">
            <a:avLst/>
          </a:prstGeom>
          <a:noFill/>
          <a:ln/>
        </p:spPr>
        <p:txBody>
          <a:bodyPr wrap="square" rtlCol="0" anchor="ctr"/>
          <a:lstStyle/>
          <a:p>
            <a:pPr marL="0" indent="0" algn="ctr">
              <a:buNone/>
            </a:pPr>
            <a:r>
              <a:rPr lang="en-US" sz="1050" dirty="0">
                <a:solidFill>
                  <a:srgbClr val="5B6B85"/>
                </a:solidFill>
                <a:latin typeface="맑은 고딕" pitchFamily="34" charset="0"/>
                <a:ea typeface="맑은 고딕" pitchFamily="34" charset="-122"/>
                <a:cs typeface="맑은 고딕" pitchFamily="34" charset="-120"/>
              </a:rPr>
              <a:t>↑ 한 번 만든 토대를 모든 사무실이 함께 사용</a:t>
            </a:r>
            <a:endParaRPr lang="en-US" sz="1050" dirty="0"/>
          </a:p>
        </p:txBody>
      </p:sp>
      <p:sp>
        <p:nvSpPr>
          <p:cNvPr id="21" name="Text 18"/>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2" name="Text 19"/>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1645920" y="3291840"/>
            <a:ext cx="5029200" cy="5029200"/>
          </a:xfrm>
          <a:prstGeom prst="ellipse">
            <a:avLst/>
          </a:prstGeom>
          <a:solidFill>
            <a:srgbClr val="14264F"/>
          </a:solidFill>
          <a:ln/>
        </p:spPr>
      </p:sp>
      <p:sp>
        <p:nvSpPr>
          <p:cNvPr id="3" name="Text 1"/>
          <p:cNvSpPr/>
          <p:nvPr/>
        </p:nvSpPr>
        <p:spPr>
          <a:xfrm>
            <a:off x="548640" y="640080"/>
            <a:ext cx="5486400" cy="365760"/>
          </a:xfrm>
          <a:prstGeom prst="rect">
            <a:avLst/>
          </a:prstGeom>
          <a:noFill/>
          <a:ln/>
        </p:spPr>
        <p:txBody>
          <a:bodyPr wrap="square" rtlCol="0" anchor="ctr"/>
          <a:lstStyle/>
          <a:p>
            <a:pPr marL="0" indent="0">
              <a:buNone/>
            </a:pPr>
            <a:r>
              <a:rPr lang="en-US" sz="1200" b="1" kern="0" spc="200" dirty="0">
                <a:solidFill>
                  <a:srgbClr val="3B82F6"/>
                </a:solidFill>
                <a:latin typeface="맑은 고딕" pitchFamily="34" charset="0"/>
                <a:ea typeface="맑은 고딕" pitchFamily="34" charset="-122"/>
                <a:cs typeface="맑은 고딕" pitchFamily="34" charset="-120"/>
              </a:rPr>
              <a:t>핵심 개념</a:t>
            </a:r>
            <a:endParaRPr lang="en-US" sz="1200" dirty="0"/>
          </a:p>
        </p:txBody>
      </p:sp>
      <p:sp>
        <p:nvSpPr>
          <p:cNvPr id="4" name="Text 2"/>
          <p:cNvSpPr/>
          <p:nvPr/>
        </p:nvSpPr>
        <p:spPr>
          <a:xfrm>
            <a:off x="548640" y="1143000"/>
            <a:ext cx="10972800" cy="822960"/>
          </a:xfrm>
          <a:prstGeom prst="rect">
            <a:avLst/>
          </a:prstGeom>
          <a:noFill/>
          <a:ln/>
        </p:spPr>
        <p:txBody>
          <a:bodyPr wrap="square" rtlCol="0" anchor="ctr"/>
          <a:lstStyle/>
          <a:p>
            <a:pPr marL="0" indent="0">
              <a:buNone/>
            </a:pPr>
            <a:r>
              <a:rPr lang="en-US" sz="3400" b="1" dirty="0">
                <a:solidFill>
                  <a:srgbClr val="FFFFFF"/>
                </a:solidFill>
                <a:latin typeface="맑은 고딕" pitchFamily="34" charset="0"/>
                <a:ea typeface="맑은 고딕" pitchFamily="34" charset="-122"/>
                <a:cs typeface="맑은 고딕" pitchFamily="34" charset="-120"/>
              </a:rPr>
              <a:t>한 번 만들어, </a:t>
            </a:r>
            <a:r>
              <a:rPr lang="en-US" sz="3400" b="1" dirty="0">
                <a:solidFill>
                  <a:srgbClr val="F4B740"/>
                </a:solidFill>
                <a:latin typeface="맑은 고딕" pitchFamily="34" charset="0"/>
                <a:ea typeface="맑은 고딕" pitchFamily="34" charset="-122"/>
                <a:cs typeface="맑은 고딕" pitchFamily="34" charset="-120"/>
              </a:rPr>
              <a:t>모두가 함께 씁니다</a:t>
            </a:r>
            <a:endParaRPr lang="en-US" sz="3400" dirty="0"/>
          </a:p>
        </p:txBody>
      </p:sp>
      <p:sp>
        <p:nvSpPr>
          <p:cNvPr id="5" name="Text 3"/>
          <p:cNvSpPr/>
          <p:nvPr/>
        </p:nvSpPr>
        <p:spPr>
          <a:xfrm>
            <a:off x="548640" y="2057400"/>
            <a:ext cx="10789920" cy="640080"/>
          </a:xfrm>
          <a:prstGeom prst="rect">
            <a:avLst/>
          </a:prstGeom>
          <a:noFill/>
          <a:ln/>
        </p:spPr>
        <p:txBody>
          <a:bodyPr wrap="square" rtlCol="0" anchor="ctr"/>
          <a:lstStyle/>
          <a:p>
            <a:pPr marL="0" indent="0">
              <a:lnSpc>
                <a:spcPct val="120000"/>
              </a:lnSpc>
              <a:buNone/>
            </a:pPr>
            <a:r>
              <a:rPr lang="en-US" sz="1450" dirty="0">
                <a:solidFill>
                  <a:srgbClr val="DBE7FB"/>
                </a:solidFill>
                <a:latin typeface="맑은 고딕" pitchFamily="34" charset="0"/>
                <a:ea typeface="맑은 고딕" pitchFamily="34" charset="-122"/>
                <a:cs typeface="맑은 고딕" pitchFamily="34" charset="-120"/>
              </a:rPr>
              <a:t>Core는 모든 서비스의 '공용 엔진'입니다. 인증·보안·데이터 처리·기록 같은 공통 기능을 Core에 한 번만 구현하면, 6개 서비스가 그대로 가져다 씁니다.</a:t>
            </a:r>
            <a:endParaRPr lang="en-US" sz="1450" dirty="0"/>
          </a:p>
        </p:txBody>
      </p:sp>
      <p:sp>
        <p:nvSpPr>
          <p:cNvPr id="6" name="Shape 4"/>
          <p:cNvSpPr/>
          <p:nvPr/>
        </p:nvSpPr>
        <p:spPr>
          <a:xfrm>
            <a:off x="548640" y="2971800"/>
            <a:ext cx="5440680" cy="3246120"/>
          </a:xfrm>
          <a:prstGeom prst="rect">
            <a:avLst/>
          </a:prstGeom>
          <a:solidFill>
            <a:srgbClr val="14264F"/>
          </a:solidFill>
          <a:ln w="19050">
            <a:solidFill>
              <a:srgbClr val="E2574C"/>
            </a:solidFill>
            <a:prstDash val="solid"/>
          </a:ln>
          <a:effectLst>
            <a:outerShdw blurRad="114300" dist="38100" dir="5400000" algn="bl" rotWithShape="0">
              <a:srgbClr val="0E1F45">
                <a:alpha val="14000"/>
              </a:srgbClr>
            </a:outerShdw>
          </a:effectLst>
        </p:spPr>
      </p:sp>
      <p:pic>
        <p:nvPicPr>
          <p:cNvPr id="7" name="Image 0" descr="preencoded.png"/>
          <p:cNvPicPr>
            <a:picLocks noChangeAspect="1"/>
          </p:cNvPicPr>
          <p:nvPr/>
        </p:nvPicPr>
        <p:blipFill>
          <a:blip r:embed="rId3"/>
          <a:stretch>
            <a:fillRect/>
          </a:stretch>
        </p:blipFill>
        <p:spPr>
          <a:xfrm>
            <a:off x="868680" y="3246120"/>
            <a:ext cx="502920" cy="502920"/>
          </a:xfrm>
          <a:prstGeom prst="rect">
            <a:avLst/>
          </a:prstGeom>
        </p:spPr>
      </p:pic>
      <p:sp>
        <p:nvSpPr>
          <p:cNvPr id="8" name="Text 5"/>
          <p:cNvSpPr/>
          <p:nvPr/>
        </p:nvSpPr>
        <p:spPr>
          <a:xfrm>
            <a:off x="1508760" y="3246120"/>
            <a:ext cx="4251960" cy="502920"/>
          </a:xfrm>
          <a:prstGeom prst="rect">
            <a:avLst/>
          </a:prstGeom>
          <a:noFill/>
          <a:ln/>
        </p:spPr>
        <p:txBody>
          <a:bodyPr wrap="square"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기존 방식 (Core 없이)</a:t>
            </a:r>
            <a:endParaRPr lang="en-US" sz="1700" dirty="0"/>
          </a:p>
        </p:txBody>
      </p:sp>
      <p:sp>
        <p:nvSpPr>
          <p:cNvPr id="9" name="Shape 6"/>
          <p:cNvSpPr/>
          <p:nvPr/>
        </p:nvSpPr>
        <p:spPr>
          <a:xfrm>
            <a:off x="932688" y="4178808"/>
            <a:ext cx="109728" cy="109728"/>
          </a:xfrm>
          <a:prstGeom prst="ellipse">
            <a:avLst/>
          </a:prstGeom>
          <a:solidFill>
            <a:srgbClr val="E2574C"/>
          </a:solidFill>
          <a:ln/>
        </p:spPr>
      </p:sp>
      <p:sp>
        <p:nvSpPr>
          <p:cNvPr id="10" name="Text 7"/>
          <p:cNvSpPr/>
          <p:nvPr/>
        </p:nvSpPr>
        <p:spPr>
          <a:xfrm>
            <a:off x="1188720" y="4069080"/>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서비스마다 보안을 따로 개발</a:t>
            </a:r>
            <a:endParaRPr lang="en-US" sz="1350" dirty="0"/>
          </a:p>
        </p:txBody>
      </p:sp>
      <p:sp>
        <p:nvSpPr>
          <p:cNvPr id="11" name="Shape 8"/>
          <p:cNvSpPr/>
          <p:nvPr/>
        </p:nvSpPr>
        <p:spPr>
          <a:xfrm>
            <a:off x="932688" y="4837176"/>
            <a:ext cx="109728" cy="109728"/>
          </a:xfrm>
          <a:prstGeom prst="ellipse">
            <a:avLst/>
          </a:prstGeom>
          <a:solidFill>
            <a:srgbClr val="E2574C"/>
          </a:solidFill>
          <a:ln/>
        </p:spPr>
      </p:sp>
      <p:sp>
        <p:nvSpPr>
          <p:cNvPr id="12" name="Text 9"/>
          <p:cNvSpPr/>
          <p:nvPr/>
        </p:nvSpPr>
        <p:spPr>
          <a:xfrm>
            <a:off x="1188720" y="4727448"/>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기능이 제각각 → 오류·혼선</a:t>
            </a:r>
            <a:endParaRPr lang="en-US" sz="1350" dirty="0"/>
          </a:p>
        </p:txBody>
      </p:sp>
      <p:sp>
        <p:nvSpPr>
          <p:cNvPr id="13" name="Shape 10"/>
          <p:cNvSpPr/>
          <p:nvPr/>
        </p:nvSpPr>
        <p:spPr>
          <a:xfrm>
            <a:off x="932688" y="5495544"/>
            <a:ext cx="109728" cy="109728"/>
          </a:xfrm>
          <a:prstGeom prst="ellipse">
            <a:avLst/>
          </a:prstGeom>
          <a:solidFill>
            <a:srgbClr val="E2574C"/>
          </a:solidFill>
          <a:ln/>
        </p:spPr>
      </p:sp>
      <p:sp>
        <p:nvSpPr>
          <p:cNvPr id="14" name="Text 11"/>
          <p:cNvSpPr/>
          <p:nvPr/>
        </p:nvSpPr>
        <p:spPr>
          <a:xfrm>
            <a:off x="1188720" y="5385816"/>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고치려면 모든 곳을 일일이 수정</a:t>
            </a:r>
            <a:endParaRPr lang="en-US" sz="1350" dirty="0"/>
          </a:p>
        </p:txBody>
      </p:sp>
      <p:sp>
        <p:nvSpPr>
          <p:cNvPr id="15" name="Shape 12"/>
          <p:cNvSpPr/>
          <p:nvPr/>
        </p:nvSpPr>
        <p:spPr>
          <a:xfrm>
            <a:off x="6355080" y="2971800"/>
            <a:ext cx="5440680" cy="3246120"/>
          </a:xfrm>
          <a:prstGeom prst="rect">
            <a:avLst/>
          </a:prstGeom>
          <a:solidFill>
            <a:srgbClr val="14264F"/>
          </a:solidFill>
          <a:ln w="19050">
            <a:solidFill>
              <a:srgbClr val="2FB37E"/>
            </a:solidFill>
            <a:prstDash val="solid"/>
          </a:ln>
          <a:effectLst>
            <a:outerShdw blurRad="114300" dist="38100" dir="5400000" algn="bl" rotWithShape="0">
              <a:srgbClr val="0E1F45">
                <a:alpha val="14000"/>
              </a:srgbClr>
            </a:outerShdw>
          </a:effectLst>
        </p:spPr>
      </p:sp>
      <p:pic>
        <p:nvPicPr>
          <p:cNvPr id="16" name="Image 1" descr="preencoded.png"/>
          <p:cNvPicPr>
            <a:picLocks noChangeAspect="1"/>
          </p:cNvPicPr>
          <p:nvPr/>
        </p:nvPicPr>
        <p:blipFill>
          <a:blip r:embed="rId4"/>
          <a:stretch>
            <a:fillRect/>
          </a:stretch>
        </p:blipFill>
        <p:spPr>
          <a:xfrm>
            <a:off x="6675120" y="3246120"/>
            <a:ext cx="502920" cy="502920"/>
          </a:xfrm>
          <a:prstGeom prst="rect">
            <a:avLst/>
          </a:prstGeom>
        </p:spPr>
      </p:pic>
      <p:sp>
        <p:nvSpPr>
          <p:cNvPr id="17" name="Text 13"/>
          <p:cNvSpPr/>
          <p:nvPr/>
        </p:nvSpPr>
        <p:spPr>
          <a:xfrm>
            <a:off x="7315200" y="3246120"/>
            <a:ext cx="4251960" cy="502920"/>
          </a:xfrm>
          <a:prstGeom prst="rect">
            <a:avLst/>
          </a:prstGeom>
          <a:noFill/>
          <a:ln/>
        </p:spPr>
        <p:txBody>
          <a:bodyPr wrap="square" rtlCol="0" anchor="ct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VIMS 방식 (Core 기반)</a:t>
            </a:r>
            <a:endParaRPr lang="en-US" sz="1700" dirty="0"/>
          </a:p>
        </p:txBody>
      </p:sp>
      <p:sp>
        <p:nvSpPr>
          <p:cNvPr id="18" name="Shape 14"/>
          <p:cNvSpPr/>
          <p:nvPr/>
        </p:nvSpPr>
        <p:spPr>
          <a:xfrm>
            <a:off x="6739128" y="4178808"/>
            <a:ext cx="109728" cy="109728"/>
          </a:xfrm>
          <a:prstGeom prst="ellipse">
            <a:avLst/>
          </a:prstGeom>
          <a:solidFill>
            <a:srgbClr val="2FB37E"/>
          </a:solidFill>
          <a:ln/>
        </p:spPr>
      </p:sp>
      <p:sp>
        <p:nvSpPr>
          <p:cNvPr id="19" name="Text 15"/>
          <p:cNvSpPr/>
          <p:nvPr/>
        </p:nvSpPr>
        <p:spPr>
          <a:xfrm>
            <a:off x="6995160" y="4069080"/>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보안·공통기능을 Core에 1회 구현</a:t>
            </a:r>
            <a:endParaRPr lang="en-US" sz="1350" dirty="0"/>
          </a:p>
        </p:txBody>
      </p:sp>
      <p:sp>
        <p:nvSpPr>
          <p:cNvPr id="20" name="Shape 16"/>
          <p:cNvSpPr/>
          <p:nvPr/>
        </p:nvSpPr>
        <p:spPr>
          <a:xfrm>
            <a:off x="6739128" y="4837176"/>
            <a:ext cx="109728" cy="109728"/>
          </a:xfrm>
          <a:prstGeom prst="ellipse">
            <a:avLst/>
          </a:prstGeom>
          <a:solidFill>
            <a:srgbClr val="2FB37E"/>
          </a:solidFill>
          <a:ln/>
        </p:spPr>
      </p:sp>
      <p:sp>
        <p:nvSpPr>
          <p:cNvPr id="21" name="Text 17"/>
          <p:cNvSpPr/>
          <p:nvPr/>
        </p:nvSpPr>
        <p:spPr>
          <a:xfrm>
            <a:off x="6995160" y="4727448"/>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전 서비스가 동일하게 동작</a:t>
            </a:r>
            <a:endParaRPr lang="en-US" sz="1350" dirty="0"/>
          </a:p>
        </p:txBody>
      </p:sp>
      <p:sp>
        <p:nvSpPr>
          <p:cNvPr id="22" name="Shape 18"/>
          <p:cNvSpPr/>
          <p:nvPr/>
        </p:nvSpPr>
        <p:spPr>
          <a:xfrm>
            <a:off x="6739128" y="5495544"/>
            <a:ext cx="109728" cy="109728"/>
          </a:xfrm>
          <a:prstGeom prst="ellipse">
            <a:avLst/>
          </a:prstGeom>
          <a:solidFill>
            <a:srgbClr val="2FB37E"/>
          </a:solidFill>
          <a:ln/>
        </p:spPr>
      </p:sp>
      <p:sp>
        <p:nvSpPr>
          <p:cNvPr id="23" name="Text 19"/>
          <p:cNvSpPr/>
          <p:nvPr/>
        </p:nvSpPr>
        <p:spPr>
          <a:xfrm>
            <a:off x="6995160" y="5385816"/>
            <a:ext cx="4526280" cy="502920"/>
          </a:xfrm>
          <a:prstGeom prst="rect">
            <a:avLst/>
          </a:prstGeom>
          <a:noFill/>
          <a:ln/>
        </p:spPr>
        <p:txBody>
          <a:bodyPr wrap="square" rtlCol="0" anchor="ctr"/>
          <a:lstStyle/>
          <a:p>
            <a:pPr marL="0" indent="0">
              <a:buNone/>
            </a:pPr>
            <a:r>
              <a:rPr lang="en-US" sz="1350" dirty="0">
                <a:solidFill>
                  <a:srgbClr val="DBE7FB"/>
                </a:solidFill>
                <a:latin typeface="맑은 고딕" pitchFamily="34" charset="0"/>
                <a:ea typeface="맑은 고딕" pitchFamily="34" charset="-122"/>
                <a:cs typeface="맑은 고딕" pitchFamily="34" charset="-120"/>
              </a:rPr>
              <a:t>한 곳만 고치면 전체에 반영</a:t>
            </a:r>
            <a:endParaRPr lang="en-US" sz="1350" dirty="0"/>
          </a:p>
        </p:txBody>
      </p:sp>
      <p:sp>
        <p:nvSpPr>
          <p:cNvPr id="25" name="Text 20"/>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6" name="Text 21"/>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ARCHITECTURE</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전체 구조 한눈에 보기</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사용자 → 관문(Gateway) → 각 업무 서비스, 그 아래 공통 토대(Core)</a:t>
            </a:r>
            <a:endParaRPr lang="en-US" sz="1350" dirty="0"/>
          </a:p>
        </p:txBody>
      </p:sp>
      <p:sp>
        <p:nvSpPr>
          <p:cNvPr id="5" name="Shape 3"/>
          <p:cNvSpPr/>
          <p:nvPr/>
        </p:nvSpPr>
        <p:spPr>
          <a:xfrm>
            <a:off x="502920" y="2788920"/>
            <a:ext cx="1554480" cy="914400"/>
          </a:xfrm>
          <a:prstGeom prst="roundRect">
            <a:avLst>
              <a:gd name="adj" fmla="val 10000"/>
            </a:avLst>
          </a:prstGeom>
          <a:solidFill>
            <a:srgbClr val="0E1F45"/>
          </a:solidFill>
          <a:ln/>
          <a:effectLst>
            <a:outerShdw blurRad="114300" dist="38100" dir="5400000" algn="bl" rotWithShape="0">
              <a:srgbClr val="0E1F45">
                <a:alpha val="14000"/>
              </a:srgbClr>
            </a:outerShdw>
          </a:effectLst>
        </p:spPr>
      </p:sp>
      <p:pic>
        <p:nvPicPr>
          <p:cNvPr id="6" name="Image 0" descr="preencoded.png"/>
          <p:cNvPicPr>
            <a:picLocks noChangeAspect="1"/>
          </p:cNvPicPr>
          <p:nvPr/>
        </p:nvPicPr>
        <p:blipFill>
          <a:blip r:embed="rId3"/>
          <a:stretch>
            <a:fillRect/>
          </a:stretch>
        </p:blipFill>
        <p:spPr>
          <a:xfrm>
            <a:off x="1078992" y="2926080"/>
            <a:ext cx="411480" cy="411480"/>
          </a:xfrm>
          <a:prstGeom prst="rect">
            <a:avLst/>
          </a:prstGeom>
        </p:spPr>
      </p:pic>
      <p:sp>
        <p:nvSpPr>
          <p:cNvPr id="7" name="Text 4"/>
          <p:cNvSpPr/>
          <p:nvPr/>
        </p:nvSpPr>
        <p:spPr>
          <a:xfrm>
            <a:off x="502920" y="3337560"/>
            <a:ext cx="1554480" cy="320040"/>
          </a:xfrm>
          <a:prstGeom prst="rect">
            <a:avLst/>
          </a:prstGeom>
          <a:noFill/>
          <a:ln/>
        </p:spPr>
        <p:txBody>
          <a:bodyPr wrap="square" rtlCol="0" anchor="ctr"/>
          <a:lstStyle/>
          <a:p>
            <a:pPr marL="0" indent="0" algn="ctr">
              <a:buNone/>
            </a:pPr>
            <a:r>
              <a:rPr lang="en-US" sz="1200" b="1" dirty="0">
                <a:solidFill>
                  <a:srgbClr val="FFFFFF"/>
                </a:solidFill>
                <a:latin typeface="맑은 고딕" pitchFamily="34" charset="0"/>
                <a:ea typeface="맑은 고딕" pitchFamily="34" charset="-122"/>
                <a:cs typeface="맑은 고딕" pitchFamily="34" charset="-120"/>
              </a:rPr>
              <a:t>사용자</a:t>
            </a:r>
            <a:endParaRPr lang="en-US" sz="1200" dirty="0"/>
          </a:p>
        </p:txBody>
      </p:sp>
      <p:sp>
        <p:nvSpPr>
          <p:cNvPr id="8" name="Shape 5"/>
          <p:cNvSpPr/>
          <p:nvPr/>
        </p:nvSpPr>
        <p:spPr>
          <a:xfrm>
            <a:off x="2057400" y="3246120"/>
            <a:ext cx="502920" cy="0"/>
          </a:xfrm>
          <a:prstGeom prst="line">
            <a:avLst/>
          </a:prstGeom>
          <a:noFill/>
          <a:ln w="19050">
            <a:solidFill>
              <a:srgbClr val="5B6B85"/>
            </a:solidFill>
            <a:prstDash val="solid"/>
            <a:tailEnd type="triangle"/>
          </a:ln>
        </p:spPr>
      </p:sp>
      <p:sp>
        <p:nvSpPr>
          <p:cNvPr id="9" name="Shape 6"/>
          <p:cNvSpPr/>
          <p:nvPr/>
        </p:nvSpPr>
        <p:spPr>
          <a:xfrm>
            <a:off x="2606040" y="2697480"/>
            <a:ext cx="1783080" cy="1097280"/>
          </a:xfrm>
          <a:prstGeom prst="roundRect">
            <a:avLst>
              <a:gd name="adj" fmla="val 8333"/>
            </a:avLst>
          </a:prstGeom>
          <a:solidFill>
            <a:srgbClr val="1D4ED8"/>
          </a:solidFill>
          <a:ln/>
          <a:effectLst>
            <a:outerShdw blurRad="114300" dist="38100" dir="5400000" algn="bl" rotWithShape="0">
              <a:srgbClr val="0E1F45">
                <a:alpha val="14000"/>
              </a:srgbClr>
            </a:outerShdw>
          </a:effectLst>
        </p:spPr>
      </p:sp>
      <p:pic>
        <p:nvPicPr>
          <p:cNvPr id="10" name="Image 1" descr="preencoded.png"/>
          <p:cNvPicPr>
            <a:picLocks noChangeAspect="1"/>
          </p:cNvPicPr>
          <p:nvPr/>
        </p:nvPicPr>
        <p:blipFill>
          <a:blip r:embed="rId4"/>
          <a:stretch>
            <a:fillRect/>
          </a:stretch>
        </p:blipFill>
        <p:spPr>
          <a:xfrm>
            <a:off x="3291840" y="2852928"/>
            <a:ext cx="411480" cy="411480"/>
          </a:xfrm>
          <a:prstGeom prst="rect">
            <a:avLst/>
          </a:prstGeom>
        </p:spPr>
      </p:pic>
      <p:sp>
        <p:nvSpPr>
          <p:cNvPr id="11" name="Text 7"/>
          <p:cNvSpPr/>
          <p:nvPr/>
        </p:nvSpPr>
        <p:spPr>
          <a:xfrm>
            <a:off x="2606040" y="3273552"/>
            <a:ext cx="1783080" cy="292608"/>
          </a:xfrm>
          <a:prstGeom prst="rect">
            <a:avLst/>
          </a:prstGeom>
          <a:noFill/>
          <a:ln/>
        </p:spPr>
        <p:txBody>
          <a:bodyPr wrap="square"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Gateway</a:t>
            </a:r>
            <a:endParaRPr lang="en-US" sz="1300" dirty="0"/>
          </a:p>
        </p:txBody>
      </p:sp>
      <p:sp>
        <p:nvSpPr>
          <p:cNvPr id="12" name="Text 8"/>
          <p:cNvSpPr/>
          <p:nvPr/>
        </p:nvSpPr>
        <p:spPr>
          <a:xfrm>
            <a:off x="2606040" y="3520440"/>
            <a:ext cx="1783080" cy="256032"/>
          </a:xfrm>
          <a:prstGeom prst="rect">
            <a:avLst/>
          </a:prstGeom>
          <a:noFill/>
          <a:ln/>
        </p:spPr>
        <p:txBody>
          <a:bodyPr wrap="square" rtlCol="0" anchor="ctr"/>
          <a:lstStyle/>
          <a:p>
            <a:pPr marL="0" indent="0" algn="ctr">
              <a:buNone/>
            </a:pPr>
            <a:r>
              <a:rPr lang="en-US" sz="1000" dirty="0">
                <a:solidFill>
                  <a:srgbClr val="DBE7FB"/>
                </a:solidFill>
                <a:latin typeface="맑은 고딕" pitchFamily="34" charset="0"/>
                <a:ea typeface="맑은 고딕" pitchFamily="34" charset="-122"/>
                <a:cs typeface="맑은 고딕" pitchFamily="34" charset="-120"/>
              </a:rPr>
              <a:t>관문 · 8080</a:t>
            </a:r>
            <a:endParaRPr lang="en-US" sz="1000" dirty="0"/>
          </a:p>
        </p:txBody>
      </p:sp>
      <p:sp>
        <p:nvSpPr>
          <p:cNvPr id="13" name="Shape 9"/>
          <p:cNvSpPr/>
          <p:nvPr/>
        </p:nvSpPr>
        <p:spPr>
          <a:xfrm>
            <a:off x="4937760" y="1874520"/>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14" name="Shape 10"/>
          <p:cNvSpPr/>
          <p:nvPr/>
        </p:nvSpPr>
        <p:spPr>
          <a:xfrm>
            <a:off x="4937760" y="1874520"/>
            <a:ext cx="73152" cy="841248"/>
          </a:xfrm>
          <a:prstGeom prst="rect">
            <a:avLst/>
          </a:prstGeom>
          <a:solidFill>
            <a:srgbClr val="3B82F6"/>
          </a:solidFill>
          <a:ln/>
        </p:spPr>
      </p:sp>
      <p:sp>
        <p:nvSpPr>
          <p:cNvPr id="15" name="Text 11"/>
          <p:cNvSpPr/>
          <p:nvPr/>
        </p:nvSpPr>
        <p:spPr>
          <a:xfrm>
            <a:off x="5138928" y="2002536"/>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Login</a:t>
            </a:r>
            <a:endParaRPr lang="en-US" sz="1350" dirty="0"/>
          </a:p>
        </p:txBody>
      </p:sp>
      <p:sp>
        <p:nvSpPr>
          <p:cNvPr id="16" name="Text 12"/>
          <p:cNvSpPr/>
          <p:nvPr/>
        </p:nvSpPr>
        <p:spPr>
          <a:xfrm>
            <a:off x="5138928" y="2331720"/>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로그인 · 8081</a:t>
            </a:r>
            <a:endParaRPr lang="en-US" sz="1050" dirty="0"/>
          </a:p>
        </p:txBody>
      </p:sp>
      <p:sp>
        <p:nvSpPr>
          <p:cNvPr id="17" name="Shape 13"/>
          <p:cNvSpPr/>
          <p:nvPr/>
        </p:nvSpPr>
        <p:spPr>
          <a:xfrm>
            <a:off x="7342632" y="1874520"/>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18" name="Shape 14"/>
          <p:cNvSpPr/>
          <p:nvPr/>
        </p:nvSpPr>
        <p:spPr>
          <a:xfrm>
            <a:off x="7342632" y="1874520"/>
            <a:ext cx="73152" cy="841248"/>
          </a:xfrm>
          <a:prstGeom prst="rect">
            <a:avLst/>
          </a:prstGeom>
          <a:solidFill>
            <a:srgbClr val="3B82F6"/>
          </a:solidFill>
          <a:ln/>
        </p:spPr>
      </p:sp>
      <p:sp>
        <p:nvSpPr>
          <p:cNvPr id="19" name="Text 15"/>
          <p:cNvSpPr/>
          <p:nvPr/>
        </p:nvSpPr>
        <p:spPr>
          <a:xfrm>
            <a:off x="7543800" y="2002536"/>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FMS</a:t>
            </a:r>
            <a:endParaRPr lang="en-US" sz="1350" dirty="0"/>
          </a:p>
        </p:txBody>
      </p:sp>
      <p:sp>
        <p:nvSpPr>
          <p:cNvPr id="20" name="Text 16"/>
          <p:cNvSpPr/>
          <p:nvPr/>
        </p:nvSpPr>
        <p:spPr>
          <a:xfrm>
            <a:off x="7543800" y="2331720"/>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파일관리 · 8082</a:t>
            </a:r>
            <a:endParaRPr lang="en-US" sz="1050" dirty="0"/>
          </a:p>
        </p:txBody>
      </p:sp>
      <p:sp>
        <p:nvSpPr>
          <p:cNvPr id="21" name="Shape 17"/>
          <p:cNvSpPr/>
          <p:nvPr/>
        </p:nvSpPr>
        <p:spPr>
          <a:xfrm>
            <a:off x="9747504" y="1874520"/>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22" name="Shape 18"/>
          <p:cNvSpPr/>
          <p:nvPr/>
        </p:nvSpPr>
        <p:spPr>
          <a:xfrm>
            <a:off x="9747504" y="1874520"/>
            <a:ext cx="73152" cy="841248"/>
          </a:xfrm>
          <a:prstGeom prst="rect">
            <a:avLst/>
          </a:prstGeom>
          <a:solidFill>
            <a:srgbClr val="3B82F6"/>
          </a:solidFill>
          <a:ln/>
        </p:spPr>
      </p:sp>
      <p:sp>
        <p:nvSpPr>
          <p:cNvPr id="23" name="Text 19"/>
          <p:cNvSpPr/>
          <p:nvPr/>
        </p:nvSpPr>
        <p:spPr>
          <a:xfrm>
            <a:off x="9948672" y="2002536"/>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Management</a:t>
            </a:r>
            <a:endParaRPr lang="en-US" sz="1350" dirty="0"/>
          </a:p>
        </p:txBody>
      </p:sp>
      <p:sp>
        <p:nvSpPr>
          <p:cNvPr id="24" name="Text 20"/>
          <p:cNvSpPr/>
          <p:nvPr/>
        </p:nvSpPr>
        <p:spPr>
          <a:xfrm>
            <a:off x="9948672" y="2331720"/>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시스템관리 · 8083</a:t>
            </a:r>
            <a:endParaRPr lang="en-US" sz="1050" dirty="0"/>
          </a:p>
        </p:txBody>
      </p:sp>
      <p:sp>
        <p:nvSpPr>
          <p:cNvPr id="25" name="Shape 21"/>
          <p:cNvSpPr/>
          <p:nvPr/>
        </p:nvSpPr>
        <p:spPr>
          <a:xfrm>
            <a:off x="4937760" y="2898648"/>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26" name="Shape 22"/>
          <p:cNvSpPr/>
          <p:nvPr/>
        </p:nvSpPr>
        <p:spPr>
          <a:xfrm>
            <a:off x="4937760" y="2898648"/>
            <a:ext cx="73152" cy="841248"/>
          </a:xfrm>
          <a:prstGeom prst="rect">
            <a:avLst/>
          </a:prstGeom>
          <a:solidFill>
            <a:srgbClr val="3B82F6"/>
          </a:solidFill>
          <a:ln/>
        </p:spPr>
      </p:sp>
      <p:sp>
        <p:nvSpPr>
          <p:cNvPr id="27" name="Text 23"/>
          <p:cNvSpPr/>
          <p:nvPr/>
        </p:nvSpPr>
        <p:spPr>
          <a:xfrm>
            <a:off x="5138928" y="3026664"/>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Register</a:t>
            </a:r>
            <a:endParaRPr lang="en-US" sz="1350" dirty="0"/>
          </a:p>
        </p:txBody>
      </p:sp>
      <p:sp>
        <p:nvSpPr>
          <p:cNvPr id="28" name="Text 24"/>
          <p:cNvSpPr/>
          <p:nvPr/>
        </p:nvSpPr>
        <p:spPr>
          <a:xfrm>
            <a:off x="5138928" y="3355848"/>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접수 · 8085</a:t>
            </a:r>
            <a:endParaRPr lang="en-US" sz="1050" dirty="0"/>
          </a:p>
        </p:txBody>
      </p:sp>
      <p:sp>
        <p:nvSpPr>
          <p:cNvPr id="29" name="Shape 25"/>
          <p:cNvSpPr/>
          <p:nvPr/>
        </p:nvSpPr>
        <p:spPr>
          <a:xfrm>
            <a:off x="7342632" y="2898648"/>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30" name="Shape 26"/>
          <p:cNvSpPr/>
          <p:nvPr/>
        </p:nvSpPr>
        <p:spPr>
          <a:xfrm>
            <a:off x="7342632" y="2898648"/>
            <a:ext cx="73152" cy="841248"/>
          </a:xfrm>
          <a:prstGeom prst="rect">
            <a:avLst/>
          </a:prstGeom>
          <a:solidFill>
            <a:srgbClr val="3B82F6"/>
          </a:solidFill>
          <a:ln/>
        </p:spPr>
      </p:sp>
      <p:sp>
        <p:nvSpPr>
          <p:cNvPr id="31" name="Text 27"/>
          <p:cNvSpPr/>
          <p:nvPr/>
        </p:nvSpPr>
        <p:spPr>
          <a:xfrm>
            <a:off x="7543800" y="3026664"/>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Inspection</a:t>
            </a:r>
            <a:endParaRPr lang="en-US" sz="1350" dirty="0"/>
          </a:p>
        </p:txBody>
      </p:sp>
      <p:sp>
        <p:nvSpPr>
          <p:cNvPr id="32" name="Text 28"/>
          <p:cNvSpPr/>
          <p:nvPr/>
        </p:nvSpPr>
        <p:spPr>
          <a:xfrm>
            <a:off x="7543800" y="3355848"/>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검사 · 8086</a:t>
            </a:r>
            <a:endParaRPr lang="en-US" sz="1050" dirty="0"/>
          </a:p>
        </p:txBody>
      </p:sp>
      <p:sp>
        <p:nvSpPr>
          <p:cNvPr id="33" name="Shape 29"/>
          <p:cNvSpPr/>
          <p:nvPr/>
        </p:nvSpPr>
        <p:spPr>
          <a:xfrm>
            <a:off x="9747504" y="2898648"/>
            <a:ext cx="2240280" cy="841248"/>
          </a:xfrm>
          <a:prstGeom prst="rect">
            <a:avLst/>
          </a:prstGeom>
          <a:solidFill>
            <a:srgbClr val="FFFFFF"/>
          </a:solidFill>
          <a:ln w="12700">
            <a:solidFill>
              <a:srgbClr val="3B82F6"/>
            </a:solidFill>
            <a:prstDash val="solid"/>
          </a:ln>
          <a:effectLst>
            <a:outerShdw blurRad="114300" dist="38100" dir="5400000" algn="bl" rotWithShape="0">
              <a:srgbClr val="0E1F45">
                <a:alpha val="14000"/>
              </a:srgbClr>
            </a:outerShdw>
          </a:effectLst>
        </p:spPr>
      </p:sp>
      <p:sp>
        <p:nvSpPr>
          <p:cNvPr id="34" name="Shape 30"/>
          <p:cNvSpPr/>
          <p:nvPr/>
        </p:nvSpPr>
        <p:spPr>
          <a:xfrm>
            <a:off x="9747504" y="2898648"/>
            <a:ext cx="73152" cy="841248"/>
          </a:xfrm>
          <a:prstGeom prst="rect">
            <a:avLst/>
          </a:prstGeom>
          <a:solidFill>
            <a:srgbClr val="3B82F6"/>
          </a:solidFill>
          <a:ln/>
        </p:spPr>
      </p:sp>
      <p:sp>
        <p:nvSpPr>
          <p:cNvPr id="35" name="Text 31"/>
          <p:cNvSpPr/>
          <p:nvPr/>
        </p:nvSpPr>
        <p:spPr>
          <a:xfrm>
            <a:off x="9948672" y="3026664"/>
            <a:ext cx="1965960" cy="329184"/>
          </a:xfrm>
          <a:prstGeom prst="rect">
            <a:avLst/>
          </a:prstGeom>
          <a:noFill/>
          <a:ln/>
        </p:spPr>
        <p:txBody>
          <a:bodyPr wrap="square" rtlCol="0" anchor="ctr"/>
          <a:lstStyle/>
          <a:p>
            <a:pPr marL="0" indent="0">
              <a:buNone/>
            </a:pPr>
            <a:r>
              <a:rPr lang="en-US" sz="1350" b="1" dirty="0">
                <a:solidFill>
                  <a:srgbClr val="1E293B"/>
                </a:solidFill>
                <a:latin typeface="맑은 고딕" pitchFamily="34" charset="0"/>
                <a:ea typeface="맑은 고딕" pitchFamily="34" charset="-122"/>
                <a:cs typeface="맑은 고딕" pitchFamily="34" charset="-120"/>
              </a:rPr>
              <a:t>Web-App</a:t>
            </a:r>
            <a:endParaRPr lang="en-US" sz="1350" dirty="0"/>
          </a:p>
        </p:txBody>
      </p:sp>
      <p:sp>
        <p:nvSpPr>
          <p:cNvPr id="36" name="Text 32"/>
          <p:cNvSpPr/>
          <p:nvPr/>
        </p:nvSpPr>
        <p:spPr>
          <a:xfrm>
            <a:off x="9948672" y="3355848"/>
            <a:ext cx="1965960" cy="274320"/>
          </a:xfrm>
          <a:prstGeom prst="rect">
            <a:avLst/>
          </a:prstGeom>
          <a:noFill/>
          <a:ln/>
        </p:spPr>
        <p:txBody>
          <a:bodyPr wrap="square" rtlCol="0" anchor="ctr"/>
          <a:lstStyle/>
          <a:p>
            <a:pPr marL="0" indent="0">
              <a:buNone/>
            </a:pPr>
            <a:r>
              <a:rPr lang="en-US" sz="1050" dirty="0">
                <a:solidFill>
                  <a:srgbClr val="5B6B85"/>
                </a:solidFill>
                <a:latin typeface="맑은 고딕" pitchFamily="34" charset="0"/>
                <a:ea typeface="맑은 고딕" pitchFamily="34" charset="-122"/>
                <a:cs typeface="맑은 고딕" pitchFamily="34" charset="-120"/>
              </a:rPr>
              <a:t>웹 화면</a:t>
            </a:r>
            <a:endParaRPr lang="en-US" sz="1050" dirty="0"/>
          </a:p>
        </p:txBody>
      </p:sp>
      <p:sp>
        <p:nvSpPr>
          <p:cNvPr id="37" name="Shape 33"/>
          <p:cNvSpPr/>
          <p:nvPr/>
        </p:nvSpPr>
        <p:spPr>
          <a:xfrm>
            <a:off x="4389120" y="3246120"/>
            <a:ext cx="502920" cy="0"/>
          </a:xfrm>
          <a:prstGeom prst="line">
            <a:avLst/>
          </a:prstGeom>
          <a:noFill/>
          <a:ln w="19050">
            <a:solidFill>
              <a:srgbClr val="5B6B85"/>
            </a:solidFill>
            <a:prstDash val="solid"/>
            <a:tailEnd type="triangle"/>
          </a:ln>
        </p:spPr>
      </p:sp>
      <p:sp>
        <p:nvSpPr>
          <p:cNvPr id="38" name="Shape 34"/>
          <p:cNvSpPr/>
          <p:nvPr/>
        </p:nvSpPr>
        <p:spPr>
          <a:xfrm>
            <a:off x="4937760" y="4617720"/>
            <a:ext cx="6720840" cy="1234440"/>
          </a:xfrm>
          <a:prstGeom prst="rect">
            <a:avLst/>
          </a:prstGeom>
          <a:solidFill>
            <a:srgbClr val="0E1F45"/>
          </a:solidFill>
          <a:ln/>
          <a:effectLst>
            <a:outerShdw blurRad="114300" dist="38100" dir="5400000" algn="bl" rotWithShape="0">
              <a:srgbClr val="0E1F45">
                <a:alpha val="14000"/>
              </a:srgbClr>
            </a:outerShdw>
          </a:effectLst>
        </p:spPr>
      </p:sp>
      <p:sp>
        <p:nvSpPr>
          <p:cNvPr id="39" name="Text 35"/>
          <p:cNvSpPr/>
          <p:nvPr/>
        </p:nvSpPr>
        <p:spPr>
          <a:xfrm>
            <a:off x="4937760" y="4617720"/>
            <a:ext cx="6720840" cy="1234440"/>
          </a:xfrm>
          <a:prstGeom prst="rect">
            <a:avLst/>
          </a:prstGeom>
          <a:noFill/>
          <a:ln/>
        </p:spPr>
        <p:txBody>
          <a:bodyPr wrap="square" rtlCol="0" anchor="ctr"/>
          <a:lstStyle/>
          <a:p>
            <a:pPr marL="0" indent="0" algn="ctr">
              <a:lnSpc>
                <a:spcPct val="110000"/>
              </a:lnSpc>
              <a:buNone/>
            </a:pPr>
            <a:r>
              <a:rPr lang="en-US" sz="1600" b="1" dirty="0">
                <a:solidFill>
                  <a:srgbClr val="F4B740"/>
                </a:solidFill>
                <a:latin typeface="맑은 고딕" pitchFamily="34" charset="0"/>
                <a:ea typeface="맑은 고딕" pitchFamily="34" charset="-122"/>
                <a:cs typeface="맑은 고딕" pitchFamily="34" charset="-120"/>
              </a:rPr>
              <a:t>CORE 라이브러리
</a:t>
            </a:r>
            <a:r>
              <a:rPr lang="en-US" sz="1150" dirty="0">
                <a:solidFill>
                  <a:srgbClr val="DBE7FB"/>
                </a:solidFill>
                <a:latin typeface="맑은 고딕" pitchFamily="34" charset="0"/>
                <a:ea typeface="맑은 고딕" pitchFamily="34" charset="-122"/>
                <a:cs typeface="맑은 고딕" pitchFamily="34" charset="-120"/>
              </a:rPr>
              <a:t>인증·보안 · 공통 CRUD · 데이터 자동변환 · 감사로그 · DB 관리 · 다국어</a:t>
            </a:r>
            <a:endParaRPr lang="en-US" sz="1600" dirty="0"/>
          </a:p>
        </p:txBody>
      </p:sp>
      <p:sp>
        <p:nvSpPr>
          <p:cNvPr id="40" name="Shape 36"/>
          <p:cNvSpPr/>
          <p:nvPr/>
        </p:nvSpPr>
        <p:spPr>
          <a:xfrm>
            <a:off x="6057900" y="4069080"/>
            <a:ext cx="0" cy="548640"/>
          </a:xfrm>
          <a:prstGeom prst="line">
            <a:avLst/>
          </a:prstGeom>
          <a:noFill/>
          <a:ln w="15240">
            <a:solidFill>
              <a:srgbClr val="3B82F6"/>
            </a:solidFill>
            <a:prstDash val="dash"/>
          </a:ln>
        </p:spPr>
      </p:sp>
      <p:sp>
        <p:nvSpPr>
          <p:cNvPr id="41" name="Shape 37"/>
          <p:cNvSpPr/>
          <p:nvPr/>
        </p:nvSpPr>
        <p:spPr>
          <a:xfrm>
            <a:off x="8462772" y="4069080"/>
            <a:ext cx="0" cy="548640"/>
          </a:xfrm>
          <a:prstGeom prst="line">
            <a:avLst/>
          </a:prstGeom>
          <a:noFill/>
          <a:ln w="15240">
            <a:solidFill>
              <a:srgbClr val="3B82F6"/>
            </a:solidFill>
            <a:prstDash val="dash"/>
          </a:ln>
        </p:spPr>
      </p:sp>
      <p:sp>
        <p:nvSpPr>
          <p:cNvPr id="42" name="Shape 38"/>
          <p:cNvSpPr/>
          <p:nvPr/>
        </p:nvSpPr>
        <p:spPr>
          <a:xfrm>
            <a:off x="10867644" y="4069080"/>
            <a:ext cx="0" cy="548640"/>
          </a:xfrm>
          <a:prstGeom prst="line">
            <a:avLst/>
          </a:prstGeom>
          <a:noFill/>
          <a:ln w="15240">
            <a:solidFill>
              <a:srgbClr val="3B82F6"/>
            </a:solidFill>
            <a:prstDash val="dash"/>
          </a:ln>
        </p:spPr>
      </p:sp>
      <p:sp>
        <p:nvSpPr>
          <p:cNvPr id="44" name="Text 3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45" name="Text 4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CORE CAPABILITIES</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Core가 맡는 4가지 핵심 역할</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모든 서비스가 공통으로 필요로 하는 기능을 Core가 책임집니다</a:t>
            </a:r>
            <a:endParaRPr lang="en-US" sz="1350" dirty="0"/>
          </a:p>
        </p:txBody>
      </p:sp>
      <p:sp>
        <p:nvSpPr>
          <p:cNvPr id="5" name="Shape 3"/>
          <p:cNvSpPr/>
          <p:nvPr/>
        </p:nvSpPr>
        <p:spPr>
          <a:xfrm>
            <a:off x="502920" y="201168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868680" y="2514600"/>
            <a:ext cx="868680" cy="868680"/>
          </a:xfrm>
          <a:prstGeom prst="ellipse">
            <a:avLst/>
          </a:prstGeom>
          <a:solidFill>
            <a:srgbClr val="1D4ED8"/>
          </a:solidFill>
          <a:ln/>
        </p:spPr>
      </p:sp>
      <p:pic>
        <p:nvPicPr>
          <p:cNvPr id="7" name="Image 0" descr="preencoded.png"/>
          <p:cNvPicPr>
            <a:picLocks noChangeAspect="1"/>
          </p:cNvPicPr>
          <p:nvPr/>
        </p:nvPicPr>
        <p:blipFill>
          <a:blip r:embed="rId3"/>
          <a:stretch>
            <a:fillRect/>
          </a:stretch>
        </p:blipFill>
        <p:spPr>
          <a:xfrm>
            <a:off x="1088136" y="2734056"/>
            <a:ext cx="429768" cy="429768"/>
          </a:xfrm>
          <a:prstGeom prst="rect">
            <a:avLst/>
          </a:prstGeom>
        </p:spPr>
      </p:pic>
      <p:sp>
        <p:nvSpPr>
          <p:cNvPr id="8" name="Text 5"/>
          <p:cNvSpPr/>
          <p:nvPr/>
        </p:nvSpPr>
        <p:spPr>
          <a:xfrm>
            <a:off x="1965960" y="239572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인증 · 보안</a:t>
            </a:r>
            <a:endParaRPr lang="en-US" sz="1900" dirty="0"/>
          </a:p>
        </p:txBody>
      </p:sp>
      <p:sp>
        <p:nvSpPr>
          <p:cNvPr id="9" name="Text 6"/>
          <p:cNvSpPr/>
          <p:nvPr/>
        </p:nvSpPr>
        <p:spPr>
          <a:xfrm>
            <a:off x="1965960" y="292608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로그인, 권한 확인, 토큰 발급으로 '아무나 못 들어오게'</a:t>
            </a:r>
            <a:endParaRPr lang="en-US" sz="1300" dirty="0"/>
          </a:p>
        </p:txBody>
      </p:sp>
      <p:sp>
        <p:nvSpPr>
          <p:cNvPr id="10" name="Shape 7"/>
          <p:cNvSpPr/>
          <p:nvPr/>
        </p:nvSpPr>
        <p:spPr>
          <a:xfrm>
            <a:off x="6309360" y="201168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1" name="Shape 8"/>
          <p:cNvSpPr/>
          <p:nvPr/>
        </p:nvSpPr>
        <p:spPr>
          <a:xfrm>
            <a:off x="6675120" y="2514600"/>
            <a:ext cx="868680" cy="868680"/>
          </a:xfrm>
          <a:prstGeom prst="ellipse">
            <a:avLst/>
          </a:prstGeom>
          <a:solidFill>
            <a:srgbClr val="2563EB"/>
          </a:solidFill>
          <a:ln/>
        </p:spPr>
      </p:sp>
      <p:pic>
        <p:nvPicPr>
          <p:cNvPr id="12" name="Image 1" descr="preencoded.png"/>
          <p:cNvPicPr>
            <a:picLocks noChangeAspect="1"/>
          </p:cNvPicPr>
          <p:nvPr/>
        </p:nvPicPr>
        <p:blipFill>
          <a:blip r:embed="rId4"/>
          <a:stretch>
            <a:fillRect/>
          </a:stretch>
        </p:blipFill>
        <p:spPr>
          <a:xfrm>
            <a:off x="6894576" y="2734056"/>
            <a:ext cx="429768" cy="429768"/>
          </a:xfrm>
          <a:prstGeom prst="rect">
            <a:avLst/>
          </a:prstGeom>
        </p:spPr>
      </p:pic>
      <p:sp>
        <p:nvSpPr>
          <p:cNvPr id="13" name="Text 9"/>
          <p:cNvSpPr/>
          <p:nvPr/>
        </p:nvSpPr>
        <p:spPr>
          <a:xfrm>
            <a:off x="7772400" y="239572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공통 업무 기능</a:t>
            </a:r>
            <a:endParaRPr lang="en-US" sz="1900" dirty="0"/>
          </a:p>
        </p:txBody>
      </p:sp>
      <p:sp>
        <p:nvSpPr>
          <p:cNvPr id="14" name="Text 10"/>
          <p:cNvSpPr/>
          <p:nvPr/>
        </p:nvSpPr>
        <p:spPr>
          <a:xfrm>
            <a:off x="7772400" y="292608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조회·등록·수정·삭제(CRUD)의 표준 골격을 제공</a:t>
            </a:r>
            <a:endParaRPr lang="en-US" sz="1300" dirty="0"/>
          </a:p>
        </p:txBody>
      </p:sp>
      <p:sp>
        <p:nvSpPr>
          <p:cNvPr id="15" name="Shape 11"/>
          <p:cNvSpPr/>
          <p:nvPr/>
        </p:nvSpPr>
        <p:spPr>
          <a:xfrm>
            <a:off x="502920" y="420624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6" name="Shape 12"/>
          <p:cNvSpPr/>
          <p:nvPr/>
        </p:nvSpPr>
        <p:spPr>
          <a:xfrm>
            <a:off x="868680" y="4709160"/>
            <a:ext cx="868680" cy="868680"/>
          </a:xfrm>
          <a:prstGeom prst="ellipse">
            <a:avLst/>
          </a:prstGeom>
          <a:solidFill>
            <a:srgbClr val="3B82F6"/>
          </a:solidFill>
          <a:ln/>
        </p:spPr>
      </p:sp>
      <p:pic>
        <p:nvPicPr>
          <p:cNvPr id="17" name="Image 2" descr="preencoded.png"/>
          <p:cNvPicPr>
            <a:picLocks noChangeAspect="1"/>
          </p:cNvPicPr>
          <p:nvPr/>
        </p:nvPicPr>
        <p:blipFill>
          <a:blip r:embed="rId5"/>
          <a:stretch>
            <a:fillRect/>
          </a:stretch>
        </p:blipFill>
        <p:spPr>
          <a:xfrm>
            <a:off x="1088136" y="4928616"/>
            <a:ext cx="429768" cy="429768"/>
          </a:xfrm>
          <a:prstGeom prst="rect">
            <a:avLst/>
          </a:prstGeom>
        </p:spPr>
      </p:pic>
      <p:sp>
        <p:nvSpPr>
          <p:cNvPr id="18" name="Text 13"/>
          <p:cNvSpPr/>
          <p:nvPr/>
        </p:nvSpPr>
        <p:spPr>
          <a:xfrm>
            <a:off x="1965960" y="459028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데이터 자동 처리</a:t>
            </a:r>
            <a:endParaRPr lang="en-US" sz="1900" dirty="0"/>
          </a:p>
        </p:txBody>
      </p:sp>
      <p:sp>
        <p:nvSpPr>
          <p:cNvPr id="19" name="Text 14"/>
          <p:cNvSpPr/>
          <p:nvPr/>
        </p:nvSpPr>
        <p:spPr>
          <a:xfrm>
            <a:off x="1965960" y="512064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주민·전화번호 하이픈, 금액 콤마 등 자동 정리</a:t>
            </a:r>
            <a:endParaRPr lang="en-US" sz="1300" dirty="0"/>
          </a:p>
        </p:txBody>
      </p:sp>
      <p:sp>
        <p:nvSpPr>
          <p:cNvPr id="20" name="Shape 15"/>
          <p:cNvSpPr/>
          <p:nvPr/>
        </p:nvSpPr>
        <p:spPr>
          <a:xfrm>
            <a:off x="6309360" y="4206240"/>
            <a:ext cx="5440680" cy="18745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1" name="Shape 16"/>
          <p:cNvSpPr/>
          <p:nvPr/>
        </p:nvSpPr>
        <p:spPr>
          <a:xfrm>
            <a:off x="6675120" y="4709160"/>
            <a:ext cx="868680" cy="868680"/>
          </a:xfrm>
          <a:prstGeom prst="ellipse">
            <a:avLst/>
          </a:prstGeom>
          <a:solidFill>
            <a:srgbClr val="1B6FB0"/>
          </a:solidFill>
          <a:ln/>
        </p:spPr>
      </p:sp>
      <p:pic>
        <p:nvPicPr>
          <p:cNvPr id="22" name="Image 3" descr="preencoded.png"/>
          <p:cNvPicPr>
            <a:picLocks noChangeAspect="1"/>
          </p:cNvPicPr>
          <p:nvPr/>
        </p:nvPicPr>
        <p:blipFill>
          <a:blip r:embed="rId6"/>
          <a:stretch>
            <a:fillRect/>
          </a:stretch>
        </p:blipFill>
        <p:spPr>
          <a:xfrm>
            <a:off x="6894576" y="4928616"/>
            <a:ext cx="429768" cy="429768"/>
          </a:xfrm>
          <a:prstGeom prst="rect">
            <a:avLst/>
          </a:prstGeom>
        </p:spPr>
      </p:pic>
      <p:sp>
        <p:nvSpPr>
          <p:cNvPr id="23" name="Text 17"/>
          <p:cNvSpPr/>
          <p:nvPr/>
        </p:nvSpPr>
        <p:spPr>
          <a:xfrm>
            <a:off x="7772400" y="4590288"/>
            <a:ext cx="3794760" cy="457200"/>
          </a:xfrm>
          <a:prstGeom prst="rect">
            <a:avLst/>
          </a:prstGeom>
          <a:noFill/>
          <a:ln/>
        </p:spPr>
        <p:txBody>
          <a:bodyPr wrap="square" rtlCol="0" anchor="ctr"/>
          <a:lstStyle/>
          <a:p>
            <a:pPr marL="0" indent="0">
              <a:buNone/>
            </a:pPr>
            <a:r>
              <a:rPr lang="en-US" sz="1900" b="1" dirty="0">
                <a:solidFill>
                  <a:srgbClr val="1E293B"/>
                </a:solidFill>
                <a:latin typeface="맑은 고딕" pitchFamily="34" charset="0"/>
                <a:ea typeface="맑은 고딕" pitchFamily="34" charset="-122"/>
                <a:cs typeface="맑은 고딕" pitchFamily="34" charset="-120"/>
              </a:rPr>
              <a:t>기록 · 운영 관리</a:t>
            </a:r>
            <a:endParaRPr lang="en-US" sz="1900" dirty="0"/>
          </a:p>
        </p:txBody>
      </p:sp>
      <p:sp>
        <p:nvSpPr>
          <p:cNvPr id="24" name="Text 18"/>
          <p:cNvSpPr/>
          <p:nvPr/>
        </p:nvSpPr>
        <p:spPr>
          <a:xfrm>
            <a:off x="7772400" y="5120640"/>
            <a:ext cx="3749040" cy="731520"/>
          </a:xfrm>
          <a:prstGeom prst="rect">
            <a:avLst/>
          </a:prstGeom>
          <a:noFill/>
          <a:ln/>
        </p:spPr>
        <p:txBody>
          <a:bodyPr wrap="square" rtlCol="0" anchor="ctr"/>
          <a:lstStyle/>
          <a:p>
            <a:pPr marL="0" indent="0">
              <a:lnSpc>
                <a:spcPct val="115000"/>
              </a:lnSpc>
              <a:buNone/>
            </a:pPr>
            <a:r>
              <a:rPr lang="en-US" sz="1300" dirty="0">
                <a:solidFill>
                  <a:srgbClr val="5B6B85"/>
                </a:solidFill>
                <a:latin typeface="맑은 고딕" pitchFamily="34" charset="0"/>
                <a:ea typeface="맑은 고딕" pitchFamily="34" charset="-122"/>
                <a:cs typeface="맑은 고딕" pitchFamily="34" charset="-120"/>
              </a:rPr>
              <a:t>누가 무엇을 했는지 기록, DB 자동 정비</a:t>
            </a:r>
            <a:endParaRPr lang="en-US" sz="1300" dirty="0"/>
          </a:p>
        </p:txBody>
      </p:sp>
      <p:sp>
        <p:nvSpPr>
          <p:cNvPr id="26" name="Text 1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7" name="Text 2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SECURITY</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안심하고 믿을 수 있는 보안</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출입증(토큰)과 세분화된 권한으로 정보를 안전하게 지킵니다</a:t>
            </a:r>
            <a:endParaRPr lang="en-US" sz="1350" dirty="0"/>
          </a:p>
        </p:txBody>
      </p:sp>
      <p:sp>
        <p:nvSpPr>
          <p:cNvPr id="5" name="Shape 3"/>
          <p:cNvSpPr/>
          <p:nvPr/>
        </p:nvSpPr>
        <p:spPr>
          <a:xfrm>
            <a:off x="50292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502920" y="2057400"/>
            <a:ext cx="91440" cy="1828800"/>
          </a:xfrm>
          <a:prstGeom prst="rect">
            <a:avLst/>
          </a:prstGeom>
          <a:solidFill>
            <a:srgbClr val="1D4ED8"/>
          </a:solidFill>
          <a:ln/>
        </p:spPr>
      </p:sp>
      <p:pic>
        <p:nvPicPr>
          <p:cNvPr id="7" name="Image 0" descr="preencoded.png"/>
          <p:cNvPicPr>
            <a:picLocks noChangeAspect="1"/>
          </p:cNvPicPr>
          <p:nvPr/>
        </p:nvPicPr>
        <p:blipFill>
          <a:blip r:embed="rId3"/>
          <a:stretch>
            <a:fillRect/>
          </a:stretch>
        </p:blipFill>
        <p:spPr>
          <a:xfrm>
            <a:off x="886968" y="2423160"/>
            <a:ext cx="548640" cy="548640"/>
          </a:xfrm>
          <a:prstGeom prst="rect">
            <a:avLst/>
          </a:prstGeom>
        </p:spPr>
      </p:pic>
      <p:sp>
        <p:nvSpPr>
          <p:cNvPr id="8" name="Text 5"/>
          <p:cNvSpPr/>
          <p:nvPr/>
        </p:nvSpPr>
        <p:spPr>
          <a:xfrm>
            <a:off x="1645920" y="2423160"/>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디지털 출입증 (JWT)</a:t>
            </a:r>
            <a:endParaRPr lang="en-US" sz="1650" dirty="0"/>
          </a:p>
        </p:txBody>
      </p:sp>
      <p:sp>
        <p:nvSpPr>
          <p:cNvPr id="9" name="Text 6"/>
          <p:cNvSpPr/>
          <p:nvPr/>
        </p:nvSpPr>
        <p:spPr>
          <a:xfrm>
            <a:off x="1645920" y="2990088"/>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로그인하면 위·변조가 불가능한 디지털 출입증을 발급. 매 요청마다 자동 확인합니다.</a:t>
            </a:r>
            <a:endParaRPr lang="en-US" sz="1250" dirty="0"/>
          </a:p>
        </p:txBody>
      </p:sp>
      <p:sp>
        <p:nvSpPr>
          <p:cNvPr id="10" name="Shape 7"/>
          <p:cNvSpPr/>
          <p:nvPr/>
        </p:nvSpPr>
        <p:spPr>
          <a:xfrm>
            <a:off x="630936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1" name="Shape 8"/>
          <p:cNvSpPr/>
          <p:nvPr/>
        </p:nvSpPr>
        <p:spPr>
          <a:xfrm>
            <a:off x="6309360" y="2057400"/>
            <a:ext cx="91440" cy="1828800"/>
          </a:xfrm>
          <a:prstGeom prst="rect">
            <a:avLst/>
          </a:prstGeom>
          <a:solidFill>
            <a:srgbClr val="1D4ED8"/>
          </a:solidFill>
          <a:ln/>
        </p:spPr>
      </p:sp>
      <p:pic>
        <p:nvPicPr>
          <p:cNvPr id="12" name="Image 1" descr="preencoded.png"/>
          <p:cNvPicPr>
            <a:picLocks noChangeAspect="1"/>
          </p:cNvPicPr>
          <p:nvPr/>
        </p:nvPicPr>
        <p:blipFill>
          <a:blip r:embed="rId4"/>
          <a:stretch>
            <a:fillRect/>
          </a:stretch>
        </p:blipFill>
        <p:spPr>
          <a:xfrm>
            <a:off x="6693408" y="2423160"/>
            <a:ext cx="548640" cy="548640"/>
          </a:xfrm>
          <a:prstGeom prst="rect">
            <a:avLst/>
          </a:prstGeom>
        </p:spPr>
      </p:pic>
      <p:sp>
        <p:nvSpPr>
          <p:cNvPr id="13" name="Text 9"/>
          <p:cNvSpPr/>
          <p:nvPr/>
        </p:nvSpPr>
        <p:spPr>
          <a:xfrm>
            <a:off x="7452360" y="2423160"/>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세분화된 권한 11종</a:t>
            </a:r>
            <a:endParaRPr lang="en-US" sz="1650" dirty="0"/>
          </a:p>
        </p:txBody>
      </p:sp>
      <p:sp>
        <p:nvSpPr>
          <p:cNvPr id="14" name="Text 10"/>
          <p:cNvSpPr/>
          <p:nvPr/>
        </p:nvSpPr>
        <p:spPr>
          <a:xfrm>
            <a:off x="7452360" y="2990088"/>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일반·관리자·매니저를 조회/등록/수정/삭제까지 나눠, 필요한 만큼만 접근을 허용합니다.</a:t>
            </a:r>
            <a:endParaRPr lang="en-US" sz="1250" dirty="0"/>
          </a:p>
        </p:txBody>
      </p:sp>
      <p:sp>
        <p:nvSpPr>
          <p:cNvPr id="15" name="Shape 11"/>
          <p:cNvSpPr/>
          <p:nvPr/>
        </p:nvSpPr>
        <p:spPr>
          <a:xfrm>
            <a:off x="50292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6" name="Shape 12"/>
          <p:cNvSpPr/>
          <p:nvPr/>
        </p:nvSpPr>
        <p:spPr>
          <a:xfrm>
            <a:off x="502920" y="4178808"/>
            <a:ext cx="91440" cy="1828800"/>
          </a:xfrm>
          <a:prstGeom prst="rect">
            <a:avLst/>
          </a:prstGeom>
          <a:solidFill>
            <a:srgbClr val="1D4ED8"/>
          </a:solidFill>
          <a:ln/>
        </p:spPr>
      </p:sp>
      <p:pic>
        <p:nvPicPr>
          <p:cNvPr id="17" name="Image 2" descr="preencoded.png"/>
          <p:cNvPicPr>
            <a:picLocks noChangeAspect="1"/>
          </p:cNvPicPr>
          <p:nvPr/>
        </p:nvPicPr>
        <p:blipFill>
          <a:blip r:embed="rId5"/>
          <a:stretch>
            <a:fillRect/>
          </a:stretch>
        </p:blipFill>
        <p:spPr>
          <a:xfrm>
            <a:off x="886968" y="4544568"/>
            <a:ext cx="548640" cy="548640"/>
          </a:xfrm>
          <a:prstGeom prst="rect">
            <a:avLst/>
          </a:prstGeom>
        </p:spPr>
      </p:pic>
      <p:sp>
        <p:nvSpPr>
          <p:cNvPr id="18" name="Text 13"/>
          <p:cNvSpPr/>
          <p:nvPr/>
        </p:nvSpPr>
        <p:spPr>
          <a:xfrm>
            <a:off x="1645920" y="4544568"/>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비밀번호 정책</a:t>
            </a:r>
            <a:endParaRPr lang="en-US" sz="1650" dirty="0"/>
          </a:p>
        </p:txBody>
      </p:sp>
      <p:sp>
        <p:nvSpPr>
          <p:cNvPr id="19" name="Text 14"/>
          <p:cNvSpPr/>
          <p:nvPr/>
        </p:nvSpPr>
        <p:spPr>
          <a:xfrm>
            <a:off x="1645920" y="5111496"/>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길이·대소문자·숫자·특수문자 규칙을 시스템이 강제해 취약한 비밀번호를 차단합니다.</a:t>
            </a:r>
            <a:endParaRPr lang="en-US" sz="1250" dirty="0"/>
          </a:p>
        </p:txBody>
      </p:sp>
      <p:sp>
        <p:nvSpPr>
          <p:cNvPr id="20" name="Shape 15"/>
          <p:cNvSpPr/>
          <p:nvPr/>
        </p:nvSpPr>
        <p:spPr>
          <a:xfrm>
            <a:off x="630936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1" name="Shape 16"/>
          <p:cNvSpPr/>
          <p:nvPr/>
        </p:nvSpPr>
        <p:spPr>
          <a:xfrm>
            <a:off x="6309360" y="4178808"/>
            <a:ext cx="91440" cy="1828800"/>
          </a:xfrm>
          <a:prstGeom prst="rect">
            <a:avLst/>
          </a:prstGeom>
          <a:solidFill>
            <a:srgbClr val="1D4ED8"/>
          </a:solidFill>
          <a:ln/>
        </p:spPr>
      </p:sp>
      <p:pic>
        <p:nvPicPr>
          <p:cNvPr id="22" name="Image 3" descr="preencoded.png"/>
          <p:cNvPicPr>
            <a:picLocks noChangeAspect="1"/>
          </p:cNvPicPr>
          <p:nvPr/>
        </p:nvPicPr>
        <p:blipFill>
          <a:blip r:embed="rId6"/>
          <a:stretch>
            <a:fillRect/>
          </a:stretch>
        </p:blipFill>
        <p:spPr>
          <a:xfrm>
            <a:off x="6693408" y="4544568"/>
            <a:ext cx="548640" cy="548640"/>
          </a:xfrm>
          <a:prstGeom prst="rect">
            <a:avLst/>
          </a:prstGeom>
        </p:spPr>
      </p:pic>
      <p:sp>
        <p:nvSpPr>
          <p:cNvPr id="23" name="Text 17"/>
          <p:cNvSpPr/>
          <p:nvPr/>
        </p:nvSpPr>
        <p:spPr>
          <a:xfrm>
            <a:off x="7452360" y="4544568"/>
            <a:ext cx="4069080" cy="502920"/>
          </a:xfrm>
          <a:prstGeom prst="rect">
            <a:avLst/>
          </a:prstGeom>
          <a:noFill/>
          <a:ln/>
        </p:spPr>
        <p:txBody>
          <a:bodyPr wrap="square" rtlCol="0" anchor="ctr"/>
          <a:lstStyle/>
          <a:p>
            <a:pPr marL="0" indent="0">
              <a:buNone/>
            </a:pPr>
            <a:r>
              <a:rPr lang="en-US" sz="1650" b="1" dirty="0">
                <a:solidFill>
                  <a:srgbClr val="1E293B"/>
                </a:solidFill>
                <a:latin typeface="맑은 고딕" pitchFamily="34" charset="0"/>
                <a:ea typeface="맑은 고딕" pitchFamily="34" charset="-122"/>
                <a:cs typeface="맑은 고딕" pitchFamily="34" charset="-120"/>
              </a:rPr>
              <a:t>관문 단일 통제</a:t>
            </a:r>
            <a:endParaRPr lang="en-US" sz="1650" dirty="0"/>
          </a:p>
        </p:txBody>
      </p:sp>
      <p:sp>
        <p:nvSpPr>
          <p:cNvPr id="24" name="Text 18"/>
          <p:cNvSpPr/>
          <p:nvPr/>
        </p:nvSpPr>
        <p:spPr>
          <a:xfrm>
            <a:off x="7452360" y="5111496"/>
            <a:ext cx="4069080" cy="777240"/>
          </a:xfrm>
          <a:prstGeom prst="rect">
            <a:avLst/>
          </a:prstGeom>
          <a:noFill/>
          <a:ln/>
        </p:spPr>
        <p:txBody>
          <a:bodyPr wrap="square" rtlCol="0" anchor="ctr"/>
          <a:lstStyle/>
          <a:p>
            <a:pPr marL="0" indent="0">
              <a:lnSpc>
                <a:spcPct val="115000"/>
              </a:lnSpc>
              <a:buNone/>
            </a:pPr>
            <a:r>
              <a:rPr lang="en-US" sz="1250" dirty="0">
                <a:solidFill>
                  <a:srgbClr val="5B6B85"/>
                </a:solidFill>
                <a:latin typeface="맑은 고딕" pitchFamily="34" charset="0"/>
                <a:ea typeface="맑은 고딕" pitchFamily="34" charset="-122"/>
                <a:cs typeface="맑은 고딕" pitchFamily="34" charset="-120"/>
              </a:rPr>
              <a:t>모든 접근이 Gateway 한 곳을 통과 — 점검과 차단을 일괄 관리합니다.</a:t>
            </a:r>
            <a:endParaRPr lang="en-US" sz="1250" dirty="0"/>
          </a:p>
        </p:txBody>
      </p:sp>
      <p:sp>
        <p:nvSpPr>
          <p:cNvPr id="26" name="Text 1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7" name="Text 2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9326880" y="-1828800"/>
            <a:ext cx="4937760" cy="4937760"/>
          </a:xfrm>
          <a:prstGeom prst="ellipse">
            <a:avLst/>
          </a:prstGeom>
          <a:solidFill>
            <a:srgbClr val="14264F"/>
          </a:solidFill>
          <a:ln/>
        </p:spPr>
      </p:sp>
      <p:sp>
        <p:nvSpPr>
          <p:cNvPr id="3" name="Text 1"/>
          <p:cNvSpPr/>
          <p:nvPr/>
        </p:nvSpPr>
        <p:spPr>
          <a:xfrm>
            <a:off x="548640" y="640080"/>
            <a:ext cx="5486400" cy="365760"/>
          </a:xfrm>
          <a:prstGeom prst="rect">
            <a:avLst/>
          </a:prstGeom>
          <a:noFill/>
          <a:ln/>
        </p:spPr>
        <p:txBody>
          <a:bodyPr wrap="square" rtlCol="0" anchor="ctr"/>
          <a:lstStyle/>
          <a:p>
            <a:pPr marL="0" indent="0">
              <a:buNone/>
            </a:pPr>
            <a:r>
              <a:rPr lang="en-US" sz="1200" b="1" kern="0" spc="200" dirty="0">
                <a:solidFill>
                  <a:srgbClr val="3B82F6"/>
                </a:solidFill>
                <a:latin typeface="맑은 고딕" pitchFamily="34" charset="0"/>
                <a:ea typeface="맑은 고딕" pitchFamily="34" charset="-122"/>
                <a:cs typeface="맑은 고딕" pitchFamily="34" charset="-120"/>
              </a:rPr>
              <a:t>기록 · 추적</a:t>
            </a:r>
            <a:endParaRPr lang="en-US" sz="1200" dirty="0"/>
          </a:p>
        </p:txBody>
      </p:sp>
      <p:sp>
        <p:nvSpPr>
          <p:cNvPr id="4" name="Text 2"/>
          <p:cNvSpPr/>
          <p:nvPr/>
        </p:nvSpPr>
        <p:spPr>
          <a:xfrm>
            <a:off x="548640" y="1143000"/>
            <a:ext cx="10972800" cy="640080"/>
          </a:xfrm>
          <a:prstGeom prst="rect">
            <a:avLst/>
          </a:prstGeom>
          <a:noFill/>
          <a:ln/>
        </p:spPr>
        <p:txBody>
          <a:bodyPr wrap="square" rtlCol="0" anchor="ctr"/>
          <a:lstStyle/>
          <a:p>
            <a:pPr marL="0" indent="0">
              <a:buNone/>
            </a:pPr>
            <a:r>
              <a:rPr lang="en-US" sz="2900" b="1" dirty="0">
                <a:solidFill>
                  <a:srgbClr val="FFFFFF"/>
                </a:solidFill>
                <a:latin typeface="맑은 고딕" pitchFamily="34" charset="0"/>
                <a:ea typeface="맑은 고딕" pitchFamily="34" charset="-122"/>
                <a:cs typeface="맑은 고딕" pitchFamily="34" charset="-120"/>
              </a:rPr>
              <a:t>누가, 언제, 무엇을 했는지 모두 남습니다</a:t>
            </a:r>
            <a:endParaRPr lang="en-US" sz="2900" dirty="0"/>
          </a:p>
        </p:txBody>
      </p:sp>
      <p:sp>
        <p:nvSpPr>
          <p:cNvPr id="5" name="Text 3"/>
          <p:cNvSpPr/>
          <p:nvPr/>
        </p:nvSpPr>
        <p:spPr>
          <a:xfrm>
            <a:off x="548640" y="1874520"/>
            <a:ext cx="10972800" cy="777240"/>
          </a:xfrm>
          <a:prstGeom prst="rect">
            <a:avLst/>
          </a:prstGeom>
          <a:noFill/>
          <a:ln/>
        </p:spPr>
        <p:txBody>
          <a:bodyPr wrap="square" rtlCol="0" anchor="ctr"/>
          <a:lstStyle/>
          <a:p>
            <a:pPr marL="0" indent="0">
              <a:lnSpc>
                <a:spcPct val="120000"/>
              </a:lnSpc>
              <a:buNone/>
            </a:pPr>
            <a:r>
              <a:rPr lang="en-US" sz="1450" dirty="0">
                <a:solidFill>
                  <a:srgbClr val="DBE7FB"/>
                </a:solidFill>
                <a:latin typeface="맑은 고딕" pitchFamily="34" charset="0"/>
                <a:ea typeface="맑은 고딕" pitchFamily="34" charset="-122"/>
                <a:cs typeface="맑은 고딕" pitchFamily="34" charset="-120"/>
              </a:rPr>
              <a:t>Core가 데이터 변경(등록·수정·삭제)과 접속 이력을 자동으로 기록합니다. 사람이 따로 신경 쓰지 않아도 감사 추적이 가능해, 사고 발생 시 원인 파악과 책임 소재가 명확합니다.</a:t>
            </a:r>
            <a:endParaRPr lang="en-US" sz="1450" dirty="0"/>
          </a:p>
        </p:txBody>
      </p:sp>
      <p:sp>
        <p:nvSpPr>
          <p:cNvPr id="6" name="Shape 4"/>
          <p:cNvSpPr/>
          <p:nvPr/>
        </p:nvSpPr>
        <p:spPr>
          <a:xfrm>
            <a:off x="548640" y="3017520"/>
            <a:ext cx="3611880" cy="3017520"/>
          </a:xfrm>
          <a:prstGeom prst="rect">
            <a:avLst/>
          </a:prstGeom>
          <a:solidFill>
            <a:srgbClr val="14264F"/>
          </a:solidFill>
          <a:ln w="12700">
            <a:solidFill>
              <a:srgbClr val="3B82F6"/>
            </a:solidFill>
            <a:prstDash val="solid"/>
          </a:ln>
          <a:effectLst>
            <a:outerShdw blurRad="114300" dist="38100" dir="5400000" algn="bl" rotWithShape="0">
              <a:srgbClr val="0E1F45">
                <a:alpha val="14000"/>
              </a:srgbClr>
            </a:outerShdw>
          </a:effectLst>
        </p:spPr>
      </p:sp>
      <p:pic>
        <p:nvPicPr>
          <p:cNvPr id="7" name="Image 0" descr="preencoded.png"/>
          <p:cNvPicPr>
            <a:picLocks noChangeAspect="1"/>
          </p:cNvPicPr>
          <p:nvPr/>
        </p:nvPicPr>
        <p:blipFill>
          <a:blip r:embed="rId3"/>
          <a:stretch>
            <a:fillRect/>
          </a:stretch>
        </p:blipFill>
        <p:spPr>
          <a:xfrm>
            <a:off x="914400" y="3291840"/>
            <a:ext cx="548640" cy="548640"/>
          </a:xfrm>
          <a:prstGeom prst="rect">
            <a:avLst/>
          </a:prstGeom>
        </p:spPr>
      </p:pic>
      <p:sp>
        <p:nvSpPr>
          <p:cNvPr id="8" name="Text 5"/>
          <p:cNvSpPr/>
          <p:nvPr/>
        </p:nvSpPr>
        <p:spPr>
          <a:xfrm>
            <a:off x="868680" y="3886200"/>
            <a:ext cx="2971800" cy="777240"/>
          </a:xfrm>
          <a:prstGeom prst="rect">
            <a:avLst/>
          </a:prstGeom>
          <a:noFill/>
          <a:ln/>
        </p:spPr>
        <p:txBody>
          <a:bodyPr wrap="square" rtlCol="0" anchor="ctr"/>
          <a:lstStyle/>
          <a:p>
            <a:pPr marL="0" indent="0">
              <a:buNone/>
            </a:pPr>
            <a:r>
              <a:rPr lang="en-US" sz="4400" b="1" dirty="0">
                <a:solidFill>
                  <a:srgbClr val="F4B740"/>
                </a:solidFill>
                <a:latin typeface="맑은 고딕" pitchFamily="34" charset="0"/>
                <a:ea typeface="맑은 고딕" pitchFamily="34" charset="-122"/>
                <a:cs typeface="맑은 고딕" pitchFamily="34" charset="-120"/>
              </a:rPr>
              <a:t>2종</a:t>
            </a:r>
            <a:endParaRPr lang="en-US" sz="4400" dirty="0"/>
          </a:p>
        </p:txBody>
      </p:sp>
      <p:sp>
        <p:nvSpPr>
          <p:cNvPr id="9" name="Text 6"/>
          <p:cNvSpPr/>
          <p:nvPr/>
        </p:nvSpPr>
        <p:spPr>
          <a:xfrm>
            <a:off x="914400" y="4709160"/>
            <a:ext cx="2971800" cy="365760"/>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감사로그 자동 기록</a:t>
            </a:r>
            <a:endParaRPr lang="en-US" sz="1500" dirty="0"/>
          </a:p>
        </p:txBody>
      </p:sp>
      <p:sp>
        <p:nvSpPr>
          <p:cNvPr id="10" name="Text 7"/>
          <p:cNvSpPr/>
          <p:nvPr/>
        </p:nvSpPr>
        <p:spPr>
          <a:xfrm>
            <a:off x="914400" y="5102352"/>
            <a:ext cx="2971800" cy="822960"/>
          </a:xfrm>
          <a:prstGeom prst="rect">
            <a:avLst/>
          </a:prstGeom>
          <a:noFill/>
          <a:ln/>
        </p:spPr>
        <p:txBody>
          <a:bodyPr wrap="square" rtlCol="0" anchor="ctr"/>
          <a:lstStyle/>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변경 이력(SYS_EVT_LOG)</a:t>
            </a:r>
            <a:endParaRPr lang="en-US" sz="1200" dirty="0"/>
          </a:p>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접속 이력(SYS_ACS_LOG)</a:t>
            </a:r>
            <a:endParaRPr lang="en-US" sz="1200" dirty="0"/>
          </a:p>
        </p:txBody>
      </p:sp>
      <p:sp>
        <p:nvSpPr>
          <p:cNvPr id="11" name="Shape 8"/>
          <p:cNvSpPr/>
          <p:nvPr/>
        </p:nvSpPr>
        <p:spPr>
          <a:xfrm>
            <a:off x="4453128" y="3017520"/>
            <a:ext cx="3611880" cy="3017520"/>
          </a:xfrm>
          <a:prstGeom prst="rect">
            <a:avLst/>
          </a:prstGeom>
          <a:solidFill>
            <a:srgbClr val="14264F"/>
          </a:solidFill>
          <a:ln w="12700">
            <a:solidFill>
              <a:srgbClr val="3B82F6"/>
            </a:solidFill>
            <a:prstDash val="solid"/>
          </a:ln>
          <a:effectLst>
            <a:outerShdw blurRad="114300" dist="38100" dir="5400000" algn="bl" rotWithShape="0">
              <a:srgbClr val="0E1F45">
                <a:alpha val="14000"/>
              </a:srgbClr>
            </a:outerShdw>
          </a:effectLst>
        </p:spPr>
      </p:sp>
      <p:pic>
        <p:nvPicPr>
          <p:cNvPr id="12" name="Image 1" descr="preencoded.png"/>
          <p:cNvPicPr>
            <a:picLocks noChangeAspect="1"/>
          </p:cNvPicPr>
          <p:nvPr/>
        </p:nvPicPr>
        <p:blipFill>
          <a:blip r:embed="rId4"/>
          <a:stretch>
            <a:fillRect/>
          </a:stretch>
        </p:blipFill>
        <p:spPr>
          <a:xfrm>
            <a:off x="4818888" y="3291840"/>
            <a:ext cx="548640" cy="548640"/>
          </a:xfrm>
          <a:prstGeom prst="rect">
            <a:avLst/>
          </a:prstGeom>
        </p:spPr>
      </p:pic>
      <p:sp>
        <p:nvSpPr>
          <p:cNvPr id="13" name="Text 9"/>
          <p:cNvSpPr/>
          <p:nvPr/>
        </p:nvSpPr>
        <p:spPr>
          <a:xfrm>
            <a:off x="4773168" y="3886200"/>
            <a:ext cx="2971800" cy="777240"/>
          </a:xfrm>
          <a:prstGeom prst="rect">
            <a:avLst/>
          </a:prstGeom>
          <a:noFill/>
          <a:ln/>
        </p:spPr>
        <p:txBody>
          <a:bodyPr wrap="square" rtlCol="0" anchor="ctr"/>
          <a:lstStyle/>
          <a:p>
            <a:pPr marL="0" indent="0">
              <a:buNone/>
            </a:pPr>
            <a:r>
              <a:rPr lang="en-US" sz="4400" b="1" dirty="0">
                <a:solidFill>
                  <a:srgbClr val="F4B740"/>
                </a:solidFill>
                <a:latin typeface="맑은 고딕" pitchFamily="34" charset="0"/>
                <a:ea typeface="맑은 고딕" pitchFamily="34" charset="-122"/>
                <a:cs typeface="맑은 고딕" pitchFamily="34" charset="-120"/>
              </a:rPr>
              <a:t>자동</a:t>
            </a:r>
            <a:endParaRPr lang="en-US" sz="4400" dirty="0"/>
          </a:p>
        </p:txBody>
      </p:sp>
      <p:sp>
        <p:nvSpPr>
          <p:cNvPr id="14" name="Text 10"/>
          <p:cNvSpPr/>
          <p:nvPr/>
        </p:nvSpPr>
        <p:spPr>
          <a:xfrm>
            <a:off x="4818888" y="4709160"/>
            <a:ext cx="2971800" cy="365760"/>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사람 개입 불필요</a:t>
            </a:r>
            <a:endParaRPr lang="en-US" sz="1500" dirty="0"/>
          </a:p>
        </p:txBody>
      </p:sp>
      <p:sp>
        <p:nvSpPr>
          <p:cNvPr id="15" name="Text 11"/>
          <p:cNvSpPr/>
          <p:nvPr/>
        </p:nvSpPr>
        <p:spPr>
          <a:xfrm>
            <a:off x="4818888" y="5102352"/>
            <a:ext cx="2971800" cy="822960"/>
          </a:xfrm>
          <a:prstGeom prst="rect">
            <a:avLst/>
          </a:prstGeom>
          <a:noFill/>
          <a:ln/>
        </p:spPr>
        <p:txBody>
          <a:bodyPr wrap="square" rtlCol="0" anchor="ctr"/>
          <a:lstStyle/>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Core가 백그라운드에서</a:t>
            </a:r>
            <a:endParaRPr lang="en-US" sz="1200" dirty="0"/>
          </a:p>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빠짐없이 자동 수집</a:t>
            </a:r>
            <a:endParaRPr lang="en-US" sz="1200" dirty="0"/>
          </a:p>
        </p:txBody>
      </p:sp>
      <p:sp>
        <p:nvSpPr>
          <p:cNvPr id="16" name="Shape 12"/>
          <p:cNvSpPr/>
          <p:nvPr/>
        </p:nvSpPr>
        <p:spPr>
          <a:xfrm>
            <a:off x="8357616" y="3017520"/>
            <a:ext cx="3611880" cy="3017520"/>
          </a:xfrm>
          <a:prstGeom prst="rect">
            <a:avLst/>
          </a:prstGeom>
          <a:solidFill>
            <a:srgbClr val="14264F"/>
          </a:solidFill>
          <a:ln w="12700">
            <a:solidFill>
              <a:srgbClr val="3B82F6"/>
            </a:solidFill>
            <a:prstDash val="solid"/>
          </a:ln>
          <a:effectLst>
            <a:outerShdw blurRad="114300" dist="38100" dir="5400000" algn="bl" rotWithShape="0">
              <a:srgbClr val="0E1F45">
                <a:alpha val="14000"/>
              </a:srgbClr>
            </a:outerShdw>
          </a:effectLst>
        </p:spPr>
      </p:sp>
      <p:pic>
        <p:nvPicPr>
          <p:cNvPr id="17" name="Image 2" descr="preencoded.png"/>
          <p:cNvPicPr>
            <a:picLocks noChangeAspect="1"/>
          </p:cNvPicPr>
          <p:nvPr/>
        </p:nvPicPr>
        <p:blipFill>
          <a:blip r:embed="rId5"/>
          <a:stretch>
            <a:fillRect/>
          </a:stretch>
        </p:blipFill>
        <p:spPr>
          <a:xfrm>
            <a:off x="8723376" y="3291840"/>
            <a:ext cx="548640" cy="548640"/>
          </a:xfrm>
          <a:prstGeom prst="rect">
            <a:avLst/>
          </a:prstGeom>
        </p:spPr>
      </p:pic>
      <p:sp>
        <p:nvSpPr>
          <p:cNvPr id="18" name="Text 13"/>
          <p:cNvSpPr/>
          <p:nvPr/>
        </p:nvSpPr>
        <p:spPr>
          <a:xfrm>
            <a:off x="8677656" y="3886200"/>
            <a:ext cx="2971800" cy="777240"/>
          </a:xfrm>
          <a:prstGeom prst="rect">
            <a:avLst/>
          </a:prstGeom>
          <a:noFill/>
          <a:ln/>
        </p:spPr>
        <p:txBody>
          <a:bodyPr wrap="square" rtlCol="0" anchor="ctr"/>
          <a:lstStyle/>
          <a:p>
            <a:pPr marL="0" indent="0">
              <a:buNone/>
            </a:pPr>
            <a:r>
              <a:rPr lang="en-US" sz="4400" b="1" dirty="0">
                <a:solidFill>
                  <a:srgbClr val="F4B740"/>
                </a:solidFill>
                <a:latin typeface="맑은 고딕" pitchFamily="34" charset="0"/>
                <a:ea typeface="맑은 고딕" pitchFamily="34" charset="-122"/>
                <a:cs typeface="맑은 고딕" pitchFamily="34" charset="-120"/>
              </a:rPr>
              <a:t>100%</a:t>
            </a:r>
            <a:endParaRPr lang="en-US" sz="4400" dirty="0"/>
          </a:p>
        </p:txBody>
      </p:sp>
      <p:sp>
        <p:nvSpPr>
          <p:cNvPr id="19" name="Text 14"/>
          <p:cNvSpPr/>
          <p:nvPr/>
        </p:nvSpPr>
        <p:spPr>
          <a:xfrm>
            <a:off x="8723376" y="4709160"/>
            <a:ext cx="2971800" cy="365760"/>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추적 가능성</a:t>
            </a:r>
            <a:endParaRPr lang="en-US" sz="1500" dirty="0"/>
          </a:p>
        </p:txBody>
      </p:sp>
      <p:sp>
        <p:nvSpPr>
          <p:cNvPr id="20" name="Text 15"/>
          <p:cNvSpPr/>
          <p:nvPr/>
        </p:nvSpPr>
        <p:spPr>
          <a:xfrm>
            <a:off x="8723376" y="5102352"/>
            <a:ext cx="2971800" cy="822960"/>
          </a:xfrm>
          <a:prstGeom prst="rect">
            <a:avLst/>
          </a:prstGeom>
          <a:noFill/>
          <a:ln/>
        </p:spPr>
        <p:txBody>
          <a:bodyPr wrap="square" rtlCol="0" anchor="ctr"/>
          <a:lstStyle/>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이상 발생 시 원인과</a:t>
            </a:r>
            <a:endParaRPr lang="en-US" sz="1200" dirty="0"/>
          </a:p>
          <a:p>
            <a:pPr marL="0" indent="0">
              <a:lnSpc>
                <a:spcPct val="110000"/>
              </a:lnSpc>
              <a:buNone/>
            </a:pPr>
            <a:r>
              <a:rPr lang="en-US" sz="1200" dirty="0">
                <a:solidFill>
                  <a:srgbClr val="DBE7FB"/>
                </a:solidFill>
                <a:latin typeface="맑은 고딕" pitchFamily="34" charset="0"/>
                <a:ea typeface="맑은 고딕" pitchFamily="34" charset="-122"/>
                <a:cs typeface="맑은 고딕" pitchFamily="34" charset="-120"/>
              </a:rPr>
              <a:t>책임 소재를 즉시 확인</a:t>
            </a:r>
            <a:endParaRPr lang="en-US" sz="1200" dirty="0"/>
          </a:p>
        </p:txBody>
      </p:sp>
      <p:sp>
        <p:nvSpPr>
          <p:cNvPr id="22" name="Text 16"/>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3" name="Text 17"/>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REUSABILITY</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공통 기능: 한 번 만들면 모두가 쓴다</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조회·등록·수정·삭제의 '표준 골격'을 Core가 제공합니다</a:t>
            </a:r>
            <a:endParaRPr lang="en-US" sz="1350" dirty="0"/>
          </a:p>
        </p:txBody>
      </p:sp>
      <p:sp>
        <p:nvSpPr>
          <p:cNvPr id="5" name="Shape 3"/>
          <p:cNvSpPr/>
          <p:nvPr/>
        </p:nvSpPr>
        <p:spPr>
          <a:xfrm>
            <a:off x="502920" y="2057400"/>
            <a:ext cx="4846320" cy="4114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Text 4"/>
          <p:cNvSpPr/>
          <p:nvPr/>
        </p:nvSpPr>
        <p:spPr>
          <a:xfrm>
            <a:off x="777240" y="2286000"/>
            <a:ext cx="4297680" cy="365760"/>
          </a:xfrm>
          <a:prstGeom prst="rect">
            <a:avLst/>
          </a:prstGeom>
          <a:noFill/>
          <a:ln/>
        </p:spPr>
        <p:txBody>
          <a:bodyPr wrap="square" rtlCol="0" anchor="ctr"/>
          <a:lstStyle/>
          <a:p>
            <a:pPr marL="0" indent="0">
              <a:buNone/>
            </a:pPr>
            <a:r>
              <a:rPr lang="en-US" sz="1500" b="1" dirty="0">
                <a:solidFill>
                  <a:srgbClr val="2563EB"/>
                </a:solidFill>
                <a:latin typeface="맑은 고딕" pitchFamily="34" charset="0"/>
                <a:ea typeface="맑은 고딕" pitchFamily="34" charset="-122"/>
                <a:cs typeface="맑은 고딕" pitchFamily="34" charset="-120"/>
              </a:rPr>
              <a:t>표준 4대 기능</a:t>
            </a:r>
            <a:endParaRPr lang="en-US" sz="1500" dirty="0"/>
          </a:p>
        </p:txBody>
      </p:sp>
      <p:sp>
        <p:nvSpPr>
          <p:cNvPr id="7" name="Shape 5"/>
          <p:cNvSpPr/>
          <p:nvPr/>
        </p:nvSpPr>
        <p:spPr>
          <a:xfrm>
            <a:off x="822960" y="2834640"/>
            <a:ext cx="640080" cy="640080"/>
          </a:xfrm>
          <a:prstGeom prst="ellipse">
            <a:avLst/>
          </a:prstGeom>
          <a:solidFill>
            <a:srgbClr val="EAF1FC"/>
          </a:solidFill>
          <a:ln/>
        </p:spPr>
      </p:sp>
      <p:pic>
        <p:nvPicPr>
          <p:cNvPr id="8" name="Image 0" descr="preencoded.png"/>
          <p:cNvPicPr>
            <a:picLocks noChangeAspect="1"/>
          </p:cNvPicPr>
          <p:nvPr/>
        </p:nvPicPr>
        <p:blipFill>
          <a:blip r:embed="rId3"/>
          <a:stretch>
            <a:fillRect/>
          </a:stretch>
        </p:blipFill>
        <p:spPr>
          <a:xfrm>
            <a:off x="978408" y="2990088"/>
            <a:ext cx="329184" cy="329184"/>
          </a:xfrm>
          <a:prstGeom prst="rect">
            <a:avLst/>
          </a:prstGeom>
        </p:spPr>
      </p:pic>
      <p:sp>
        <p:nvSpPr>
          <p:cNvPr id="9" name="Text 6"/>
          <p:cNvSpPr/>
          <p:nvPr/>
        </p:nvSpPr>
        <p:spPr>
          <a:xfrm>
            <a:off x="1600200" y="2852928"/>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조회 (Find)</a:t>
            </a:r>
            <a:endParaRPr lang="en-US" sz="1450" dirty="0"/>
          </a:p>
        </p:txBody>
      </p:sp>
      <p:sp>
        <p:nvSpPr>
          <p:cNvPr id="10" name="Text 7"/>
          <p:cNvSpPr/>
          <p:nvPr/>
        </p:nvSpPr>
        <p:spPr>
          <a:xfrm>
            <a:off x="1600200" y="3163824"/>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필요한 정보를 찾기</a:t>
            </a:r>
            <a:endParaRPr lang="en-US" sz="1150" dirty="0"/>
          </a:p>
        </p:txBody>
      </p:sp>
      <p:sp>
        <p:nvSpPr>
          <p:cNvPr id="11" name="Shape 8"/>
          <p:cNvSpPr/>
          <p:nvPr/>
        </p:nvSpPr>
        <p:spPr>
          <a:xfrm>
            <a:off x="822960" y="3621024"/>
            <a:ext cx="640080" cy="640080"/>
          </a:xfrm>
          <a:prstGeom prst="ellipse">
            <a:avLst/>
          </a:prstGeom>
          <a:solidFill>
            <a:srgbClr val="EAF1FC"/>
          </a:solidFill>
          <a:ln/>
        </p:spPr>
      </p:sp>
      <p:pic>
        <p:nvPicPr>
          <p:cNvPr id="12" name="Image 1" descr="preencoded.png"/>
          <p:cNvPicPr>
            <a:picLocks noChangeAspect="1"/>
          </p:cNvPicPr>
          <p:nvPr/>
        </p:nvPicPr>
        <p:blipFill>
          <a:blip r:embed="rId4"/>
          <a:stretch>
            <a:fillRect/>
          </a:stretch>
        </p:blipFill>
        <p:spPr>
          <a:xfrm>
            <a:off x="978408" y="3776472"/>
            <a:ext cx="329184" cy="329184"/>
          </a:xfrm>
          <a:prstGeom prst="rect">
            <a:avLst/>
          </a:prstGeom>
        </p:spPr>
      </p:pic>
      <p:sp>
        <p:nvSpPr>
          <p:cNvPr id="13" name="Text 9"/>
          <p:cNvSpPr/>
          <p:nvPr/>
        </p:nvSpPr>
        <p:spPr>
          <a:xfrm>
            <a:off x="1600200" y="3639312"/>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등록 (Register)</a:t>
            </a:r>
            <a:endParaRPr lang="en-US" sz="1450" dirty="0"/>
          </a:p>
        </p:txBody>
      </p:sp>
      <p:sp>
        <p:nvSpPr>
          <p:cNvPr id="14" name="Text 10"/>
          <p:cNvSpPr/>
          <p:nvPr/>
        </p:nvSpPr>
        <p:spPr>
          <a:xfrm>
            <a:off x="1600200" y="3950208"/>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새 정보를 입력</a:t>
            </a:r>
            <a:endParaRPr lang="en-US" sz="1150" dirty="0"/>
          </a:p>
        </p:txBody>
      </p:sp>
      <p:sp>
        <p:nvSpPr>
          <p:cNvPr id="15" name="Shape 11"/>
          <p:cNvSpPr/>
          <p:nvPr/>
        </p:nvSpPr>
        <p:spPr>
          <a:xfrm>
            <a:off x="822960" y="4407408"/>
            <a:ext cx="640080" cy="640080"/>
          </a:xfrm>
          <a:prstGeom prst="ellipse">
            <a:avLst/>
          </a:prstGeom>
          <a:solidFill>
            <a:srgbClr val="EAF1FC"/>
          </a:solidFill>
          <a:ln/>
        </p:spPr>
      </p:sp>
      <p:pic>
        <p:nvPicPr>
          <p:cNvPr id="16" name="Image 2" descr="preencoded.png"/>
          <p:cNvPicPr>
            <a:picLocks noChangeAspect="1"/>
          </p:cNvPicPr>
          <p:nvPr/>
        </p:nvPicPr>
        <p:blipFill>
          <a:blip r:embed="rId5"/>
          <a:stretch>
            <a:fillRect/>
          </a:stretch>
        </p:blipFill>
        <p:spPr>
          <a:xfrm>
            <a:off x="978408" y="4562856"/>
            <a:ext cx="329184" cy="329184"/>
          </a:xfrm>
          <a:prstGeom prst="rect">
            <a:avLst/>
          </a:prstGeom>
        </p:spPr>
      </p:pic>
      <p:sp>
        <p:nvSpPr>
          <p:cNvPr id="17" name="Text 12"/>
          <p:cNvSpPr/>
          <p:nvPr/>
        </p:nvSpPr>
        <p:spPr>
          <a:xfrm>
            <a:off x="1600200" y="4425696"/>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수정 (Update)</a:t>
            </a:r>
            <a:endParaRPr lang="en-US" sz="1450" dirty="0"/>
          </a:p>
        </p:txBody>
      </p:sp>
      <p:sp>
        <p:nvSpPr>
          <p:cNvPr id="18" name="Text 13"/>
          <p:cNvSpPr/>
          <p:nvPr/>
        </p:nvSpPr>
        <p:spPr>
          <a:xfrm>
            <a:off x="1600200" y="4736592"/>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기존 정보를 변경</a:t>
            </a:r>
            <a:endParaRPr lang="en-US" sz="1150" dirty="0"/>
          </a:p>
        </p:txBody>
      </p:sp>
      <p:sp>
        <p:nvSpPr>
          <p:cNvPr id="19" name="Shape 14"/>
          <p:cNvSpPr/>
          <p:nvPr/>
        </p:nvSpPr>
        <p:spPr>
          <a:xfrm>
            <a:off x="822960" y="5193792"/>
            <a:ext cx="640080" cy="640080"/>
          </a:xfrm>
          <a:prstGeom prst="ellipse">
            <a:avLst/>
          </a:prstGeom>
          <a:solidFill>
            <a:srgbClr val="EAF1FC"/>
          </a:solidFill>
          <a:ln/>
        </p:spPr>
      </p:sp>
      <p:pic>
        <p:nvPicPr>
          <p:cNvPr id="20" name="Image 3" descr="preencoded.png"/>
          <p:cNvPicPr>
            <a:picLocks noChangeAspect="1"/>
          </p:cNvPicPr>
          <p:nvPr/>
        </p:nvPicPr>
        <p:blipFill>
          <a:blip r:embed="rId6"/>
          <a:stretch>
            <a:fillRect/>
          </a:stretch>
        </p:blipFill>
        <p:spPr>
          <a:xfrm>
            <a:off x="978408" y="5349240"/>
            <a:ext cx="329184" cy="329184"/>
          </a:xfrm>
          <a:prstGeom prst="rect">
            <a:avLst/>
          </a:prstGeom>
        </p:spPr>
      </p:pic>
      <p:sp>
        <p:nvSpPr>
          <p:cNvPr id="21" name="Text 15"/>
          <p:cNvSpPr/>
          <p:nvPr/>
        </p:nvSpPr>
        <p:spPr>
          <a:xfrm>
            <a:off x="1600200" y="5212080"/>
            <a:ext cx="347472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삭제 (Remove)</a:t>
            </a:r>
            <a:endParaRPr lang="en-US" sz="1450" dirty="0"/>
          </a:p>
        </p:txBody>
      </p:sp>
      <p:sp>
        <p:nvSpPr>
          <p:cNvPr id="22" name="Text 16"/>
          <p:cNvSpPr/>
          <p:nvPr/>
        </p:nvSpPr>
        <p:spPr>
          <a:xfrm>
            <a:off x="1600200" y="5522976"/>
            <a:ext cx="347472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불필요한 정보를 제거</a:t>
            </a:r>
            <a:endParaRPr lang="en-US" sz="1150" dirty="0"/>
          </a:p>
        </p:txBody>
      </p:sp>
      <p:sp>
        <p:nvSpPr>
          <p:cNvPr id="23" name="Shape 17"/>
          <p:cNvSpPr/>
          <p:nvPr/>
        </p:nvSpPr>
        <p:spPr>
          <a:xfrm>
            <a:off x="5577840" y="2057400"/>
            <a:ext cx="6080760" cy="4114800"/>
          </a:xfrm>
          <a:prstGeom prst="rect">
            <a:avLst/>
          </a:prstGeom>
          <a:solidFill>
            <a:srgbClr val="0E1F45"/>
          </a:solidFill>
          <a:ln/>
          <a:effectLst>
            <a:outerShdw blurRad="114300" dist="38100" dir="5400000" algn="bl" rotWithShape="0">
              <a:srgbClr val="0E1F45">
                <a:alpha val="14000"/>
              </a:srgbClr>
            </a:outerShdw>
          </a:effectLst>
        </p:spPr>
      </p:sp>
      <p:sp>
        <p:nvSpPr>
          <p:cNvPr id="24" name="Text 18"/>
          <p:cNvSpPr/>
          <p:nvPr/>
        </p:nvSpPr>
        <p:spPr>
          <a:xfrm>
            <a:off x="5897880" y="2331720"/>
            <a:ext cx="5486400" cy="365760"/>
          </a:xfrm>
          <a:prstGeom prst="rect">
            <a:avLst/>
          </a:prstGeom>
          <a:noFill/>
          <a:ln/>
        </p:spPr>
        <p:txBody>
          <a:bodyPr wrap="square" rtlCol="0" anchor="ctr"/>
          <a:lstStyle/>
          <a:p>
            <a:pPr marL="0" indent="0">
              <a:buNone/>
            </a:pPr>
            <a:r>
              <a:rPr lang="en-US" sz="1600" b="1" dirty="0">
                <a:solidFill>
                  <a:srgbClr val="F4B740"/>
                </a:solidFill>
                <a:latin typeface="맑은 고딕" pitchFamily="34" charset="0"/>
                <a:ea typeface="맑은 고딕" pitchFamily="34" charset="-122"/>
                <a:cs typeface="맑은 고딕" pitchFamily="34" charset="-120"/>
              </a:rPr>
              <a:t>왜 좋은가요?</a:t>
            </a:r>
            <a:endParaRPr lang="en-US" sz="1600" dirty="0"/>
          </a:p>
        </p:txBody>
      </p:sp>
      <p:sp>
        <p:nvSpPr>
          <p:cNvPr id="25" name="Shape 19"/>
          <p:cNvSpPr/>
          <p:nvPr/>
        </p:nvSpPr>
        <p:spPr>
          <a:xfrm>
            <a:off x="5897880" y="2926080"/>
            <a:ext cx="91440" cy="566928"/>
          </a:xfrm>
          <a:prstGeom prst="rect">
            <a:avLst/>
          </a:prstGeom>
          <a:solidFill>
            <a:srgbClr val="3B82F6"/>
          </a:solidFill>
          <a:ln/>
        </p:spPr>
      </p:sp>
      <p:sp>
        <p:nvSpPr>
          <p:cNvPr id="26" name="Text 20"/>
          <p:cNvSpPr/>
          <p:nvPr/>
        </p:nvSpPr>
        <p:spPr>
          <a:xfrm>
            <a:off x="6126480" y="2880360"/>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개발 속도 ↑</a:t>
            </a:r>
            <a:endParaRPr lang="en-US" sz="1500" dirty="0"/>
          </a:p>
        </p:txBody>
      </p:sp>
      <p:sp>
        <p:nvSpPr>
          <p:cNvPr id="27" name="Text 21"/>
          <p:cNvSpPr/>
          <p:nvPr/>
        </p:nvSpPr>
        <p:spPr>
          <a:xfrm>
            <a:off x="6126480" y="3209544"/>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새 서비스를 만들 때 기본 기능을 처음부터 짜지 않고 가져다 씀</a:t>
            </a:r>
            <a:endParaRPr lang="en-US" sz="1200" dirty="0"/>
          </a:p>
        </p:txBody>
      </p:sp>
      <p:sp>
        <p:nvSpPr>
          <p:cNvPr id="28" name="Shape 22"/>
          <p:cNvSpPr/>
          <p:nvPr/>
        </p:nvSpPr>
        <p:spPr>
          <a:xfrm>
            <a:off x="5897880" y="3730752"/>
            <a:ext cx="91440" cy="566928"/>
          </a:xfrm>
          <a:prstGeom prst="rect">
            <a:avLst/>
          </a:prstGeom>
          <a:solidFill>
            <a:srgbClr val="3B82F6"/>
          </a:solidFill>
          <a:ln/>
        </p:spPr>
      </p:sp>
      <p:sp>
        <p:nvSpPr>
          <p:cNvPr id="29" name="Text 23"/>
          <p:cNvSpPr/>
          <p:nvPr/>
        </p:nvSpPr>
        <p:spPr>
          <a:xfrm>
            <a:off x="6126480" y="3685032"/>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일관성 ↑</a:t>
            </a:r>
            <a:endParaRPr lang="en-US" sz="1500" dirty="0"/>
          </a:p>
        </p:txBody>
      </p:sp>
      <p:sp>
        <p:nvSpPr>
          <p:cNvPr id="30" name="Text 24"/>
          <p:cNvSpPr/>
          <p:nvPr/>
        </p:nvSpPr>
        <p:spPr>
          <a:xfrm>
            <a:off x="6126480" y="4014216"/>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모든 서비스가 동일한 방식으로 동작 → 사용·유지보수가 쉬움</a:t>
            </a:r>
            <a:endParaRPr lang="en-US" sz="1200" dirty="0"/>
          </a:p>
        </p:txBody>
      </p:sp>
      <p:sp>
        <p:nvSpPr>
          <p:cNvPr id="31" name="Shape 25"/>
          <p:cNvSpPr/>
          <p:nvPr/>
        </p:nvSpPr>
        <p:spPr>
          <a:xfrm>
            <a:off x="5897880" y="4535424"/>
            <a:ext cx="91440" cy="566928"/>
          </a:xfrm>
          <a:prstGeom prst="rect">
            <a:avLst/>
          </a:prstGeom>
          <a:solidFill>
            <a:srgbClr val="3B82F6"/>
          </a:solidFill>
          <a:ln/>
        </p:spPr>
      </p:sp>
      <p:sp>
        <p:nvSpPr>
          <p:cNvPr id="32" name="Text 26"/>
          <p:cNvSpPr/>
          <p:nvPr/>
        </p:nvSpPr>
        <p:spPr>
          <a:xfrm>
            <a:off x="6126480" y="4489704"/>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오류 ↓</a:t>
            </a:r>
            <a:endParaRPr lang="en-US" sz="1500" dirty="0"/>
          </a:p>
        </p:txBody>
      </p:sp>
      <p:sp>
        <p:nvSpPr>
          <p:cNvPr id="33" name="Text 27"/>
          <p:cNvSpPr/>
          <p:nvPr/>
        </p:nvSpPr>
        <p:spPr>
          <a:xfrm>
            <a:off x="6126480" y="4818888"/>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검증된 골격을 재사용하니 실수와 버그가 줄어듦</a:t>
            </a:r>
            <a:endParaRPr lang="en-US" sz="1200" dirty="0"/>
          </a:p>
        </p:txBody>
      </p:sp>
      <p:sp>
        <p:nvSpPr>
          <p:cNvPr id="34" name="Shape 28"/>
          <p:cNvSpPr/>
          <p:nvPr/>
        </p:nvSpPr>
        <p:spPr>
          <a:xfrm>
            <a:off x="5897880" y="5340096"/>
            <a:ext cx="91440" cy="566928"/>
          </a:xfrm>
          <a:prstGeom prst="rect">
            <a:avLst/>
          </a:prstGeom>
          <a:solidFill>
            <a:srgbClr val="3B82F6"/>
          </a:solidFill>
          <a:ln/>
        </p:spPr>
      </p:sp>
      <p:sp>
        <p:nvSpPr>
          <p:cNvPr id="35" name="Text 29"/>
          <p:cNvSpPr/>
          <p:nvPr/>
        </p:nvSpPr>
        <p:spPr>
          <a:xfrm>
            <a:off x="6126480" y="5294376"/>
            <a:ext cx="5303520" cy="329184"/>
          </a:xfrm>
          <a:prstGeom prst="rect">
            <a:avLst/>
          </a:prstGeom>
          <a:noFill/>
          <a:ln/>
        </p:spPr>
        <p:txBody>
          <a:bodyPr wrap="square" rtlCol="0" anchor="ct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비용 ↓</a:t>
            </a:r>
            <a:endParaRPr lang="en-US" sz="1500" dirty="0"/>
          </a:p>
        </p:txBody>
      </p:sp>
      <p:sp>
        <p:nvSpPr>
          <p:cNvPr id="36" name="Text 30"/>
          <p:cNvSpPr/>
          <p:nvPr/>
        </p:nvSpPr>
        <p:spPr>
          <a:xfrm>
            <a:off x="6126480" y="5623560"/>
            <a:ext cx="5349240" cy="457200"/>
          </a:xfrm>
          <a:prstGeom prst="rect">
            <a:avLst/>
          </a:prstGeom>
          <a:noFill/>
          <a:ln/>
        </p:spPr>
        <p:txBody>
          <a:bodyPr wrap="square" rtlCol="0" anchor="ctr"/>
          <a:lstStyle/>
          <a:p>
            <a:pPr marL="0" indent="0">
              <a:buNone/>
            </a:pPr>
            <a:r>
              <a:rPr lang="en-US" sz="1200" dirty="0">
                <a:solidFill>
                  <a:srgbClr val="DBE7FB"/>
                </a:solidFill>
                <a:latin typeface="맑은 고딕" pitchFamily="34" charset="0"/>
                <a:ea typeface="맑은 고딕" pitchFamily="34" charset="-122"/>
                <a:cs typeface="맑은 고딕" pitchFamily="34" charset="-120"/>
              </a:rPr>
              <a:t>중복 개발이 사라져 인건비·시간이 절약됨</a:t>
            </a:r>
            <a:endParaRPr lang="en-US" sz="1200" dirty="0"/>
          </a:p>
        </p:txBody>
      </p:sp>
      <p:sp>
        <p:nvSpPr>
          <p:cNvPr id="38" name="Text 31"/>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39" name="Text 32"/>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DATA HANDLING</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데이터를 알아서 깔끔하게 정리</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사람이 손대지 않아도 형식을 자동으로 맞춰 실수를 막습니다</a:t>
            </a:r>
            <a:endParaRPr lang="en-US" sz="1350" dirty="0"/>
          </a:p>
        </p:txBody>
      </p:sp>
      <p:sp>
        <p:nvSpPr>
          <p:cNvPr id="5" name="Text 3"/>
          <p:cNvSpPr/>
          <p:nvPr/>
        </p:nvSpPr>
        <p:spPr>
          <a:xfrm>
            <a:off x="502920" y="1783080"/>
            <a:ext cx="11155680" cy="548640"/>
          </a:xfrm>
          <a:prstGeom prst="rect">
            <a:avLst/>
          </a:prstGeom>
          <a:noFill/>
          <a:ln/>
        </p:spPr>
        <p:txBody>
          <a:bodyPr wrap="square" rtlCol="0" anchor="ctr"/>
          <a:lstStyle/>
          <a:p>
            <a:pPr marL="0" indent="0">
              <a:lnSpc>
                <a:spcPct val="115000"/>
              </a:lnSpc>
              <a:buNone/>
            </a:pPr>
            <a:r>
              <a:rPr lang="en-US" sz="1350" dirty="0">
                <a:solidFill>
                  <a:srgbClr val="5B6B85"/>
                </a:solidFill>
                <a:latin typeface="맑은 고딕" pitchFamily="34" charset="0"/>
                <a:ea typeface="맑은 고딕" pitchFamily="34" charset="-122"/>
                <a:cs typeface="맑은 고딕" pitchFamily="34" charset="-120"/>
              </a:rPr>
              <a:t>Core에는 데이터 형식을 자동 변환하는 규칙이 내장되어 있습니다. 입력·조회 시 시스템이 스스로 보기 좋게 정리해, 담당자의 실수와 데이터 불일치를 예방합니다.</a:t>
            </a:r>
            <a:endParaRPr lang="en-US" sz="1350" dirty="0"/>
          </a:p>
        </p:txBody>
      </p:sp>
      <p:sp>
        <p:nvSpPr>
          <p:cNvPr id="6" name="Shape 4"/>
          <p:cNvSpPr/>
          <p:nvPr/>
        </p:nvSpPr>
        <p:spPr>
          <a:xfrm>
            <a:off x="502920" y="2331720"/>
            <a:ext cx="11155680" cy="457200"/>
          </a:xfrm>
          <a:prstGeom prst="rect">
            <a:avLst/>
          </a:prstGeom>
          <a:solidFill>
            <a:srgbClr val="0E1F45"/>
          </a:solidFill>
          <a:ln/>
        </p:spPr>
      </p:sp>
      <p:sp>
        <p:nvSpPr>
          <p:cNvPr id="7" name="Text 5"/>
          <p:cNvSpPr/>
          <p:nvPr/>
        </p:nvSpPr>
        <p:spPr>
          <a:xfrm>
            <a:off x="777240" y="2331720"/>
            <a:ext cx="3291840" cy="457200"/>
          </a:xfrm>
          <a:prstGeom prst="rect">
            <a:avLst/>
          </a:prstGeom>
          <a:noFill/>
          <a:ln/>
        </p:spPr>
        <p:txBody>
          <a:bodyPr wrap="square" rtlCol="0" anchor="ctr"/>
          <a:lstStyle/>
          <a:p>
            <a:pPr marL="0" indent="0">
              <a:buNone/>
            </a:pPr>
            <a:r>
              <a:rPr lang="en-US" sz="1300" b="1" dirty="0">
                <a:solidFill>
                  <a:srgbClr val="FFFFFF"/>
                </a:solidFill>
                <a:latin typeface="맑은 고딕" pitchFamily="34" charset="0"/>
                <a:ea typeface="맑은 고딕" pitchFamily="34" charset="-122"/>
                <a:cs typeface="맑은 고딕" pitchFamily="34" charset="-120"/>
              </a:rPr>
              <a:t>항목</a:t>
            </a:r>
            <a:endParaRPr lang="en-US" sz="1300" dirty="0"/>
          </a:p>
        </p:txBody>
      </p:sp>
      <p:sp>
        <p:nvSpPr>
          <p:cNvPr id="8" name="Text 6"/>
          <p:cNvSpPr/>
          <p:nvPr/>
        </p:nvSpPr>
        <p:spPr>
          <a:xfrm>
            <a:off x="4343400" y="2331720"/>
            <a:ext cx="3291840" cy="457200"/>
          </a:xfrm>
          <a:prstGeom prst="rect">
            <a:avLst/>
          </a:prstGeom>
          <a:noFill/>
          <a:ln/>
        </p:spPr>
        <p:txBody>
          <a:bodyPr wrap="square" rtlCol="0" anchor="ctr"/>
          <a:lstStyle/>
          <a:p>
            <a:pPr marL="0" indent="0">
              <a:buNone/>
            </a:pPr>
            <a:r>
              <a:rPr lang="en-US" sz="1300" b="1" dirty="0">
                <a:solidFill>
                  <a:srgbClr val="DBE7FB"/>
                </a:solidFill>
                <a:latin typeface="맑은 고딕" pitchFamily="34" charset="0"/>
                <a:ea typeface="맑은 고딕" pitchFamily="34" charset="-122"/>
                <a:cs typeface="맑은 고딕" pitchFamily="34" charset="-120"/>
              </a:rPr>
              <a:t>입력 (원본)</a:t>
            </a:r>
            <a:endParaRPr lang="en-US" sz="1300" dirty="0"/>
          </a:p>
        </p:txBody>
      </p:sp>
      <p:sp>
        <p:nvSpPr>
          <p:cNvPr id="9" name="Text 7"/>
          <p:cNvSpPr/>
          <p:nvPr/>
        </p:nvSpPr>
        <p:spPr>
          <a:xfrm>
            <a:off x="8001000" y="2331720"/>
            <a:ext cx="3383280" cy="457200"/>
          </a:xfrm>
          <a:prstGeom prst="rect">
            <a:avLst/>
          </a:prstGeom>
          <a:noFill/>
          <a:ln/>
        </p:spPr>
        <p:txBody>
          <a:bodyPr wrap="square" rtlCol="0" anchor="ctr"/>
          <a:lstStyle/>
          <a:p>
            <a:pPr marL="0" indent="0">
              <a:buNone/>
            </a:pPr>
            <a:r>
              <a:rPr lang="en-US" sz="1300" b="1" dirty="0">
                <a:solidFill>
                  <a:srgbClr val="F4B740"/>
                </a:solidFill>
                <a:latin typeface="맑은 고딕" pitchFamily="34" charset="0"/>
                <a:ea typeface="맑은 고딕" pitchFamily="34" charset="-122"/>
                <a:cs typeface="맑은 고딕" pitchFamily="34" charset="-120"/>
              </a:rPr>
              <a:t>자동 변환 결과</a:t>
            </a:r>
            <a:endParaRPr lang="en-US" sz="1300" dirty="0"/>
          </a:p>
        </p:txBody>
      </p:sp>
      <p:sp>
        <p:nvSpPr>
          <p:cNvPr id="10" name="Shape 8"/>
          <p:cNvSpPr/>
          <p:nvPr/>
        </p:nvSpPr>
        <p:spPr>
          <a:xfrm>
            <a:off x="502920" y="2880360"/>
            <a:ext cx="11155680" cy="585216"/>
          </a:xfrm>
          <a:prstGeom prst="rect">
            <a:avLst/>
          </a:prstGeom>
          <a:solidFill>
            <a:srgbClr val="FFFFFF"/>
          </a:solidFill>
          <a:ln w="12700">
            <a:solidFill>
              <a:srgbClr val="DBE7FB"/>
            </a:solidFill>
            <a:prstDash val="solid"/>
          </a:ln>
        </p:spPr>
      </p:sp>
      <p:sp>
        <p:nvSpPr>
          <p:cNvPr id="11" name="Text 9"/>
          <p:cNvSpPr/>
          <p:nvPr/>
        </p:nvSpPr>
        <p:spPr>
          <a:xfrm>
            <a:off x="777240" y="2880360"/>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주민등록번호</a:t>
            </a:r>
            <a:endParaRPr lang="en-US" sz="1400" dirty="0"/>
          </a:p>
        </p:txBody>
      </p:sp>
      <p:sp>
        <p:nvSpPr>
          <p:cNvPr id="12" name="Text 10"/>
          <p:cNvSpPr/>
          <p:nvPr/>
        </p:nvSpPr>
        <p:spPr>
          <a:xfrm>
            <a:off x="4343400" y="2880360"/>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9001011234567</a:t>
            </a:r>
            <a:endParaRPr lang="en-US" sz="1400" dirty="0"/>
          </a:p>
        </p:txBody>
      </p:sp>
      <p:pic>
        <p:nvPicPr>
          <p:cNvPr id="13" name="Image 0" descr="preencoded.png"/>
          <p:cNvPicPr>
            <a:picLocks noChangeAspect="1"/>
          </p:cNvPicPr>
          <p:nvPr/>
        </p:nvPicPr>
        <p:blipFill>
          <a:blip r:embed="rId3"/>
          <a:stretch>
            <a:fillRect/>
          </a:stretch>
        </p:blipFill>
        <p:spPr>
          <a:xfrm>
            <a:off x="7498080" y="3054096"/>
            <a:ext cx="365760" cy="237744"/>
          </a:xfrm>
          <a:prstGeom prst="rect">
            <a:avLst/>
          </a:prstGeom>
        </p:spPr>
      </p:pic>
      <p:sp>
        <p:nvSpPr>
          <p:cNvPr id="14" name="Text 11"/>
          <p:cNvSpPr/>
          <p:nvPr/>
        </p:nvSpPr>
        <p:spPr>
          <a:xfrm>
            <a:off x="8001000" y="2880360"/>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900101-1234567</a:t>
            </a:r>
            <a:endParaRPr lang="en-US" sz="1450" dirty="0"/>
          </a:p>
        </p:txBody>
      </p:sp>
      <p:sp>
        <p:nvSpPr>
          <p:cNvPr id="15" name="Shape 12"/>
          <p:cNvSpPr/>
          <p:nvPr/>
        </p:nvSpPr>
        <p:spPr>
          <a:xfrm>
            <a:off x="502920" y="3557016"/>
            <a:ext cx="11155680" cy="585216"/>
          </a:xfrm>
          <a:prstGeom prst="rect">
            <a:avLst/>
          </a:prstGeom>
          <a:solidFill>
            <a:srgbClr val="FFFFFF"/>
          </a:solidFill>
          <a:ln w="12700">
            <a:solidFill>
              <a:srgbClr val="DBE7FB"/>
            </a:solidFill>
            <a:prstDash val="solid"/>
          </a:ln>
        </p:spPr>
      </p:sp>
      <p:sp>
        <p:nvSpPr>
          <p:cNvPr id="16" name="Text 13"/>
          <p:cNvSpPr/>
          <p:nvPr/>
        </p:nvSpPr>
        <p:spPr>
          <a:xfrm>
            <a:off x="777240" y="3557016"/>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전화번호</a:t>
            </a:r>
            <a:endParaRPr lang="en-US" sz="1400" dirty="0"/>
          </a:p>
        </p:txBody>
      </p:sp>
      <p:sp>
        <p:nvSpPr>
          <p:cNvPr id="17" name="Text 14"/>
          <p:cNvSpPr/>
          <p:nvPr/>
        </p:nvSpPr>
        <p:spPr>
          <a:xfrm>
            <a:off x="4343400" y="3557016"/>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01012345678</a:t>
            </a:r>
            <a:endParaRPr lang="en-US" sz="1400" dirty="0"/>
          </a:p>
        </p:txBody>
      </p:sp>
      <p:pic>
        <p:nvPicPr>
          <p:cNvPr id="18" name="Image 1" descr="preencoded.png"/>
          <p:cNvPicPr>
            <a:picLocks noChangeAspect="1"/>
          </p:cNvPicPr>
          <p:nvPr/>
        </p:nvPicPr>
        <p:blipFill>
          <a:blip r:embed="rId3"/>
          <a:stretch>
            <a:fillRect/>
          </a:stretch>
        </p:blipFill>
        <p:spPr>
          <a:xfrm>
            <a:off x="7498080" y="3730752"/>
            <a:ext cx="365760" cy="237744"/>
          </a:xfrm>
          <a:prstGeom prst="rect">
            <a:avLst/>
          </a:prstGeom>
        </p:spPr>
      </p:pic>
      <p:sp>
        <p:nvSpPr>
          <p:cNvPr id="19" name="Text 15"/>
          <p:cNvSpPr/>
          <p:nvPr/>
        </p:nvSpPr>
        <p:spPr>
          <a:xfrm>
            <a:off x="8001000" y="3557016"/>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010-1234-5678</a:t>
            </a:r>
            <a:endParaRPr lang="en-US" sz="1450" dirty="0"/>
          </a:p>
        </p:txBody>
      </p:sp>
      <p:sp>
        <p:nvSpPr>
          <p:cNvPr id="20" name="Shape 16"/>
          <p:cNvSpPr/>
          <p:nvPr/>
        </p:nvSpPr>
        <p:spPr>
          <a:xfrm>
            <a:off x="502920" y="4233672"/>
            <a:ext cx="11155680" cy="585216"/>
          </a:xfrm>
          <a:prstGeom prst="rect">
            <a:avLst/>
          </a:prstGeom>
          <a:solidFill>
            <a:srgbClr val="FFFFFF"/>
          </a:solidFill>
          <a:ln w="12700">
            <a:solidFill>
              <a:srgbClr val="DBE7FB"/>
            </a:solidFill>
            <a:prstDash val="solid"/>
          </a:ln>
        </p:spPr>
      </p:sp>
      <p:sp>
        <p:nvSpPr>
          <p:cNvPr id="21" name="Text 17"/>
          <p:cNvSpPr/>
          <p:nvPr/>
        </p:nvSpPr>
        <p:spPr>
          <a:xfrm>
            <a:off x="777240" y="4233672"/>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사업자/법인번호</a:t>
            </a:r>
            <a:endParaRPr lang="en-US" sz="1400" dirty="0"/>
          </a:p>
        </p:txBody>
      </p:sp>
      <p:sp>
        <p:nvSpPr>
          <p:cNvPr id="22" name="Text 18"/>
          <p:cNvSpPr/>
          <p:nvPr/>
        </p:nvSpPr>
        <p:spPr>
          <a:xfrm>
            <a:off x="4343400" y="4233672"/>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1234567890</a:t>
            </a:r>
            <a:endParaRPr lang="en-US" sz="1400" dirty="0"/>
          </a:p>
        </p:txBody>
      </p:sp>
      <p:pic>
        <p:nvPicPr>
          <p:cNvPr id="23" name="Image 2" descr="preencoded.png"/>
          <p:cNvPicPr>
            <a:picLocks noChangeAspect="1"/>
          </p:cNvPicPr>
          <p:nvPr/>
        </p:nvPicPr>
        <p:blipFill>
          <a:blip r:embed="rId3"/>
          <a:stretch>
            <a:fillRect/>
          </a:stretch>
        </p:blipFill>
        <p:spPr>
          <a:xfrm>
            <a:off x="7498080" y="4407408"/>
            <a:ext cx="365760" cy="237744"/>
          </a:xfrm>
          <a:prstGeom prst="rect">
            <a:avLst/>
          </a:prstGeom>
        </p:spPr>
      </p:pic>
      <p:sp>
        <p:nvSpPr>
          <p:cNvPr id="24" name="Text 19"/>
          <p:cNvSpPr/>
          <p:nvPr/>
        </p:nvSpPr>
        <p:spPr>
          <a:xfrm>
            <a:off x="8001000" y="4233672"/>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123-45-67890</a:t>
            </a:r>
            <a:endParaRPr lang="en-US" sz="1450" dirty="0"/>
          </a:p>
        </p:txBody>
      </p:sp>
      <p:sp>
        <p:nvSpPr>
          <p:cNvPr id="25" name="Shape 20"/>
          <p:cNvSpPr/>
          <p:nvPr/>
        </p:nvSpPr>
        <p:spPr>
          <a:xfrm>
            <a:off x="502920" y="4910328"/>
            <a:ext cx="11155680" cy="585216"/>
          </a:xfrm>
          <a:prstGeom prst="rect">
            <a:avLst/>
          </a:prstGeom>
          <a:solidFill>
            <a:srgbClr val="FFFFFF"/>
          </a:solidFill>
          <a:ln w="12700">
            <a:solidFill>
              <a:srgbClr val="DBE7FB"/>
            </a:solidFill>
            <a:prstDash val="solid"/>
          </a:ln>
        </p:spPr>
      </p:sp>
      <p:sp>
        <p:nvSpPr>
          <p:cNvPr id="26" name="Text 21"/>
          <p:cNvSpPr/>
          <p:nvPr/>
        </p:nvSpPr>
        <p:spPr>
          <a:xfrm>
            <a:off x="777240" y="4910328"/>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금액</a:t>
            </a:r>
            <a:endParaRPr lang="en-US" sz="1400" dirty="0"/>
          </a:p>
        </p:txBody>
      </p:sp>
      <p:sp>
        <p:nvSpPr>
          <p:cNvPr id="27" name="Text 22"/>
          <p:cNvSpPr/>
          <p:nvPr/>
        </p:nvSpPr>
        <p:spPr>
          <a:xfrm>
            <a:off x="4343400" y="4910328"/>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1500000</a:t>
            </a:r>
            <a:endParaRPr lang="en-US" sz="1400" dirty="0"/>
          </a:p>
        </p:txBody>
      </p:sp>
      <p:pic>
        <p:nvPicPr>
          <p:cNvPr id="28" name="Image 3" descr="preencoded.png"/>
          <p:cNvPicPr>
            <a:picLocks noChangeAspect="1"/>
          </p:cNvPicPr>
          <p:nvPr/>
        </p:nvPicPr>
        <p:blipFill>
          <a:blip r:embed="rId3"/>
          <a:stretch>
            <a:fillRect/>
          </a:stretch>
        </p:blipFill>
        <p:spPr>
          <a:xfrm>
            <a:off x="7498080" y="5084064"/>
            <a:ext cx="365760" cy="237744"/>
          </a:xfrm>
          <a:prstGeom prst="rect">
            <a:avLst/>
          </a:prstGeom>
        </p:spPr>
      </p:pic>
      <p:sp>
        <p:nvSpPr>
          <p:cNvPr id="29" name="Text 23"/>
          <p:cNvSpPr/>
          <p:nvPr/>
        </p:nvSpPr>
        <p:spPr>
          <a:xfrm>
            <a:off x="8001000" y="4910328"/>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1,500,000</a:t>
            </a:r>
            <a:endParaRPr lang="en-US" sz="1450" dirty="0"/>
          </a:p>
        </p:txBody>
      </p:sp>
      <p:sp>
        <p:nvSpPr>
          <p:cNvPr id="30" name="Shape 24"/>
          <p:cNvSpPr/>
          <p:nvPr/>
        </p:nvSpPr>
        <p:spPr>
          <a:xfrm>
            <a:off x="502920" y="5586984"/>
            <a:ext cx="11155680" cy="585216"/>
          </a:xfrm>
          <a:prstGeom prst="rect">
            <a:avLst/>
          </a:prstGeom>
          <a:solidFill>
            <a:srgbClr val="FFFFFF"/>
          </a:solidFill>
          <a:ln w="12700">
            <a:solidFill>
              <a:srgbClr val="DBE7FB"/>
            </a:solidFill>
            <a:prstDash val="solid"/>
          </a:ln>
        </p:spPr>
      </p:sp>
      <p:sp>
        <p:nvSpPr>
          <p:cNvPr id="31" name="Text 25"/>
          <p:cNvSpPr/>
          <p:nvPr/>
        </p:nvSpPr>
        <p:spPr>
          <a:xfrm>
            <a:off x="777240" y="5586984"/>
            <a:ext cx="3291840" cy="585216"/>
          </a:xfrm>
          <a:prstGeom prst="rect">
            <a:avLst/>
          </a:prstGeom>
          <a:noFill/>
          <a:ln/>
        </p:spPr>
        <p:txBody>
          <a:bodyPr wrap="square" rtlCol="0" anchor="ctr"/>
          <a:lstStyle/>
          <a:p>
            <a:pPr marL="0" indent="0">
              <a:buNone/>
            </a:pPr>
            <a:r>
              <a:rPr lang="en-US" sz="1400" b="1" dirty="0">
                <a:solidFill>
                  <a:srgbClr val="1E293B"/>
                </a:solidFill>
                <a:latin typeface="맑은 고딕" pitchFamily="34" charset="0"/>
                <a:ea typeface="맑은 고딕" pitchFamily="34" charset="-122"/>
                <a:cs typeface="맑은 고딕" pitchFamily="34" charset="-120"/>
              </a:rPr>
              <a:t>날짜·시간</a:t>
            </a:r>
            <a:endParaRPr lang="en-US" sz="1400" dirty="0"/>
          </a:p>
        </p:txBody>
      </p:sp>
      <p:sp>
        <p:nvSpPr>
          <p:cNvPr id="32" name="Text 26"/>
          <p:cNvSpPr/>
          <p:nvPr/>
        </p:nvSpPr>
        <p:spPr>
          <a:xfrm>
            <a:off x="4343400" y="5586984"/>
            <a:ext cx="3108960" cy="585216"/>
          </a:xfrm>
          <a:prstGeom prst="rect">
            <a:avLst/>
          </a:prstGeom>
          <a:noFill/>
          <a:ln/>
        </p:spPr>
        <p:txBody>
          <a:bodyPr wrap="square" rtlCol="0" anchor="ctr"/>
          <a:lstStyle/>
          <a:p>
            <a:pPr marL="0" indent="0">
              <a:buNone/>
            </a:pPr>
            <a:r>
              <a:rPr lang="en-US" sz="1400" dirty="0">
                <a:solidFill>
                  <a:srgbClr val="5B6B85"/>
                </a:solidFill>
                <a:latin typeface="Consolas" pitchFamily="34" charset="0"/>
                <a:ea typeface="Consolas" pitchFamily="34" charset="-122"/>
                <a:cs typeface="Consolas" pitchFamily="34" charset="-120"/>
              </a:rPr>
              <a:t>20260616</a:t>
            </a:r>
            <a:endParaRPr lang="en-US" sz="1400" dirty="0"/>
          </a:p>
        </p:txBody>
      </p:sp>
      <p:pic>
        <p:nvPicPr>
          <p:cNvPr id="33" name="Image 4" descr="preencoded.png"/>
          <p:cNvPicPr>
            <a:picLocks noChangeAspect="1"/>
          </p:cNvPicPr>
          <p:nvPr/>
        </p:nvPicPr>
        <p:blipFill>
          <a:blip r:embed="rId3"/>
          <a:stretch>
            <a:fillRect/>
          </a:stretch>
        </p:blipFill>
        <p:spPr>
          <a:xfrm>
            <a:off x="7498080" y="5760720"/>
            <a:ext cx="365760" cy="237744"/>
          </a:xfrm>
          <a:prstGeom prst="rect">
            <a:avLst/>
          </a:prstGeom>
        </p:spPr>
      </p:pic>
      <p:sp>
        <p:nvSpPr>
          <p:cNvPr id="34" name="Text 27"/>
          <p:cNvSpPr/>
          <p:nvPr/>
        </p:nvSpPr>
        <p:spPr>
          <a:xfrm>
            <a:off x="8001000" y="5586984"/>
            <a:ext cx="3383280" cy="585216"/>
          </a:xfrm>
          <a:prstGeom prst="rect">
            <a:avLst/>
          </a:prstGeom>
          <a:noFill/>
          <a:ln/>
        </p:spPr>
        <p:txBody>
          <a:bodyPr wrap="square" rtlCol="0" anchor="ctr"/>
          <a:lstStyle/>
          <a:p>
            <a:pPr marL="0" indent="0">
              <a:buNone/>
            </a:pPr>
            <a:r>
              <a:rPr lang="en-US" sz="1450" b="1" dirty="0">
                <a:solidFill>
                  <a:srgbClr val="1D4ED8"/>
                </a:solidFill>
                <a:latin typeface="Consolas" pitchFamily="34" charset="0"/>
                <a:ea typeface="Consolas" pitchFamily="34" charset="-122"/>
                <a:cs typeface="Consolas" pitchFamily="34" charset="-120"/>
              </a:rPr>
              <a:t>2026-06-16</a:t>
            </a:r>
            <a:endParaRPr lang="en-US" sz="1450" dirty="0"/>
          </a:p>
        </p:txBody>
      </p:sp>
      <p:sp>
        <p:nvSpPr>
          <p:cNvPr id="36" name="Text 28"/>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37" name="Text 29"/>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SUB MODULES</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서브 모듈: 업무별로 나눈 6개 서비스</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각 서비스는 독립적으로 동작하면서도 같은 Core를 공유합니다</a:t>
            </a:r>
            <a:endParaRPr lang="en-US" sz="1350" dirty="0"/>
          </a:p>
        </p:txBody>
      </p:sp>
      <p:sp>
        <p:nvSpPr>
          <p:cNvPr id="5" name="Shape 3"/>
          <p:cNvSpPr/>
          <p:nvPr/>
        </p:nvSpPr>
        <p:spPr>
          <a:xfrm>
            <a:off x="502920" y="201168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795528" y="2322576"/>
            <a:ext cx="713232" cy="713232"/>
          </a:xfrm>
          <a:prstGeom prst="ellipse">
            <a:avLst/>
          </a:prstGeom>
          <a:solidFill>
            <a:srgbClr val="EAF1FC"/>
          </a:solidFill>
          <a:ln/>
        </p:spPr>
      </p:sp>
      <p:pic>
        <p:nvPicPr>
          <p:cNvPr id="7" name="Image 0" descr="preencoded.png"/>
          <p:cNvPicPr>
            <a:picLocks noChangeAspect="1"/>
          </p:cNvPicPr>
          <p:nvPr/>
        </p:nvPicPr>
        <p:blipFill>
          <a:blip r:embed="rId3"/>
          <a:stretch>
            <a:fillRect/>
          </a:stretch>
        </p:blipFill>
        <p:spPr>
          <a:xfrm>
            <a:off x="969264" y="2496312"/>
            <a:ext cx="365760" cy="365760"/>
          </a:xfrm>
          <a:prstGeom prst="rect">
            <a:avLst/>
          </a:prstGeom>
        </p:spPr>
      </p:pic>
      <p:sp>
        <p:nvSpPr>
          <p:cNvPr id="8" name="Text 5"/>
          <p:cNvSpPr/>
          <p:nvPr/>
        </p:nvSpPr>
        <p:spPr>
          <a:xfrm>
            <a:off x="1645920" y="232257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Gateway</a:t>
            </a:r>
            <a:endParaRPr lang="en-US" sz="1600" dirty="0"/>
          </a:p>
        </p:txBody>
      </p:sp>
      <p:sp>
        <p:nvSpPr>
          <p:cNvPr id="9" name="Text 6"/>
          <p:cNvSpPr/>
          <p:nvPr/>
        </p:nvSpPr>
        <p:spPr>
          <a:xfrm>
            <a:off x="1645920" y="268833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관문·교통정리</a:t>
            </a:r>
            <a:endParaRPr lang="en-US" sz="1150" dirty="0"/>
          </a:p>
        </p:txBody>
      </p:sp>
      <p:sp>
        <p:nvSpPr>
          <p:cNvPr id="10" name="Text 7"/>
          <p:cNvSpPr/>
          <p:nvPr/>
        </p:nvSpPr>
        <p:spPr>
          <a:xfrm>
            <a:off x="795528" y="315468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모든 요청의 첫 관문. 인증 확인 후 알맞은 서비스로 연결</a:t>
            </a:r>
            <a:endParaRPr lang="en-US" sz="1150" dirty="0"/>
          </a:p>
        </p:txBody>
      </p:sp>
      <p:sp>
        <p:nvSpPr>
          <p:cNvPr id="11" name="Text 8"/>
          <p:cNvSpPr/>
          <p:nvPr/>
        </p:nvSpPr>
        <p:spPr>
          <a:xfrm>
            <a:off x="2880360" y="212140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8080</a:t>
            </a:r>
            <a:endParaRPr lang="en-US" sz="900" dirty="0"/>
          </a:p>
        </p:txBody>
      </p:sp>
      <p:sp>
        <p:nvSpPr>
          <p:cNvPr id="12" name="Shape 9"/>
          <p:cNvSpPr/>
          <p:nvPr/>
        </p:nvSpPr>
        <p:spPr>
          <a:xfrm>
            <a:off x="4315968" y="201168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3" name="Shape 10"/>
          <p:cNvSpPr/>
          <p:nvPr/>
        </p:nvSpPr>
        <p:spPr>
          <a:xfrm>
            <a:off x="4608576" y="2322576"/>
            <a:ext cx="713232" cy="713232"/>
          </a:xfrm>
          <a:prstGeom prst="ellipse">
            <a:avLst/>
          </a:prstGeom>
          <a:solidFill>
            <a:srgbClr val="EAF1FC"/>
          </a:solidFill>
          <a:ln/>
        </p:spPr>
      </p:sp>
      <p:pic>
        <p:nvPicPr>
          <p:cNvPr id="14" name="Image 1" descr="preencoded.png"/>
          <p:cNvPicPr>
            <a:picLocks noChangeAspect="1"/>
          </p:cNvPicPr>
          <p:nvPr/>
        </p:nvPicPr>
        <p:blipFill>
          <a:blip r:embed="rId4"/>
          <a:stretch>
            <a:fillRect/>
          </a:stretch>
        </p:blipFill>
        <p:spPr>
          <a:xfrm>
            <a:off x="4782312" y="2496312"/>
            <a:ext cx="365760" cy="365760"/>
          </a:xfrm>
          <a:prstGeom prst="rect">
            <a:avLst/>
          </a:prstGeom>
        </p:spPr>
      </p:pic>
      <p:sp>
        <p:nvSpPr>
          <p:cNvPr id="15" name="Text 11"/>
          <p:cNvSpPr/>
          <p:nvPr/>
        </p:nvSpPr>
        <p:spPr>
          <a:xfrm>
            <a:off x="5458968" y="232257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Login</a:t>
            </a:r>
            <a:endParaRPr lang="en-US" sz="1600" dirty="0"/>
          </a:p>
        </p:txBody>
      </p:sp>
      <p:sp>
        <p:nvSpPr>
          <p:cNvPr id="16" name="Text 12"/>
          <p:cNvSpPr/>
          <p:nvPr/>
        </p:nvSpPr>
        <p:spPr>
          <a:xfrm>
            <a:off x="5458968" y="268833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로그인·인증</a:t>
            </a:r>
            <a:endParaRPr lang="en-US" sz="1150" dirty="0"/>
          </a:p>
        </p:txBody>
      </p:sp>
      <p:sp>
        <p:nvSpPr>
          <p:cNvPr id="17" name="Text 13"/>
          <p:cNvSpPr/>
          <p:nvPr/>
        </p:nvSpPr>
        <p:spPr>
          <a:xfrm>
            <a:off x="4608576" y="315468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사용자 로그인과 기본 화면을 담당하는 출입구</a:t>
            </a:r>
            <a:endParaRPr lang="en-US" sz="1150" dirty="0"/>
          </a:p>
        </p:txBody>
      </p:sp>
      <p:sp>
        <p:nvSpPr>
          <p:cNvPr id="18" name="Text 14"/>
          <p:cNvSpPr/>
          <p:nvPr/>
        </p:nvSpPr>
        <p:spPr>
          <a:xfrm>
            <a:off x="6693408" y="212140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8081</a:t>
            </a:r>
            <a:endParaRPr lang="en-US" sz="900" dirty="0"/>
          </a:p>
        </p:txBody>
      </p:sp>
      <p:sp>
        <p:nvSpPr>
          <p:cNvPr id="19" name="Shape 15"/>
          <p:cNvSpPr/>
          <p:nvPr/>
        </p:nvSpPr>
        <p:spPr>
          <a:xfrm>
            <a:off x="8129016" y="201168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0" name="Shape 16"/>
          <p:cNvSpPr/>
          <p:nvPr/>
        </p:nvSpPr>
        <p:spPr>
          <a:xfrm>
            <a:off x="8421624" y="2322576"/>
            <a:ext cx="713232" cy="713232"/>
          </a:xfrm>
          <a:prstGeom prst="ellipse">
            <a:avLst/>
          </a:prstGeom>
          <a:solidFill>
            <a:srgbClr val="EAF1FC"/>
          </a:solidFill>
          <a:ln/>
        </p:spPr>
      </p:sp>
      <p:pic>
        <p:nvPicPr>
          <p:cNvPr id="21" name="Image 2" descr="preencoded.png"/>
          <p:cNvPicPr>
            <a:picLocks noChangeAspect="1"/>
          </p:cNvPicPr>
          <p:nvPr/>
        </p:nvPicPr>
        <p:blipFill>
          <a:blip r:embed="rId5"/>
          <a:stretch>
            <a:fillRect/>
          </a:stretch>
        </p:blipFill>
        <p:spPr>
          <a:xfrm>
            <a:off x="8595360" y="2496312"/>
            <a:ext cx="365760" cy="365760"/>
          </a:xfrm>
          <a:prstGeom prst="rect">
            <a:avLst/>
          </a:prstGeom>
        </p:spPr>
      </p:pic>
      <p:sp>
        <p:nvSpPr>
          <p:cNvPr id="22" name="Text 17"/>
          <p:cNvSpPr/>
          <p:nvPr/>
        </p:nvSpPr>
        <p:spPr>
          <a:xfrm>
            <a:off x="9272016" y="232257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FMS</a:t>
            </a:r>
            <a:endParaRPr lang="en-US" sz="1600" dirty="0"/>
          </a:p>
        </p:txBody>
      </p:sp>
      <p:sp>
        <p:nvSpPr>
          <p:cNvPr id="23" name="Text 18"/>
          <p:cNvSpPr/>
          <p:nvPr/>
        </p:nvSpPr>
        <p:spPr>
          <a:xfrm>
            <a:off x="9272016" y="268833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파일 관리</a:t>
            </a:r>
            <a:endParaRPr lang="en-US" sz="1150" dirty="0"/>
          </a:p>
        </p:txBody>
      </p:sp>
      <p:sp>
        <p:nvSpPr>
          <p:cNvPr id="24" name="Text 19"/>
          <p:cNvSpPr/>
          <p:nvPr/>
        </p:nvSpPr>
        <p:spPr>
          <a:xfrm>
            <a:off x="8421624" y="315468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문서·엑셀 등 파일 업로드와 관리를 전담</a:t>
            </a:r>
            <a:endParaRPr lang="en-US" sz="1150" dirty="0"/>
          </a:p>
        </p:txBody>
      </p:sp>
      <p:sp>
        <p:nvSpPr>
          <p:cNvPr id="25" name="Text 20"/>
          <p:cNvSpPr/>
          <p:nvPr/>
        </p:nvSpPr>
        <p:spPr>
          <a:xfrm>
            <a:off x="10506456" y="212140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8082</a:t>
            </a:r>
            <a:endParaRPr lang="en-US" sz="900" dirty="0"/>
          </a:p>
        </p:txBody>
      </p:sp>
      <p:sp>
        <p:nvSpPr>
          <p:cNvPr id="26" name="Shape 21"/>
          <p:cNvSpPr/>
          <p:nvPr/>
        </p:nvSpPr>
        <p:spPr>
          <a:xfrm>
            <a:off x="502920" y="402336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7" name="Shape 22"/>
          <p:cNvSpPr/>
          <p:nvPr/>
        </p:nvSpPr>
        <p:spPr>
          <a:xfrm>
            <a:off x="795528" y="4334256"/>
            <a:ext cx="713232" cy="713232"/>
          </a:xfrm>
          <a:prstGeom prst="ellipse">
            <a:avLst/>
          </a:prstGeom>
          <a:solidFill>
            <a:srgbClr val="EAF1FC"/>
          </a:solidFill>
          <a:ln/>
        </p:spPr>
      </p:sp>
      <p:pic>
        <p:nvPicPr>
          <p:cNvPr id="28" name="Image 3" descr="preencoded.png"/>
          <p:cNvPicPr>
            <a:picLocks noChangeAspect="1"/>
          </p:cNvPicPr>
          <p:nvPr/>
        </p:nvPicPr>
        <p:blipFill>
          <a:blip r:embed="rId6"/>
          <a:stretch>
            <a:fillRect/>
          </a:stretch>
        </p:blipFill>
        <p:spPr>
          <a:xfrm>
            <a:off x="969264" y="4507992"/>
            <a:ext cx="365760" cy="365760"/>
          </a:xfrm>
          <a:prstGeom prst="rect">
            <a:avLst/>
          </a:prstGeom>
        </p:spPr>
      </p:pic>
      <p:sp>
        <p:nvSpPr>
          <p:cNvPr id="29" name="Text 23"/>
          <p:cNvSpPr/>
          <p:nvPr/>
        </p:nvSpPr>
        <p:spPr>
          <a:xfrm>
            <a:off x="1645920" y="433425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Management</a:t>
            </a:r>
            <a:endParaRPr lang="en-US" sz="1600" dirty="0"/>
          </a:p>
        </p:txBody>
      </p:sp>
      <p:sp>
        <p:nvSpPr>
          <p:cNvPr id="30" name="Text 24"/>
          <p:cNvSpPr/>
          <p:nvPr/>
        </p:nvSpPr>
        <p:spPr>
          <a:xfrm>
            <a:off x="1645920" y="470001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시스템 관리</a:t>
            </a:r>
            <a:endParaRPr lang="en-US" sz="1150" dirty="0"/>
          </a:p>
        </p:txBody>
      </p:sp>
      <p:sp>
        <p:nvSpPr>
          <p:cNvPr id="31" name="Text 25"/>
          <p:cNvSpPr/>
          <p:nvPr/>
        </p:nvSpPr>
        <p:spPr>
          <a:xfrm>
            <a:off x="795528" y="516636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사용자·코드 등 시스템 전반의 설정 관리</a:t>
            </a:r>
            <a:endParaRPr lang="en-US" sz="1150" dirty="0"/>
          </a:p>
        </p:txBody>
      </p:sp>
      <p:sp>
        <p:nvSpPr>
          <p:cNvPr id="32" name="Text 26"/>
          <p:cNvSpPr/>
          <p:nvPr/>
        </p:nvSpPr>
        <p:spPr>
          <a:xfrm>
            <a:off x="2880360" y="413308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8083</a:t>
            </a:r>
            <a:endParaRPr lang="en-US" sz="900" dirty="0"/>
          </a:p>
        </p:txBody>
      </p:sp>
      <p:sp>
        <p:nvSpPr>
          <p:cNvPr id="33" name="Shape 27"/>
          <p:cNvSpPr/>
          <p:nvPr/>
        </p:nvSpPr>
        <p:spPr>
          <a:xfrm>
            <a:off x="4315968" y="402336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34" name="Shape 28"/>
          <p:cNvSpPr/>
          <p:nvPr/>
        </p:nvSpPr>
        <p:spPr>
          <a:xfrm>
            <a:off x="4608576" y="4334256"/>
            <a:ext cx="713232" cy="713232"/>
          </a:xfrm>
          <a:prstGeom prst="ellipse">
            <a:avLst/>
          </a:prstGeom>
          <a:solidFill>
            <a:srgbClr val="EAF1FC"/>
          </a:solidFill>
          <a:ln/>
        </p:spPr>
      </p:sp>
      <p:pic>
        <p:nvPicPr>
          <p:cNvPr id="35" name="Image 4" descr="preencoded.png"/>
          <p:cNvPicPr>
            <a:picLocks noChangeAspect="1"/>
          </p:cNvPicPr>
          <p:nvPr/>
        </p:nvPicPr>
        <p:blipFill>
          <a:blip r:embed="rId7"/>
          <a:stretch>
            <a:fillRect/>
          </a:stretch>
        </p:blipFill>
        <p:spPr>
          <a:xfrm>
            <a:off x="4782312" y="4507992"/>
            <a:ext cx="365760" cy="365760"/>
          </a:xfrm>
          <a:prstGeom prst="rect">
            <a:avLst/>
          </a:prstGeom>
        </p:spPr>
      </p:pic>
      <p:sp>
        <p:nvSpPr>
          <p:cNvPr id="36" name="Text 29"/>
          <p:cNvSpPr/>
          <p:nvPr/>
        </p:nvSpPr>
        <p:spPr>
          <a:xfrm>
            <a:off x="5458968" y="433425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Register</a:t>
            </a:r>
            <a:endParaRPr lang="en-US" sz="1600" dirty="0"/>
          </a:p>
        </p:txBody>
      </p:sp>
      <p:sp>
        <p:nvSpPr>
          <p:cNvPr id="37" name="Text 30"/>
          <p:cNvSpPr/>
          <p:nvPr/>
        </p:nvSpPr>
        <p:spPr>
          <a:xfrm>
            <a:off x="5458968" y="470001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접수</a:t>
            </a:r>
            <a:endParaRPr lang="en-US" sz="1150" dirty="0"/>
          </a:p>
        </p:txBody>
      </p:sp>
      <p:sp>
        <p:nvSpPr>
          <p:cNvPr id="38" name="Text 31"/>
          <p:cNvSpPr/>
          <p:nvPr/>
        </p:nvSpPr>
        <p:spPr>
          <a:xfrm>
            <a:off x="4608576" y="516636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차량 검사 접수 업무 처리</a:t>
            </a:r>
            <a:endParaRPr lang="en-US" sz="1150" dirty="0"/>
          </a:p>
        </p:txBody>
      </p:sp>
      <p:sp>
        <p:nvSpPr>
          <p:cNvPr id="39" name="Text 32"/>
          <p:cNvSpPr/>
          <p:nvPr/>
        </p:nvSpPr>
        <p:spPr>
          <a:xfrm>
            <a:off x="6693408" y="413308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8085</a:t>
            </a:r>
            <a:endParaRPr lang="en-US" sz="900" dirty="0"/>
          </a:p>
        </p:txBody>
      </p:sp>
      <p:sp>
        <p:nvSpPr>
          <p:cNvPr id="40" name="Shape 33"/>
          <p:cNvSpPr/>
          <p:nvPr/>
        </p:nvSpPr>
        <p:spPr>
          <a:xfrm>
            <a:off x="8129016" y="4023360"/>
            <a:ext cx="3611880" cy="1783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41" name="Shape 34"/>
          <p:cNvSpPr/>
          <p:nvPr/>
        </p:nvSpPr>
        <p:spPr>
          <a:xfrm>
            <a:off x="8421624" y="4334256"/>
            <a:ext cx="713232" cy="713232"/>
          </a:xfrm>
          <a:prstGeom prst="ellipse">
            <a:avLst/>
          </a:prstGeom>
          <a:solidFill>
            <a:srgbClr val="EAF1FC"/>
          </a:solidFill>
          <a:ln/>
        </p:spPr>
      </p:sp>
      <p:pic>
        <p:nvPicPr>
          <p:cNvPr id="42" name="Image 5" descr="preencoded.png"/>
          <p:cNvPicPr>
            <a:picLocks noChangeAspect="1"/>
          </p:cNvPicPr>
          <p:nvPr/>
        </p:nvPicPr>
        <p:blipFill>
          <a:blip r:embed="rId8"/>
          <a:stretch>
            <a:fillRect/>
          </a:stretch>
        </p:blipFill>
        <p:spPr>
          <a:xfrm>
            <a:off x="8595360" y="4507992"/>
            <a:ext cx="365760" cy="365760"/>
          </a:xfrm>
          <a:prstGeom prst="rect">
            <a:avLst/>
          </a:prstGeom>
        </p:spPr>
      </p:pic>
      <p:sp>
        <p:nvSpPr>
          <p:cNvPr id="43" name="Text 35"/>
          <p:cNvSpPr/>
          <p:nvPr/>
        </p:nvSpPr>
        <p:spPr>
          <a:xfrm>
            <a:off x="9272016" y="4334256"/>
            <a:ext cx="2331720" cy="365760"/>
          </a:xfrm>
          <a:prstGeom prst="rect">
            <a:avLst/>
          </a:prstGeom>
          <a:noFill/>
          <a:ln/>
        </p:spPr>
        <p:txBody>
          <a:bodyPr wrap="square" rtlCol="0" anchor="ctr"/>
          <a:lstStyle/>
          <a:p>
            <a:pPr marL="0" indent="0">
              <a:buNone/>
            </a:pPr>
            <a:r>
              <a:rPr lang="en-US" sz="1600" b="1" dirty="0">
                <a:solidFill>
                  <a:srgbClr val="1E293B"/>
                </a:solidFill>
                <a:latin typeface="맑은 고딕" pitchFamily="34" charset="0"/>
                <a:ea typeface="맑은 고딕" pitchFamily="34" charset="-122"/>
                <a:cs typeface="맑은 고딕" pitchFamily="34" charset="-120"/>
              </a:rPr>
              <a:t>Inspection</a:t>
            </a:r>
            <a:endParaRPr lang="en-US" sz="1600" dirty="0"/>
          </a:p>
        </p:txBody>
      </p:sp>
      <p:sp>
        <p:nvSpPr>
          <p:cNvPr id="44" name="Text 36"/>
          <p:cNvSpPr/>
          <p:nvPr/>
        </p:nvSpPr>
        <p:spPr>
          <a:xfrm>
            <a:off x="9272016" y="4700016"/>
            <a:ext cx="2331720" cy="310896"/>
          </a:xfrm>
          <a:prstGeom prst="rect">
            <a:avLst/>
          </a:prstGeom>
          <a:noFill/>
          <a:ln/>
        </p:spPr>
        <p:txBody>
          <a:bodyPr wrap="square" rtlCol="0" anchor="ctr"/>
          <a:lstStyle/>
          <a:p>
            <a:pPr marL="0" indent="0">
              <a:buNone/>
            </a:pPr>
            <a:r>
              <a:rPr lang="en-US" sz="1150" b="1" dirty="0">
                <a:solidFill>
                  <a:srgbClr val="2563EB"/>
                </a:solidFill>
                <a:latin typeface="맑은 고딕" pitchFamily="34" charset="0"/>
                <a:ea typeface="맑은 고딕" pitchFamily="34" charset="-122"/>
                <a:cs typeface="맑은 고딕" pitchFamily="34" charset="-120"/>
              </a:rPr>
              <a:t>검사</a:t>
            </a:r>
            <a:endParaRPr lang="en-US" sz="1150" dirty="0"/>
          </a:p>
        </p:txBody>
      </p:sp>
      <p:sp>
        <p:nvSpPr>
          <p:cNvPr id="45" name="Text 37"/>
          <p:cNvSpPr/>
          <p:nvPr/>
        </p:nvSpPr>
        <p:spPr>
          <a:xfrm>
            <a:off x="8421624" y="5166360"/>
            <a:ext cx="3063240" cy="548640"/>
          </a:xfrm>
          <a:prstGeom prst="rect">
            <a:avLst/>
          </a:prstGeom>
          <a:noFill/>
          <a:ln/>
        </p:spPr>
        <p:txBody>
          <a:bodyPr wrap="square" rtlCol="0" anchor="ctr"/>
          <a:lstStyle/>
          <a:p>
            <a:pPr marL="0" indent="0">
              <a:lnSpc>
                <a:spcPct val="110000"/>
              </a:lnSpc>
              <a:buNone/>
            </a:pPr>
            <a:r>
              <a:rPr lang="en-US" sz="1150" dirty="0">
                <a:solidFill>
                  <a:srgbClr val="5B6B85"/>
                </a:solidFill>
                <a:latin typeface="맑은 고딕" pitchFamily="34" charset="0"/>
                <a:ea typeface="맑은 고딕" pitchFamily="34" charset="-122"/>
                <a:cs typeface="맑은 고딕" pitchFamily="34" charset="-120"/>
              </a:rPr>
              <a:t>실제 차량 검사 진행과 결과 관리</a:t>
            </a:r>
            <a:endParaRPr lang="en-US" sz="1150" dirty="0"/>
          </a:p>
        </p:txBody>
      </p:sp>
      <p:sp>
        <p:nvSpPr>
          <p:cNvPr id="46" name="Text 38"/>
          <p:cNvSpPr/>
          <p:nvPr/>
        </p:nvSpPr>
        <p:spPr>
          <a:xfrm>
            <a:off x="10506456" y="4133088"/>
            <a:ext cx="1097280" cy="256032"/>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PORT 8086</a:t>
            </a:r>
            <a:endParaRPr lang="en-US" sz="900" dirty="0"/>
          </a:p>
        </p:txBody>
      </p:sp>
      <p:sp>
        <p:nvSpPr>
          <p:cNvPr id="48" name="Text 3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49" name="Text 4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FILE MANAGEMENT SYSTEM</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파일관리시스템(FMS)</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문서·엑셀 같은 파일을 안전하게 보관하고 관리하는 전담 모듈</a:t>
            </a:r>
            <a:endParaRPr lang="en-US" sz="1350" dirty="0"/>
          </a:p>
        </p:txBody>
      </p:sp>
      <p:sp>
        <p:nvSpPr>
          <p:cNvPr id="5" name="Shape 3"/>
          <p:cNvSpPr/>
          <p:nvPr/>
        </p:nvSpPr>
        <p:spPr>
          <a:xfrm>
            <a:off x="502920" y="2103120"/>
            <a:ext cx="5577840" cy="406908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Text 4"/>
          <p:cNvSpPr/>
          <p:nvPr/>
        </p:nvSpPr>
        <p:spPr>
          <a:xfrm>
            <a:off x="777240" y="2331720"/>
            <a:ext cx="5029200" cy="365760"/>
          </a:xfrm>
          <a:prstGeom prst="rect">
            <a:avLst/>
          </a:prstGeom>
          <a:noFill/>
          <a:ln/>
        </p:spPr>
        <p:txBody>
          <a:bodyPr wrap="square" rtlCol="0" anchor="ctr"/>
          <a:lstStyle/>
          <a:p>
            <a:pPr marL="0" indent="0">
              <a:buNone/>
            </a:pPr>
            <a:r>
              <a:rPr lang="en-US" sz="1500" b="1" dirty="0">
                <a:solidFill>
                  <a:srgbClr val="2563EB"/>
                </a:solidFill>
                <a:latin typeface="맑은 고딕" pitchFamily="34" charset="0"/>
                <a:ea typeface="맑은 고딕" pitchFamily="34" charset="-122"/>
                <a:cs typeface="맑은 고딕" pitchFamily="34" charset="-120"/>
              </a:rPr>
              <a:t>파일이 들어오는 과정</a:t>
            </a:r>
            <a:endParaRPr lang="en-US" sz="1500" dirty="0"/>
          </a:p>
        </p:txBody>
      </p:sp>
      <p:sp>
        <p:nvSpPr>
          <p:cNvPr id="7" name="Shape 5"/>
          <p:cNvSpPr/>
          <p:nvPr/>
        </p:nvSpPr>
        <p:spPr>
          <a:xfrm>
            <a:off x="868680" y="2880360"/>
            <a:ext cx="658368" cy="658368"/>
          </a:xfrm>
          <a:prstGeom prst="ellipse">
            <a:avLst/>
          </a:prstGeom>
          <a:solidFill>
            <a:srgbClr val="1D4ED8"/>
          </a:solidFill>
          <a:ln/>
        </p:spPr>
      </p:sp>
      <p:pic>
        <p:nvPicPr>
          <p:cNvPr id="8" name="Image 0" descr="preencoded.png"/>
          <p:cNvPicPr>
            <a:picLocks noChangeAspect="1"/>
          </p:cNvPicPr>
          <p:nvPr/>
        </p:nvPicPr>
        <p:blipFill>
          <a:blip r:embed="rId3"/>
          <a:stretch>
            <a:fillRect/>
          </a:stretch>
        </p:blipFill>
        <p:spPr>
          <a:xfrm>
            <a:off x="1042416" y="3044952"/>
            <a:ext cx="329184" cy="329184"/>
          </a:xfrm>
          <a:prstGeom prst="rect">
            <a:avLst/>
          </a:prstGeom>
        </p:spPr>
      </p:pic>
      <p:sp>
        <p:nvSpPr>
          <p:cNvPr id="9" name="Text 6"/>
          <p:cNvSpPr/>
          <p:nvPr/>
        </p:nvSpPr>
        <p:spPr>
          <a:xfrm>
            <a:off x="1691640" y="289864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1. 업로드</a:t>
            </a:r>
            <a:endParaRPr lang="en-US" sz="1450" dirty="0"/>
          </a:p>
        </p:txBody>
      </p:sp>
      <p:sp>
        <p:nvSpPr>
          <p:cNvPr id="10" name="Text 7"/>
          <p:cNvSpPr/>
          <p:nvPr/>
        </p:nvSpPr>
        <p:spPr>
          <a:xfrm>
            <a:off x="1691640" y="321868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사용자가 파일을 올림</a:t>
            </a:r>
            <a:endParaRPr lang="en-US" sz="1150" dirty="0"/>
          </a:p>
        </p:txBody>
      </p:sp>
      <p:sp>
        <p:nvSpPr>
          <p:cNvPr id="11" name="Shape 8"/>
          <p:cNvSpPr/>
          <p:nvPr/>
        </p:nvSpPr>
        <p:spPr>
          <a:xfrm>
            <a:off x="1197864" y="3538728"/>
            <a:ext cx="0" cy="118872"/>
          </a:xfrm>
          <a:prstGeom prst="line">
            <a:avLst/>
          </a:prstGeom>
          <a:noFill/>
          <a:ln w="19050">
            <a:solidFill>
              <a:srgbClr val="3B82F6"/>
            </a:solidFill>
            <a:prstDash val="solid"/>
          </a:ln>
        </p:spPr>
      </p:sp>
      <p:sp>
        <p:nvSpPr>
          <p:cNvPr id="12" name="Shape 9"/>
          <p:cNvSpPr/>
          <p:nvPr/>
        </p:nvSpPr>
        <p:spPr>
          <a:xfrm>
            <a:off x="868680" y="3657600"/>
            <a:ext cx="658368" cy="658368"/>
          </a:xfrm>
          <a:prstGeom prst="ellipse">
            <a:avLst/>
          </a:prstGeom>
          <a:solidFill>
            <a:srgbClr val="1D4ED8"/>
          </a:solidFill>
          <a:ln/>
        </p:spPr>
      </p:sp>
      <p:pic>
        <p:nvPicPr>
          <p:cNvPr id="13" name="Image 1" descr="preencoded.png"/>
          <p:cNvPicPr>
            <a:picLocks noChangeAspect="1"/>
          </p:cNvPicPr>
          <p:nvPr/>
        </p:nvPicPr>
        <p:blipFill>
          <a:blip r:embed="rId4"/>
          <a:stretch>
            <a:fillRect/>
          </a:stretch>
        </p:blipFill>
        <p:spPr>
          <a:xfrm>
            <a:off x="1042416" y="3822192"/>
            <a:ext cx="329184" cy="329184"/>
          </a:xfrm>
          <a:prstGeom prst="rect">
            <a:avLst/>
          </a:prstGeom>
        </p:spPr>
      </p:pic>
      <p:sp>
        <p:nvSpPr>
          <p:cNvPr id="14" name="Text 10"/>
          <p:cNvSpPr/>
          <p:nvPr/>
        </p:nvSpPr>
        <p:spPr>
          <a:xfrm>
            <a:off x="1691640" y="367588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2. 검증·처리</a:t>
            </a:r>
            <a:endParaRPr lang="en-US" sz="1450" dirty="0"/>
          </a:p>
        </p:txBody>
      </p:sp>
      <p:sp>
        <p:nvSpPr>
          <p:cNvPr id="15" name="Text 11"/>
          <p:cNvSpPr/>
          <p:nvPr/>
        </p:nvSpPr>
        <p:spPr>
          <a:xfrm>
            <a:off x="1691640" y="399592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형식 확인 후 안전하게 처리</a:t>
            </a:r>
            <a:endParaRPr lang="en-US" sz="1150" dirty="0"/>
          </a:p>
        </p:txBody>
      </p:sp>
      <p:sp>
        <p:nvSpPr>
          <p:cNvPr id="16" name="Shape 12"/>
          <p:cNvSpPr/>
          <p:nvPr/>
        </p:nvSpPr>
        <p:spPr>
          <a:xfrm>
            <a:off x="1197864" y="4315968"/>
            <a:ext cx="0" cy="118872"/>
          </a:xfrm>
          <a:prstGeom prst="line">
            <a:avLst/>
          </a:prstGeom>
          <a:noFill/>
          <a:ln w="19050">
            <a:solidFill>
              <a:srgbClr val="3B82F6"/>
            </a:solidFill>
            <a:prstDash val="solid"/>
          </a:ln>
        </p:spPr>
      </p:sp>
      <p:sp>
        <p:nvSpPr>
          <p:cNvPr id="17" name="Shape 13"/>
          <p:cNvSpPr/>
          <p:nvPr/>
        </p:nvSpPr>
        <p:spPr>
          <a:xfrm>
            <a:off x="868680" y="4434840"/>
            <a:ext cx="658368" cy="658368"/>
          </a:xfrm>
          <a:prstGeom prst="ellipse">
            <a:avLst/>
          </a:prstGeom>
          <a:solidFill>
            <a:srgbClr val="1D4ED8"/>
          </a:solidFill>
          <a:ln/>
        </p:spPr>
      </p:sp>
      <p:pic>
        <p:nvPicPr>
          <p:cNvPr id="18" name="Image 2" descr="preencoded.png"/>
          <p:cNvPicPr>
            <a:picLocks noChangeAspect="1"/>
          </p:cNvPicPr>
          <p:nvPr/>
        </p:nvPicPr>
        <p:blipFill>
          <a:blip r:embed="rId5"/>
          <a:stretch>
            <a:fillRect/>
          </a:stretch>
        </p:blipFill>
        <p:spPr>
          <a:xfrm>
            <a:off x="1042416" y="4599432"/>
            <a:ext cx="329184" cy="329184"/>
          </a:xfrm>
          <a:prstGeom prst="rect">
            <a:avLst/>
          </a:prstGeom>
        </p:spPr>
      </p:pic>
      <p:sp>
        <p:nvSpPr>
          <p:cNvPr id="19" name="Text 14"/>
          <p:cNvSpPr/>
          <p:nvPr/>
        </p:nvSpPr>
        <p:spPr>
          <a:xfrm>
            <a:off x="1691640" y="445312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3. 보관</a:t>
            </a:r>
            <a:endParaRPr lang="en-US" sz="1450" dirty="0"/>
          </a:p>
        </p:txBody>
      </p:sp>
      <p:sp>
        <p:nvSpPr>
          <p:cNvPr id="20" name="Text 15"/>
          <p:cNvSpPr/>
          <p:nvPr/>
        </p:nvSpPr>
        <p:spPr>
          <a:xfrm>
            <a:off x="1691640" y="477316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파일 정보를 체계적으로 저장</a:t>
            </a:r>
            <a:endParaRPr lang="en-US" sz="1150" dirty="0"/>
          </a:p>
        </p:txBody>
      </p:sp>
      <p:sp>
        <p:nvSpPr>
          <p:cNvPr id="21" name="Shape 16"/>
          <p:cNvSpPr/>
          <p:nvPr/>
        </p:nvSpPr>
        <p:spPr>
          <a:xfrm>
            <a:off x="1197864" y="5093208"/>
            <a:ext cx="0" cy="118872"/>
          </a:xfrm>
          <a:prstGeom prst="line">
            <a:avLst/>
          </a:prstGeom>
          <a:noFill/>
          <a:ln w="19050">
            <a:solidFill>
              <a:srgbClr val="3B82F6"/>
            </a:solidFill>
            <a:prstDash val="solid"/>
          </a:ln>
        </p:spPr>
      </p:sp>
      <p:sp>
        <p:nvSpPr>
          <p:cNvPr id="22" name="Shape 17"/>
          <p:cNvSpPr/>
          <p:nvPr/>
        </p:nvSpPr>
        <p:spPr>
          <a:xfrm>
            <a:off x="868680" y="5212080"/>
            <a:ext cx="658368" cy="658368"/>
          </a:xfrm>
          <a:prstGeom prst="ellipse">
            <a:avLst/>
          </a:prstGeom>
          <a:solidFill>
            <a:srgbClr val="1D4ED8"/>
          </a:solidFill>
          <a:ln/>
        </p:spPr>
      </p:sp>
      <p:pic>
        <p:nvPicPr>
          <p:cNvPr id="23" name="Image 3" descr="preencoded.png"/>
          <p:cNvPicPr>
            <a:picLocks noChangeAspect="1"/>
          </p:cNvPicPr>
          <p:nvPr/>
        </p:nvPicPr>
        <p:blipFill>
          <a:blip r:embed="rId6"/>
          <a:stretch>
            <a:fillRect/>
          </a:stretch>
        </p:blipFill>
        <p:spPr>
          <a:xfrm>
            <a:off x="1042416" y="5376672"/>
            <a:ext cx="329184" cy="329184"/>
          </a:xfrm>
          <a:prstGeom prst="rect">
            <a:avLst/>
          </a:prstGeom>
        </p:spPr>
      </p:pic>
      <p:sp>
        <p:nvSpPr>
          <p:cNvPr id="24" name="Text 18"/>
          <p:cNvSpPr/>
          <p:nvPr/>
        </p:nvSpPr>
        <p:spPr>
          <a:xfrm>
            <a:off x="1691640" y="5230368"/>
            <a:ext cx="4114800" cy="310896"/>
          </a:xfrm>
          <a:prstGeom prst="rect">
            <a:avLst/>
          </a:prstGeom>
          <a:noFill/>
          <a:ln/>
        </p:spPr>
        <p:txBody>
          <a:bodyPr wrap="square" rtlCol="0" anchor="ctr"/>
          <a:lstStyle/>
          <a:p>
            <a:pPr marL="0" indent="0">
              <a:buNone/>
            </a:pPr>
            <a:r>
              <a:rPr lang="en-US" sz="1450" b="1" dirty="0">
                <a:solidFill>
                  <a:srgbClr val="1E293B"/>
                </a:solidFill>
                <a:latin typeface="맑은 고딕" pitchFamily="34" charset="0"/>
                <a:ea typeface="맑은 고딕" pitchFamily="34" charset="-122"/>
                <a:cs typeface="맑은 고딕" pitchFamily="34" charset="-120"/>
              </a:rPr>
              <a:t>4. 조회·활용</a:t>
            </a:r>
            <a:endParaRPr lang="en-US" sz="1450" dirty="0"/>
          </a:p>
        </p:txBody>
      </p:sp>
      <p:sp>
        <p:nvSpPr>
          <p:cNvPr id="25" name="Text 19"/>
          <p:cNvSpPr/>
          <p:nvPr/>
        </p:nvSpPr>
        <p:spPr>
          <a:xfrm>
            <a:off x="1691640" y="5550408"/>
            <a:ext cx="4206240" cy="274320"/>
          </a:xfrm>
          <a:prstGeom prst="rect">
            <a:avLst/>
          </a:prstGeom>
          <a:noFill/>
          <a:ln/>
        </p:spPr>
        <p:txBody>
          <a:bodyPr wrap="square" rtlCol="0" anchor="ctr"/>
          <a:lstStyle/>
          <a:p>
            <a:pPr marL="0" indent="0">
              <a:buNone/>
            </a:pPr>
            <a:r>
              <a:rPr lang="en-US" sz="1150" dirty="0">
                <a:solidFill>
                  <a:srgbClr val="5B6B85"/>
                </a:solidFill>
                <a:latin typeface="맑은 고딕" pitchFamily="34" charset="0"/>
                <a:ea typeface="맑은 고딕" pitchFamily="34" charset="-122"/>
                <a:cs typeface="맑은 고딕" pitchFamily="34" charset="-120"/>
              </a:rPr>
              <a:t>필요할 때 다시 꺼내 사용</a:t>
            </a:r>
            <a:endParaRPr lang="en-US" sz="1150" dirty="0"/>
          </a:p>
        </p:txBody>
      </p:sp>
      <p:sp>
        <p:nvSpPr>
          <p:cNvPr id="26" name="Shape 20"/>
          <p:cNvSpPr/>
          <p:nvPr/>
        </p:nvSpPr>
        <p:spPr>
          <a:xfrm>
            <a:off x="6263640" y="2103120"/>
            <a:ext cx="5394960" cy="4069080"/>
          </a:xfrm>
          <a:prstGeom prst="rect">
            <a:avLst/>
          </a:prstGeom>
          <a:solidFill>
            <a:srgbClr val="0E1F45"/>
          </a:solidFill>
          <a:ln/>
          <a:effectLst>
            <a:outerShdw blurRad="114300" dist="38100" dir="5400000" algn="bl" rotWithShape="0">
              <a:srgbClr val="0E1F45">
                <a:alpha val="14000"/>
              </a:srgbClr>
            </a:outerShdw>
          </a:effectLst>
        </p:spPr>
      </p:sp>
      <p:sp>
        <p:nvSpPr>
          <p:cNvPr id="27" name="Text 21"/>
          <p:cNvSpPr/>
          <p:nvPr/>
        </p:nvSpPr>
        <p:spPr>
          <a:xfrm>
            <a:off x="6537960" y="2331720"/>
            <a:ext cx="4572000" cy="365760"/>
          </a:xfrm>
          <a:prstGeom prst="rect">
            <a:avLst/>
          </a:prstGeom>
          <a:noFill/>
          <a:ln/>
        </p:spPr>
        <p:txBody>
          <a:bodyPr wrap="square" rtlCol="0" anchor="ctr"/>
          <a:lstStyle/>
          <a:p>
            <a:pPr marL="0" indent="0">
              <a:buNone/>
            </a:pPr>
            <a:r>
              <a:rPr lang="en-US" sz="1600" b="1" dirty="0">
                <a:solidFill>
                  <a:srgbClr val="F4B740"/>
                </a:solidFill>
                <a:latin typeface="맑은 고딕" pitchFamily="34" charset="0"/>
                <a:ea typeface="맑은 고딕" pitchFamily="34" charset="-122"/>
                <a:cs typeface="맑은 고딕" pitchFamily="34" charset="-120"/>
              </a:rPr>
              <a:t>FMS의 강점</a:t>
            </a:r>
            <a:endParaRPr lang="en-US" sz="1600" dirty="0"/>
          </a:p>
        </p:txBody>
      </p:sp>
      <p:sp>
        <p:nvSpPr>
          <p:cNvPr id="28" name="Shape 22"/>
          <p:cNvSpPr/>
          <p:nvPr/>
        </p:nvSpPr>
        <p:spPr>
          <a:xfrm>
            <a:off x="6537960" y="2926080"/>
            <a:ext cx="640080" cy="640080"/>
          </a:xfrm>
          <a:prstGeom prst="ellipse">
            <a:avLst/>
          </a:prstGeom>
          <a:solidFill>
            <a:srgbClr val="14264F"/>
          </a:solidFill>
          <a:ln w="12700">
            <a:solidFill>
              <a:srgbClr val="3B82F6"/>
            </a:solidFill>
            <a:prstDash val="solid"/>
          </a:ln>
        </p:spPr>
      </p:sp>
      <p:pic>
        <p:nvPicPr>
          <p:cNvPr id="29" name="Image 4" descr="preencoded.png"/>
          <p:cNvPicPr>
            <a:picLocks noChangeAspect="1"/>
          </p:cNvPicPr>
          <p:nvPr/>
        </p:nvPicPr>
        <p:blipFill>
          <a:blip r:embed="rId7"/>
          <a:stretch>
            <a:fillRect/>
          </a:stretch>
        </p:blipFill>
        <p:spPr>
          <a:xfrm>
            <a:off x="6702552" y="3090672"/>
            <a:ext cx="310896" cy="310896"/>
          </a:xfrm>
          <a:prstGeom prst="rect">
            <a:avLst/>
          </a:prstGeom>
        </p:spPr>
      </p:pic>
      <p:sp>
        <p:nvSpPr>
          <p:cNvPr id="30" name="Text 23"/>
          <p:cNvSpPr/>
          <p:nvPr/>
        </p:nvSpPr>
        <p:spPr>
          <a:xfrm>
            <a:off x="7360920" y="2926080"/>
            <a:ext cx="4114800" cy="329184"/>
          </a:xfrm>
          <a:prstGeom prst="rect">
            <a:avLst/>
          </a:prstGeom>
          <a:noFill/>
          <a:ln/>
        </p:spPr>
        <p:txBody>
          <a:bodyPr wrap="square" rtlCol="0" anchor="ctr"/>
          <a:lstStyle/>
          <a:p>
            <a:pPr marL="0" indent="0">
              <a:buNone/>
            </a:pPr>
            <a:r>
              <a:rPr lang="en-US" sz="1450" b="1" dirty="0">
                <a:solidFill>
                  <a:srgbClr val="FFFFFF"/>
                </a:solidFill>
                <a:latin typeface="맑은 고딕" pitchFamily="34" charset="0"/>
                <a:ea typeface="맑은 고딕" pitchFamily="34" charset="-122"/>
                <a:cs typeface="맑은 고딕" pitchFamily="34" charset="-120"/>
              </a:rPr>
              <a:t>엑셀 일괄 업로드</a:t>
            </a:r>
            <a:endParaRPr lang="en-US" sz="1450" dirty="0"/>
          </a:p>
        </p:txBody>
      </p:sp>
      <p:sp>
        <p:nvSpPr>
          <p:cNvPr id="31" name="Text 24"/>
          <p:cNvSpPr/>
          <p:nvPr/>
        </p:nvSpPr>
        <p:spPr>
          <a:xfrm>
            <a:off x="7360920" y="3255264"/>
            <a:ext cx="4160520" cy="502920"/>
          </a:xfrm>
          <a:prstGeom prst="rect">
            <a:avLst/>
          </a:prstGeom>
          <a:noFill/>
          <a:ln/>
        </p:spPr>
        <p:txBody>
          <a:bodyPr wrap="square" rtlCol="0" anchor="ctr"/>
          <a:lstStyle/>
          <a:p>
            <a:pPr marL="0" indent="0">
              <a:lnSpc>
                <a:spcPct val="110000"/>
              </a:lnSpc>
              <a:buNone/>
            </a:pPr>
            <a:r>
              <a:rPr lang="en-US" sz="1150" dirty="0">
                <a:solidFill>
                  <a:srgbClr val="DBE7FB"/>
                </a:solidFill>
                <a:latin typeface="맑은 고딕" pitchFamily="34" charset="0"/>
                <a:ea typeface="맑은 고딕" pitchFamily="34" charset="-122"/>
                <a:cs typeface="맑은 고딕" pitchFamily="34" charset="-120"/>
              </a:rPr>
              <a:t>대량 데이터를 엑셀로 한 번에 등록</a:t>
            </a:r>
            <a:endParaRPr lang="en-US" sz="1150" dirty="0"/>
          </a:p>
        </p:txBody>
      </p:sp>
      <p:sp>
        <p:nvSpPr>
          <p:cNvPr id="32" name="Shape 25"/>
          <p:cNvSpPr/>
          <p:nvPr/>
        </p:nvSpPr>
        <p:spPr>
          <a:xfrm>
            <a:off x="6537960" y="3931920"/>
            <a:ext cx="640080" cy="640080"/>
          </a:xfrm>
          <a:prstGeom prst="ellipse">
            <a:avLst/>
          </a:prstGeom>
          <a:solidFill>
            <a:srgbClr val="14264F"/>
          </a:solidFill>
          <a:ln w="12700">
            <a:solidFill>
              <a:srgbClr val="3B82F6"/>
            </a:solidFill>
            <a:prstDash val="solid"/>
          </a:ln>
        </p:spPr>
      </p:sp>
      <p:pic>
        <p:nvPicPr>
          <p:cNvPr id="33" name="Image 5" descr="preencoded.png"/>
          <p:cNvPicPr>
            <a:picLocks noChangeAspect="1"/>
          </p:cNvPicPr>
          <p:nvPr/>
        </p:nvPicPr>
        <p:blipFill>
          <a:blip r:embed="rId8"/>
          <a:stretch>
            <a:fillRect/>
          </a:stretch>
        </p:blipFill>
        <p:spPr>
          <a:xfrm>
            <a:off x="6702552" y="4096512"/>
            <a:ext cx="310896" cy="310896"/>
          </a:xfrm>
          <a:prstGeom prst="rect">
            <a:avLst/>
          </a:prstGeom>
        </p:spPr>
      </p:pic>
      <p:sp>
        <p:nvSpPr>
          <p:cNvPr id="34" name="Text 26"/>
          <p:cNvSpPr/>
          <p:nvPr/>
        </p:nvSpPr>
        <p:spPr>
          <a:xfrm>
            <a:off x="7360920" y="3931920"/>
            <a:ext cx="4114800" cy="329184"/>
          </a:xfrm>
          <a:prstGeom prst="rect">
            <a:avLst/>
          </a:prstGeom>
          <a:noFill/>
          <a:ln/>
        </p:spPr>
        <p:txBody>
          <a:bodyPr wrap="square" rtlCol="0" anchor="ctr"/>
          <a:lstStyle/>
          <a:p>
            <a:pPr marL="0" indent="0">
              <a:buNone/>
            </a:pPr>
            <a:r>
              <a:rPr lang="en-US" sz="1450" b="1" dirty="0">
                <a:solidFill>
                  <a:srgbClr val="FFFFFF"/>
                </a:solidFill>
                <a:latin typeface="맑은 고딕" pitchFamily="34" charset="0"/>
                <a:ea typeface="맑은 고딕" pitchFamily="34" charset="-122"/>
                <a:cs typeface="맑은 고딕" pitchFamily="34" charset="-120"/>
              </a:rPr>
              <a:t>전담 분리 구조</a:t>
            </a:r>
            <a:endParaRPr lang="en-US" sz="1450" dirty="0"/>
          </a:p>
        </p:txBody>
      </p:sp>
      <p:sp>
        <p:nvSpPr>
          <p:cNvPr id="35" name="Text 27"/>
          <p:cNvSpPr/>
          <p:nvPr/>
        </p:nvSpPr>
        <p:spPr>
          <a:xfrm>
            <a:off x="7360920" y="4261104"/>
            <a:ext cx="4160520" cy="502920"/>
          </a:xfrm>
          <a:prstGeom prst="rect">
            <a:avLst/>
          </a:prstGeom>
          <a:noFill/>
          <a:ln/>
        </p:spPr>
        <p:txBody>
          <a:bodyPr wrap="square" rtlCol="0" anchor="ctr"/>
          <a:lstStyle/>
          <a:p>
            <a:pPr marL="0" indent="0">
              <a:lnSpc>
                <a:spcPct val="110000"/>
              </a:lnSpc>
              <a:buNone/>
            </a:pPr>
            <a:r>
              <a:rPr lang="en-US" sz="1150" dirty="0">
                <a:solidFill>
                  <a:srgbClr val="DBE7FB"/>
                </a:solidFill>
                <a:latin typeface="맑은 고딕" pitchFamily="34" charset="0"/>
                <a:ea typeface="맑은 고딕" pitchFamily="34" charset="-122"/>
                <a:cs typeface="맑은 고딕" pitchFamily="34" charset="-120"/>
              </a:rPr>
              <a:t>파일 처리를 별도 서비스로 분리해 안정적</a:t>
            </a:r>
            <a:endParaRPr lang="en-US" sz="1150" dirty="0"/>
          </a:p>
        </p:txBody>
      </p:sp>
      <p:sp>
        <p:nvSpPr>
          <p:cNvPr id="36" name="Shape 28"/>
          <p:cNvSpPr/>
          <p:nvPr/>
        </p:nvSpPr>
        <p:spPr>
          <a:xfrm>
            <a:off x="6537960" y="4937760"/>
            <a:ext cx="640080" cy="640080"/>
          </a:xfrm>
          <a:prstGeom prst="ellipse">
            <a:avLst/>
          </a:prstGeom>
          <a:solidFill>
            <a:srgbClr val="14264F"/>
          </a:solidFill>
          <a:ln w="12700">
            <a:solidFill>
              <a:srgbClr val="3B82F6"/>
            </a:solidFill>
            <a:prstDash val="solid"/>
          </a:ln>
        </p:spPr>
      </p:sp>
      <p:pic>
        <p:nvPicPr>
          <p:cNvPr id="37" name="Image 6" descr="preencoded.png"/>
          <p:cNvPicPr>
            <a:picLocks noChangeAspect="1"/>
          </p:cNvPicPr>
          <p:nvPr/>
        </p:nvPicPr>
        <p:blipFill>
          <a:blip r:embed="rId9"/>
          <a:stretch>
            <a:fillRect/>
          </a:stretch>
        </p:blipFill>
        <p:spPr>
          <a:xfrm>
            <a:off x="6702552" y="5102352"/>
            <a:ext cx="310896" cy="310896"/>
          </a:xfrm>
          <a:prstGeom prst="rect">
            <a:avLst/>
          </a:prstGeom>
        </p:spPr>
      </p:pic>
      <p:sp>
        <p:nvSpPr>
          <p:cNvPr id="38" name="Text 29"/>
          <p:cNvSpPr/>
          <p:nvPr/>
        </p:nvSpPr>
        <p:spPr>
          <a:xfrm>
            <a:off x="7360920" y="4937760"/>
            <a:ext cx="4114800" cy="329184"/>
          </a:xfrm>
          <a:prstGeom prst="rect">
            <a:avLst/>
          </a:prstGeom>
          <a:noFill/>
          <a:ln/>
        </p:spPr>
        <p:txBody>
          <a:bodyPr wrap="square" rtlCol="0" anchor="ctr"/>
          <a:lstStyle/>
          <a:p>
            <a:pPr marL="0" indent="0">
              <a:buNone/>
            </a:pPr>
            <a:r>
              <a:rPr lang="en-US" sz="1450" b="1" dirty="0">
                <a:solidFill>
                  <a:srgbClr val="FFFFFF"/>
                </a:solidFill>
                <a:latin typeface="맑은 고딕" pitchFamily="34" charset="0"/>
                <a:ea typeface="맑은 고딕" pitchFamily="34" charset="-122"/>
                <a:cs typeface="맑은 고딕" pitchFamily="34" charset="-120"/>
              </a:rPr>
              <a:t>공통 Core 사용</a:t>
            </a:r>
            <a:endParaRPr lang="en-US" sz="1450" dirty="0"/>
          </a:p>
        </p:txBody>
      </p:sp>
      <p:sp>
        <p:nvSpPr>
          <p:cNvPr id="39" name="Text 30"/>
          <p:cNvSpPr/>
          <p:nvPr/>
        </p:nvSpPr>
        <p:spPr>
          <a:xfrm>
            <a:off x="7360920" y="5266944"/>
            <a:ext cx="4160520" cy="502920"/>
          </a:xfrm>
          <a:prstGeom prst="rect">
            <a:avLst/>
          </a:prstGeom>
          <a:noFill/>
          <a:ln/>
        </p:spPr>
        <p:txBody>
          <a:bodyPr wrap="square" rtlCol="0" anchor="ctr"/>
          <a:lstStyle/>
          <a:p>
            <a:pPr marL="0" indent="0">
              <a:lnSpc>
                <a:spcPct val="110000"/>
              </a:lnSpc>
              <a:buNone/>
            </a:pPr>
            <a:r>
              <a:rPr lang="en-US" sz="1150" dirty="0">
                <a:solidFill>
                  <a:srgbClr val="DBE7FB"/>
                </a:solidFill>
                <a:latin typeface="맑은 고딕" pitchFamily="34" charset="0"/>
                <a:ea typeface="맑은 고딕" pitchFamily="34" charset="-122"/>
                <a:cs typeface="맑은 고딕" pitchFamily="34" charset="-120"/>
              </a:rPr>
              <a:t>보안·기록 기능을 그대로 공유</a:t>
            </a:r>
            <a:endParaRPr lang="en-US" sz="1150" dirty="0"/>
          </a:p>
        </p:txBody>
      </p:sp>
      <p:sp>
        <p:nvSpPr>
          <p:cNvPr id="41" name="Text 31"/>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42" name="Text 32"/>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SCALABILITY &amp; OPERATION</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새 업무가 생겨도 끄떡없습니다</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기존을 건드리지 않고 모듈만 추가, 운영은 자동으로 정비</a:t>
            </a:r>
            <a:endParaRPr lang="en-US" sz="1350" dirty="0"/>
          </a:p>
        </p:txBody>
      </p:sp>
      <p:sp>
        <p:nvSpPr>
          <p:cNvPr id="5" name="Shape 3"/>
          <p:cNvSpPr/>
          <p:nvPr/>
        </p:nvSpPr>
        <p:spPr>
          <a:xfrm>
            <a:off x="50292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850392" y="2560320"/>
            <a:ext cx="841248" cy="841248"/>
          </a:xfrm>
          <a:prstGeom prst="ellipse">
            <a:avLst/>
          </a:prstGeom>
          <a:solidFill>
            <a:srgbClr val="1D4ED8"/>
          </a:solidFill>
          <a:ln/>
        </p:spPr>
      </p:sp>
      <p:pic>
        <p:nvPicPr>
          <p:cNvPr id="7" name="Image 0" descr="preencoded.png"/>
          <p:cNvPicPr>
            <a:picLocks noChangeAspect="1"/>
          </p:cNvPicPr>
          <p:nvPr/>
        </p:nvPicPr>
        <p:blipFill>
          <a:blip r:embed="rId3"/>
          <a:stretch>
            <a:fillRect/>
          </a:stretch>
        </p:blipFill>
        <p:spPr>
          <a:xfrm>
            <a:off x="1060704" y="2770632"/>
            <a:ext cx="420624" cy="420624"/>
          </a:xfrm>
          <a:prstGeom prst="rect">
            <a:avLst/>
          </a:prstGeom>
        </p:spPr>
      </p:pic>
      <p:sp>
        <p:nvSpPr>
          <p:cNvPr id="8" name="Text 5"/>
          <p:cNvSpPr/>
          <p:nvPr/>
        </p:nvSpPr>
        <p:spPr>
          <a:xfrm>
            <a:off x="1920240" y="2423160"/>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모듈만 추가</a:t>
            </a:r>
            <a:endParaRPr lang="en-US" sz="1800" dirty="0"/>
          </a:p>
        </p:txBody>
      </p:sp>
      <p:sp>
        <p:nvSpPr>
          <p:cNvPr id="9" name="Text 6"/>
          <p:cNvSpPr/>
          <p:nvPr/>
        </p:nvSpPr>
        <p:spPr>
          <a:xfrm>
            <a:off x="1920240" y="2898648"/>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새 업무가 생기면 새 서비스(모듈)만 끼우면 됩니다. 기존 서비스는 그대로 — 위험 없이 확장.</a:t>
            </a:r>
            <a:endParaRPr lang="en-US" sz="1250" dirty="0"/>
          </a:p>
        </p:txBody>
      </p:sp>
      <p:sp>
        <p:nvSpPr>
          <p:cNvPr id="10" name="Shape 7"/>
          <p:cNvSpPr/>
          <p:nvPr/>
        </p:nvSpPr>
        <p:spPr>
          <a:xfrm>
            <a:off x="6309360" y="2057400"/>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1" name="Shape 8"/>
          <p:cNvSpPr/>
          <p:nvPr/>
        </p:nvSpPr>
        <p:spPr>
          <a:xfrm>
            <a:off x="6656832" y="2560320"/>
            <a:ext cx="841248" cy="841248"/>
          </a:xfrm>
          <a:prstGeom prst="ellipse">
            <a:avLst/>
          </a:prstGeom>
          <a:solidFill>
            <a:srgbClr val="1D4ED8"/>
          </a:solidFill>
          <a:ln/>
        </p:spPr>
      </p:sp>
      <p:pic>
        <p:nvPicPr>
          <p:cNvPr id="12" name="Image 1" descr="preencoded.png"/>
          <p:cNvPicPr>
            <a:picLocks noChangeAspect="1"/>
          </p:cNvPicPr>
          <p:nvPr/>
        </p:nvPicPr>
        <p:blipFill>
          <a:blip r:embed="rId4"/>
          <a:stretch>
            <a:fillRect/>
          </a:stretch>
        </p:blipFill>
        <p:spPr>
          <a:xfrm>
            <a:off x="6867144" y="2770632"/>
            <a:ext cx="420624" cy="420624"/>
          </a:xfrm>
          <a:prstGeom prst="rect">
            <a:avLst/>
          </a:prstGeom>
        </p:spPr>
      </p:pic>
      <p:sp>
        <p:nvSpPr>
          <p:cNvPr id="13" name="Text 9"/>
          <p:cNvSpPr/>
          <p:nvPr/>
        </p:nvSpPr>
        <p:spPr>
          <a:xfrm>
            <a:off x="7726680" y="2423160"/>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Core 그대로 재사용</a:t>
            </a:r>
            <a:endParaRPr lang="en-US" sz="1800" dirty="0"/>
          </a:p>
        </p:txBody>
      </p:sp>
      <p:sp>
        <p:nvSpPr>
          <p:cNvPr id="14" name="Text 10"/>
          <p:cNvSpPr/>
          <p:nvPr/>
        </p:nvSpPr>
        <p:spPr>
          <a:xfrm>
            <a:off x="7726680" y="2898648"/>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새 모듈도 보안·공통기능을 Core에서 즉시 물려받아, 빠르게 안정적으로 출시.</a:t>
            </a:r>
            <a:endParaRPr lang="en-US" sz="1250" dirty="0"/>
          </a:p>
        </p:txBody>
      </p:sp>
      <p:sp>
        <p:nvSpPr>
          <p:cNvPr id="15" name="Shape 11"/>
          <p:cNvSpPr/>
          <p:nvPr/>
        </p:nvSpPr>
        <p:spPr>
          <a:xfrm>
            <a:off x="50292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6" name="Shape 12"/>
          <p:cNvSpPr/>
          <p:nvPr/>
        </p:nvSpPr>
        <p:spPr>
          <a:xfrm>
            <a:off x="850392" y="4681728"/>
            <a:ext cx="841248" cy="841248"/>
          </a:xfrm>
          <a:prstGeom prst="ellipse">
            <a:avLst/>
          </a:prstGeom>
          <a:solidFill>
            <a:srgbClr val="1D4ED8"/>
          </a:solidFill>
          <a:ln/>
        </p:spPr>
      </p:sp>
      <p:pic>
        <p:nvPicPr>
          <p:cNvPr id="17" name="Image 2" descr="preencoded.png"/>
          <p:cNvPicPr>
            <a:picLocks noChangeAspect="1"/>
          </p:cNvPicPr>
          <p:nvPr/>
        </p:nvPicPr>
        <p:blipFill>
          <a:blip r:embed="rId5"/>
          <a:stretch>
            <a:fillRect/>
          </a:stretch>
        </p:blipFill>
        <p:spPr>
          <a:xfrm>
            <a:off x="1060704" y="4892040"/>
            <a:ext cx="420624" cy="420624"/>
          </a:xfrm>
          <a:prstGeom prst="rect">
            <a:avLst/>
          </a:prstGeom>
        </p:spPr>
      </p:pic>
      <p:sp>
        <p:nvSpPr>
          <p:cNvPr id="18" name="Text 13"/>
          <p:cNvSpPr/>
          <p:nvPr/>
        </p:nvSpPr>
        <p:spPr>
          <a:xfrm>
            <a:off x="1920240" y="4544568"/>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DB 자동 정비</a:t>
            </a:r>
            <a:endParaRPr lang="en-US" sz="1800" dirty="0"/>
          </a:p>
        </p:txBody>
      </p:sp>
      <p:sp>
        <p:nvSpPr>
          <p:cNvPr id="19" name="Text 14"/>
          <p:cNvSpPr/>
          <p:nvPr/>
        </p:nvSpPr>
        <p:spPr>
          <a:xfrm>
            <a:off x="1920240" y="5020056"/>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기록이 쌓이는 표를 매일 새벽 자동으로 정리·준비해, 시간이 지나도 빠른 속도 유지.</a:t>
            </a:r>
            <a:endParaRPr lang="en-US" sz="1250" dirty="0"/>
          </a:p>
        </p:txBody>
      </p:sp>
      <p:sp>
        <p:nvSpPr>
          <p:cNvPr id="20" name="Shape 15"/>
          <p:cNvSpPr/>
          <p:nvPr/>
        </p:nvSpPr>
        <p:spPr>
          <a:xfrm>
            <a:off x="6309360" y="4178808"/>
            <a:ext cx="5440680" cy="182880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1" name="Shape 16"/>
          <p:cNvSpPr/>
          <p:nvPr/>
        </p:nvSpPr>
        <p:spPr>
          <a:xfrm>
            <a:off x="6656832" y="4681728"/>
            <a:ext cx="841248" cy="841248"/>
          </a:xfrm>
          <a:prstGeom prst="ellipse">
            <a:avLst/>
          </a:prstGeom>
          <a:solidFill>
            <a:srgbClr val="1D4ED8"/>
          </a:solidFill>
          <a:ln/>
        </p:spPr>
      </p:sp>
      <p:pic>
        <p:nvPicPr>
          <p:cNvPr id="22" name="Image 3" descr="preencoded.png"/>
          <p:cNvPicPr>
            <a:picLocks noChangeAspect="1"/>
          </p:cNvPicPr>
          <p:nvPr/>
        </p:nvPicPr>
        <p:blipFill>
          <a:blip r:embed="rId6"/>
          <a:stretch>
            <a:fillRect/>
          </a:stretch>
        </p:blipFill>
        <p:spPr>
          <a:xfrm>
            <a:off x="6867144" y="4892040"/>
            <a:ext cx="420624" cy="420624"/>
          </a:xfrm>
          <a:prstGeom prst="rect">
            <a:avLst/>
          </a:prstGeom>
        </p:spPr>
      </p:pic>
      <p:sp>
        <p:nvSpPr>
          <p:cNvPr id="23" name="Text 17"/>
          <p:cNvSpPr/>
          <p:nvPr/>
        </p:nvSpPr>
        <p:spPr>
          <a:xfrm>
            <a:off x="7726680" y="4544568"/>
            <a:ext cx="3794760" cy="411480"/>
          </a:xfrm>
          <a:prstGeom prst="rect">
            <a:avLst/>
          </a:prstGeom>
          <a:noFill/>
          <a:ln/>
        </p:spPr>
        <p:txBody>
          <a:bodyPr wrap="square" rtlCol="0" anchor="ctr"/>
          <a:lstStyle/>
          <a:p>
            <a:pPr marL="0" indent="0">
              <a:buNone/>
            </a:pPr>
            <a:r>
              <a:rPr lang="en-US" sz="1800" b="1" dirty="0">
                <a:solidFill>
                  <a:srgbClr val="1E293B"/>
                </a:solidFill>
                <a:latin typeface="맑은 고딕" pitchFamily="34" charset="0"/>
                <a:ea typeface="맑은 고딕" pitchFamily="34" charset="-122"/>
                <a:cs typeface="맑은 고딕" pitchFamily="34" charset="-120"/>
              </a:rPr>
              <a:t>독립 운영·장애 격리</a:t>
            </a:r>
            <a:endParaRPr lang="en-US" sz="1800" dirty="0"/>
          </a:p>
        </p:txBody>
      </p:sp>
      <p:sp>
        <p:nvSpPr>
          <p:cNvPr id="24" name="Text 18"/>
          <p:cNvSpPr/>
          <p:nvPr/>
        </p:nvSpPr>
        <p:spPr>
          <a:xfrm>
            <a:off x="7726680" y="5020056"/>
            <a:ext cx="3794760" cy="868680"/>
          </a:xfrm>
          <a:prstGeom prst="rect">
            <a:avLst/>
          </a:prstGeom>
          <a:noFill/>
          <a:ln/>
        </p:spPr>
        <p:txBody>
          <a:bodyPr wrap="square" rtlCol="0" anchor="ctr"/>
          <a:lstStyle/>
          <a:p>
            <a:pPr marL="0" indent="0">
              <a:lnSpc>
                <a:spcPct val="118000"/>
              </a:lnSpc>
              <a:buNone/>
            </a:pPr>
            <a:r>
              <a:rPr lang="en-US" sz="1250" dirty="0">
                <a:solidFill>
                  <a:srgbClr val="5B6B85"/>
                </a:solidFill>
                <a:latin typeface="맑은 고딕" pitchFamily="34" charset="0"/>
                <a:ea typeface="맑은 고딕" pitchFamily="34" charset="-122"/>
                <a:cs typeface="맑은 고딕" pitchFamily="34" charset="-120"/>
              </a:rPr>
              <a:t>서비스가 분리돼 한 곳에 문제가 생겨도 전체가 멈추지 않습니다.</a:t>
            </a:r>
            <a:endParaRPr lang="en-US" sz="1250" dirty="0"/>
          </a:p>
        </p:txBody>
      </p:sp>
      <p:sp>
        <p:nvSpPr>
          <p:cNvPr id="26" name="Text 19"/>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7" name="Text 20"/>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C"/>
        </a:solidFill>
        <a:effectLst/>
      </p:bgPr>
    </p:bg>
    <p:spTree>
      <p:nvGrpSpPr>
        <p:cNvPr id="1" name=""/>
        <p:cNvGrpSpPr/>
        <p:nvPr/>
      </p:nvGrpSpPr>
      <p:grpSpPr>
        <a:xfrm>
          <a:off x="0" y="0"/>
          <a:ext cx="0" cy="0"/>
          <a:chOff x="0" y="0"/>
          <a:chExt cx="0" cy="0"/>
        </a:xfrm>
      </p:grpSpPr>
      <p:sp>
        <p:nvSpPr>
          <p:cNvPr id="2" name="Text 0"/>
          <p:cNvSpPr/>
          <p:nvPr/>
        </p:nvSpPr>
        <p:spPr>
          <a:xfrm>
            <a:off x="502920" y="457200"/>
            <a:ext cx="7315200" cy="274320"/>
          </a:xfrm>
          <a:prstGeom prst="rect">
            <a:avLst/>
          </a:prstGeom>
          <a:noFill/>
          <a:ln/>
        </p:spPr>
        <p:txBody>
          <a:bodyPr wrap="square" rtlCol="0" anchor="ctr"/>
          <a:lstStyle/>
          <a:p>
            <a:pPr marL="0" indent="0">
              <a:buNone/>
            </a:pPr>
            <a:r>
              <a:rPr lang="en-US" sz="1100" b="1" kern="0" spc="200" dirty="0">
                <a:solidFill>
                  <a:srgbClr val="2563EB"/>
                </a:solidFill>
                <a:latin typeface="맑은 고딕" pitchFamily="34" charset="0"/>
                <a:ea typeface="맑은 고딕" pitchFamily="34" charset="-122"/>
                <a:cs typeface="맑은 고딕" pitchFamily="34" charset="-120"/>
              </a:rPr>
              <a:t>BUSINESS VALUE</a:t>
            </a:r>
            <a:endParaRPr lang="en-US" sz="1100" dirty="0"/>
          </a:p>
        </p:txBody>
      </p:sp>
      <p:sp>
        <p:nvSpPr>
          <p:cNvPr id="3" name="Text 1"/>
          <p:cNvSpPr/>
          <p:nvPr/>
        </p:nvSpPr>
        <p:spPr>
          <a:xfrm>
            <a:off x="502920" y="749808"/>
            <a:ext cx="11155680" cy="658368"/>
          </a:xfrm>
          <a:prstGeom prst="rect">
            <a:avLst/>
          </a:prstGeom>
          <a:noFill/>
          <a:ln/>
        </p:spPr>
        <p:txBody>
          <a:bodyPr wrap="square" rtlCol="0" anchor="ctr"/>
          <a:lstStyle/>
          <a:p>
            <a:pPr marL="0" indent="0">
              <a:buNone/>
            </a:pPr>
            <a:r>
              <a:rPr lang="en-US" sz="3000" b="1" dirty="0">
                <a:solidFill>
                  <a:srgbClr val="1E293B"/>
                </a:solidFill>
                <a:latin typeface="맑은 고딕" pitchFamily="34" charset="0"/>
                <a:ea typeface="맑은 고딕" pitchFamily="34" charset="-122"/>
                <a:cs typeface="맑은 고딕" pitchFamily="34" charset="-120"/>
              </a:rPr>
              <a:t>회사가 얻는 실질적 효과</a:t>
            </a:r>
            <a:endParaRPr lang="en-US" sz="3000" dirty="0"/>
          </a:p>
        </p:txBody>
      </p:sp>
      <p:sp>
        <p:nvSpPr>
          <p:cNvPr id="4" name="Text 2"/>
          <p:cNvSpPr/>
          <p:nvPr/>
        </p:nvSpPr>
        <p:spPr>
          <a:xfrm>
            <a:off x="521208" y="1417320"/>
            <a:ext cx="11155680" cy="365760"/>
          </a:xfrm>
          <a:prstGeom prst="rect">
            <a:avLst/>
          </a:prstGeom>
          <a:noFill/>
          <a:ln/>
        </p:spPr>
        <p:txBody>
          <a:bodyPr wrap="square" rtlCol="0" anchor="ctr"/>
          <a:lstStyle/>
          <a:p>
            <a:pPr marL="0" indent="0">
              <a:buNone/>
            </a:pPr>
            <a:r>
              <a:rPr lang="en-US" sz="1350" dirty="0">
                <a:solidFill>
                  <a:srgbClr val="5B6B85"/>
                </a:solidFill>
                <a:latin typeface="맑은 고딕" pitchFamily="34" charset="0"/>
                <a:ea typeface="맑은 고딕" pitchFamily="34" charset="-122"/>
                <a:cs typeface="맑은 고딕" pitchFamily="34" charset="-120"/>
              </a:rPr>
              <a:t>기술적 선택이 곧 비용·품질·미래 경쟁력으로 이어집니다</a:t>
            </a:r>
            <a:endParaRPr lang="en-US" sz="1350" dirty="0"/>
          </a:p>
        </p:txBody>
      </p:sp>
      <p:sp>
        <p:nvSpPr>
          <p:cNvPr id="5" name="Shape 3"/>
          <p:cNvSpPr/>
          <p:nvPr/>
        </p:nvSpPr>
        <p:spPr>
          <a:xfrm>
            <a:off x="502920" y="2103120"/>
            <a:ext cx="3611880" cy="39319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6" name="Shape 4"/>
          <p:cNvSpPr/>
          <p:nvPr/>
        </p:nvSpPr>
        <p:spPr>
          <a:xfrm>
            <a:off x="502920" y="2103120"/>
            <a:ext cx="3611880" cy="146304"/>
          </a:xfrm>
          <a:prstGeom prst="rect">
            <a:avLst/>
          </a:prstGeom>
          <a:solidFill>
            <a:srgbClr val="1D4ED8"/>
          </a:solidFill>
          <a:ln/>
        </p:spPr>
      </p:sp>
      <p:sp>
        <p:nvSpPr>
          <p:cNvPr id="7" name="Shape 5"/>
          <p:cNvSpPr/>
          <p:nvPr/>
        </p:nvSpPr>
        <p:spPr>
          <a:xfrm>
            <a:off x="1760220" y="2514600"/>
            <a:ext cx="1097280" cy="1097280"/>
          </a:xfrm>
          <a:prstGeom prst="ellipse">
            <a:avLst/>
          </a:prstGeom>
          <a:solidFill>
            <a:srgbClr val="1D4ED8"/>
          </a:solidFill>
          <a:ln/>
        </p:spPr>
      </p:sp>
      <p:pic>
        <p:nvPicPr>
          <p:cNvPr id="8" name="Image 0" descr="preencoded.png"/>
          <p:cNvPicPr>
            <a:picLocks noChangeAspect="1"/>
          </p:cNvPicPr>
          <p:nvPr/>
        </p:nvPicPr>
        <p:blipFill>
          <a:blip r:embed="rId3"/>
          <a:stretch>
            <a:fillRect/>
          </a:stretch>
        </p:blipFill>
        <p:spPr>
          <a:xfrm>
            <a:off x="2016252" y="2770632"/>
            <a:ext cx="585216" cy="585216"/>
          </a:xfrm>
          <a:prstGeom prst="rect">
            <a:avLst/>
          </a:prstGeom>
        </p:spPr>
      </p:pic>
      <p:sp>
        <p:nvSpPr>
          <p:cNvPr id="9" name="Text 6"/>
          <p:cNvSpPr/>
          <p:nvPr/>
        </p:nvSpPr>
        <p:spPr>
          <a:xfrm>
            <a:off x="731520" y="3749040"/>
            <a:ext cx="3154680" cy="502920"/>
          </a:xfrm>
          <a:prstGeom prst="rect">
            <a:avLst/>
          </a:prstGeom>
          <a:noFill/>
          <a:ln/>
        </p:spPr>
        <p:txBody>
          <a:bodyPr wrap="square" rtlCol="0" anchor="ctr"/>
          <a:lstStyle/>
          <a:p>
            <a:pPr marL="0" indent="0" algn="ctr">
              <a:buNone/>
            </a:pPr>
            <a:r>
              <a:rPr lang="en-US" sz="2000" b="1" dirty="0">
                <a:solidFill>
                  <a:srgbClr val="1D4ED8"/>
                </a:solidFill>
                <a:latin typeface="맑은 고딕" pitchFamily="34" charset="0"/>
                <a:ea typeface="맑은 고딕" pitchFamily="34" charset="-122"/>
                <a:cs typeface="맑은 고딕" pitchFamily="34" charset="-120"/>
              </a:rPr>
              <a:t>중복 개발 제거</a:t>
            </a:r>
            <a:endParaRPr lang="en-US" sz="2000" dirty="0"/>
          </a:p>
        </p:txBody>
      </p:sp>
      <p:sp>
        <p:nvSpPr>
          <p:cNvPr id="10" name="Text 7"/>
          <p:cNvSpPr/>
          <p:nvPr/>
        </p:nvSpPr>
        <p:spPr>
          <a:xfrm>
            <a:off x="731520" y="4315968"/>
            <a:ext cx="3154680" cy="411480"/>
          </a:xfrm>
          <a:prstGeom prst="rect">
            <a:avLst/>
          </a:prstGeom>
          <a:noFill/>
          <a:ln/>
        </p:spPr>
        <p:txBody>
          <a:bodyPr wrap="square" rtlCol="0" anchor="ctr"/>
          <a:lstStyle/>
          <a:p>
            <a:pPr marL="0" indent="0" algn="ctr">
              <a:buNone/>
            </a:pPr>
            <a:r>
              <a:rPr lang="en-US" sz="1450" b="1" dirty="0">
                <a:solidFill>
                  <a:srgbClr val="1E293B"/>
                </a:solidFill>
                <a:latin typeface="맑은 고딕" pitchFamily="34" charset="0"/>
                <a:ea typeface="맑은 고딕" pitchFamily="34" charset="-122"/>
                <a:cs typeface="맑은 고딕" pitchFamily="34" charset="-120"/>
              </a:rPr>
              <a:t>개발 효율 · 비용 절감</a:t>
            </a:r>
            <a:endParaRPr lang="en-US" sz="1450" dirty="0"/>
          </a:p>
        </p:txBody>
      </p:sp>
      <p:sp>
        <p:nvSpPr>
          <p:cNvPr id="11" name="Text 8"/>
          <p:cNvSpPr/>
          <p:nvPr/>
        </p:nvSpPr>
        <p:spPr>
          <a:xfrm>
            <a:off x="822960" y="4800600"/>
            <a:ext cx="2971800" cy="1097280"/>
          </a:xfrm>
          <a:prstGeom prst="rect">
            <a:avLst/>
          </a:prstGeom>
          <a:noFill/>
          <a:ln/>
        </p:spPr>
        <p:txBody>
          <a:bodyPr wrap="square" rtlCol="0" anchor="ctr"/>
          <a:lstStyle/>
          <a:p>
            <a:pPr marL="0" indent="0" algn="ctr">
              <a:lnSpc>
                <a:spcPct val="120000"/>
              </a:lnSpc>
              <a:buNone/>
            </a:pPr>
            <a:r>
              <a:rPr lang="en-US" sz="1250" dirty="0">
                <a:solidFill>
                  <a:srgbClr val="5B6B85"/>
                </a:solidFill>
                <a:latin typeface="맑은 고딕" pitchFamily="34" charset="0"/>
                <a:ea typeface="맑은 고딕" pitchFamily="34" charset="-122"/>
                <a:cs typeface="맑은 고딕" pitchFamily="34" charset="-120"/>
              </a:rPr>
              <a:t>공통 기능을 한 번만 만들어 재사용 → 개발 시간과 인건비 절감</a:t>
            </a:r>
            <a:endParaRPr lang="en-US" sz="1250" dirty="0"/>
          </a:p>
        </p:txBody>
      </p:sp>
      <p:sp>
        <p:nvSpPr>
          <p:cNvPr id="12" name="Shape 9"/>
          <p:cNvSpPr/>
          <p:nvPr/>
        </p:nvSpPr>
        <p:spPr>
          <a:xfrm>
            <a:off x="4407408" y="2103120"/>
            <a:ext cx="3611880" cy="39319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13" name="Shape 10"/>
          <p:cNvSpPr/>
          <p:nvPr/>
        </p:nvSpPr>
        <p:spPr>
          <a:xfrm>
            <a:off x="4407408" y="2103120"/>
            <a:ext cx="3611880" cy="146304"/>
          </a:xfrm>
          <a:prstGeom prst="rect">
            <a:avLst/>
          </a:prstGeom>
          <a:solidFill>
            <a:srgbClr val="2563EB"/>
          </a:solidFill>
          <a:ln/>
        </p:spPr>
      </p:sp>
      <p:sp>
        <p:nvSpPr>
          <p:cNvPr id="14" name="Shape 11"/>
          <p:cNvSpPr/>
          <p:nvPr/>
        </p:nvSpPr>
        <p:spPr>
          <a:xfrm>
            <a:off x="5664708" y="2514600"/>
            <a:ext cx="1097280" cy="1097280"/>
          </a:xfrm>
          <a:prstGeom prst="ellipse">
            <a:avLst/>
          </a:prstGeom>
          <a:solidFill>
            <a:srgbClr val="2563EB"/>
          </a:solidFill>
          <a:ln/>
        </p:spPr>
      </p:sp>
      <p:pic>
        <p:nvPicPr>
          <p:cNvPr id="15" name="Image 1" descr="preencoded.png"/>
          <p:cNvPicPr>
            <a:picLocks noChangeAspect="1"/>
          </p:cNvPicPr>
          <p:nvPr/>
        </p:nvPicPr>
        <p:blipFill>
          <a:blip r:embed="rId4"/>
          <a:stretch>
            <a:fillRect/>
          </a:stretch>
        </p:blipFill>
        <p:spPr>
          <a:xfrm>
            <a:off x="5920740" y="2770632"/>
            <a:ext cx="585216" cy="585216"/>
          </a:xfrm>
          <a:prstGeom prst="rect">
            <a:avLst/>
          </a:prstGeom>
        </p:spPr>
      </p:pic>
      <p:sp>
        <p:nvSpPr>
          <p:cNvPr id="16" name="Text 12"/>
          <p:cNvSpPr/>
          <p:nvPr/>
        </p:nvSpPr>
        <p:spPr>
          <a:xfrm>
            <a:off x="4636008" y="3749040"/>
            <a:ext cx="3154680" cy="502920"/>
          </a:xfrm>
          <a:prstGeom prst="rect">
            <a:avLst/>
          </a:prstGeom>
          <a:noFill/>
          <a:ln/>
        </p:spPr>
        <p:txBody>
          <a:bodyPr wrap="square" rtlCol="0" anchor="ctr"/>
          <a:lstStyle/>
          <a:p>
            <a:pPr marL="0" indent="0" algn="ctr">
              <a:buNone/>
            </a:pPr>
            <a:r>
              <a:rPr lang="en-US" sz="2000" b="1" dirty="0">
                <a:solidFill>
                  <a:srgbClr val="2563EB"/>
                </a:solidFill>
                <a:latin typeface="맑은 고딕" pitchFamily="34" charset="0"/>
                <a:ea typeface="맑은 고딕" pitchFamily="34" charset="-122"/>
                <a:cs typeface="맑은 고딕" pitchFamily="34" charset="-120"/>
              </a:rPr>
              <a:t>일관된 동작</a:t>
            </a:r>
            <a:endParaRPr lang="en-US" sz="2000" dirty="0"/>
          </a:p>
        </p:txBody>
      </p:sp>
      <p:sp>
        <p:nvSpPr>
          <p:cNvPr id="17" name="Text 13"/>
          <p:cNvSpPr/>
          <p:nvPr/>
        </p:nvSpPr>
        <p:spPr>
          <a:xfrm>
            <a:off x="4636008" y="4315968"/>
            <a:ext cx="3154680" cy="411480"/>
          </a:xfrm>
          <a:prstGeom prst="rect">
            <a:avLst/>
          </a:prstGeom>
          <a:noFill/>
          <a:ln/>
        </p:spPr>
        <p:txBody>
          <a:bodyPr wrap="square" rtlCol="0" anchor="ctr"/>
          <a:lstStyle/>
          <a:p>
            <a:pPr marL="0" indent="0" algn="ctr">
              <a:buNone/>
            </a:pPr>
            <a:r>
              <a:rPr lang="en-US" sz="1450" b="1" dirty="0">
                <a:solidFill>
                  <a:srgbClr val="1E293B"/>
                </a:solidFill>
                <a:latin typeface="맑은 고딕" pitchFamily="34" charset="0"/>
                <a:ea typeface="맑은 고딕" pitchFamily="34" charset="-122"/>
                <a:cs typeface="맑은 고딕" pitchFamily="34" charset="-120"/>
              </a:rPr>
              <a:t>품질 · 표준화</a:t>
            </a:r>
            <a:endParaRPr lang="en-US" sz="1450" dirty="0"/>
          </a:p>
        </p:txBody>
      </p:sp>
      <p:sp>
        <p:nvSpPr>
          <p:cNvPr id="18" name="Text 14"/>
          <p:cNvSpPr/>
          <p:nvPr/>
        </p:nvSpPr>
        <p:spPr>
          <a:xfrm>
            <a:off x="4727448" y="4800600"/>
            <a:ext cx="2971800" cy="1097280"/>
          </a:xfrm>
          <a:prstGeom prst="rect">
            <a:avLst/>
          </a:prstGeom>
          <a:noFill/>
          <a:ln/>
        </p:spPr>
        <p:txBody>
          <a:bodyPr wrap="square" rtlCol="0" anchor="ctr"/>
          <a:lstStyle/>
          <a:p>
            <a:pPr marL="0" indent="0" algn="ctr">
              <a:lnSpc>
                <a:spcPct val="120000"/>
              </a:lnSpc>
              <a:buNone/>
            </a:pPr>
            <a:r>
              <a:rPr lang="en-US" sz="1250" dirty="0">
                <a:solidFill>
                  <a:srgbClr val="5B6B85"/>
                </a:solidFill>
                <a:latin typeface="맑은 고딕" pitchFamily="34" charset="0"/>
                <a:ea typeface="맑은 고딕" pitchFamily="34" charset="-122"/>
                <a:cs typeface="맑은 고딕" pitchFamily="34" charset="-120"/>
              </a:rPr>
              <a:t>모든 서비스가 같은 규칙으로 동작 → 오류 감소, 유지보수 용이</a:t>
            </a:r>
            <a:endParaRPr lang="en-US" sz="1250" dirty="0"/>
          </a:p>
        </p:txBody>
      </p:sp>
      <p:sp>
        <p:nvSpPr>
          <p:cNvPr id="19" name="Shape 15"/>
          <p:cNvSpPr/>
          <p:nvPr/>
        </p:nvSpPr>
        <p:spPr>
          <a:xfrm>
            <a:off x="8311896" y="2103120"/>
            <a:ext cx="3611880" cy="3931920"/>
          </a:xfrm>
          <a:prstGeom prst="rect">
            <a:avLst/>
          </a:prstGeom>
          <a:solidFill>
            <a:srgbClr val="FFFFFF"/>
          </a:solidFill>
          <a:ln w="12700">
            <a:solidFill>
              <a:srgbClr val="DBE7FB"/>
            </a:solidFill>
            <a:prstDash val="solid"/>
          </a:ln>
          <a:effectLst>
            <a:outerShdw blurRad="114300" dist="38100" dir="5400000" algn="bl" rotWithShape="0">
              <a:srgbClr val="0E1F45">
                <a:alpha val="14000"/>
              </a:srgbClr>
            </a:outerShdw>
          </a:effectLst>
        </p:spPr>
      </p:sp>
      <p:sp>
        <p:nvSpPr>
          <p:cNvPr id="20" name="Shape 16"/>
          <p:cNvSpPr/>
          <p:nvPr/>
        </p:nvSpPr>
        <p:spPr>
          <a:xfrm>
            <a:off x="8311896" y="2103120"/>
            <a:ext cx="3611880" cy="146304"/>
          </a:xfrm>
          <a:prstGeom prst="rect">
            <a:avLst/>
          </a:prstGeom>
          <a:solidFill>
            <a:srgbClr val="1B6FB0"/>
          </a:solidFill>
          <a:ln/>
        </p:spPr>
      </p:sp>
      <p:sp>
        <p:nvSpPr>
          <p:cNvPr id="21" name="Shape 17"/>
          <p:cNvSpPr/>
          <p:nvPr/>
        </p:nvSpPr>
        <p:spPr>
          <a:xfrm>
            <a:off x="9569196" y="2514600"/>
            <a:ext cx="1097280" cy="1097280"/>
          </a:xfrm>
          <a:prstGeom prst="ellipse">
            <a:avLst/>
          </a:prstGeom>
          <a:solidFill>
            <a:srgbClr val="1B6FB0"/>
          </a:solidFill>
          <a:ln/>
        </p:spPr>
      </p:sp>
      <p:pic>
        <p:nvPicPr>
          <p:cNvPr id="22" name="Image 2" descr="preencoded.png"/>
          <p:cNvPicPr>
            <a:picLocks noChangeAspect="1"/>
          </p:cNvPicPr>
          <p:nvPr/>
        </p:nvPicPr>
        <p:blipFill>
          <a:blip r:embed="rId5"/>
          <a:stretch>
            <a:fillRect/>
          </a:stretch>
        </p:blipFill>
        <p:spPr>
          <a:xfrm>
            <a:off x="9825228" y="2770632"/>
            <a:ext cx="585216" cy="585216"/>
          </a:xfrm>
          <a:prstGeom prst="rect">
            <a:avLst/>
          </a:prstGeom>
        </p:spPr>
      </p:pic>
      <p:sp>
        <p:nvSpPr>
          <p:cNvPr id="23" name="Text 18"/>
          <p:cNvSpPr/>
          <p:nvPr/>
        </p:nvSpPr>
        <p:spPr>
          <a:xfrm>
            <a:off x="8540496" y="3749040"/>
            <a:ext cx="3154680" cy="502920"/>
          </a:xfrm>
          <a:prstGeom prst="rect">
            <a:avLst/>
          </a:prstGeom>
          <a:noFill/>
          <a:ln/>
        </p:spPr>
        <p:txBody>
          <a:bodyPr wrap="square" rtlCol="0" anchor="ctr"/>
          <a:lstStyle/>
          <a:p>
            <a:pPr marL="0" indent="0" algn="ctr">
              <a:buNone/>
            </a:pPr>
            <a:r>
              <a:rPr lang="en-US" sz="2000" b="1" dirty="0">
                <a:solidFill>
                  <a:srgbClr val="1B6FB0"/>
                </a:solidFill>
                <a:latin typeface="맑은 고딕" pitchFamily="34" charset="0"/>
                <a:ea typeface="맑은 고딕" pitchFamily="34" charset="-122"/>
                <a:cs typeface="맑은 고딕" pitchFamily="34" charset="-120"/>
              </a:rPr>
              <a:t>유연한 성장</a:t>
            </a:r>
            <a:endParaRPr lang="en-US" sz="2000" dirty="0"/>
          </a:p>
        </p:txBody>
      </p:sp>
      <p:sp>
        <p:nvSpPr>
          <p:cNvPr id="24" name="Text 19"/>
          <p:cNvSpPr/>
          <p:nvPr/>
        </p:nvSpPr>
        <p:spPr>
          <a:xfrm>
            <a:off x="8540496" y="4315968"/>
            <a:ext cx="3154680" cy="411480"/>
          </a:xfrm>
          <a:prstGeom prst="rect">
            <a:avLst/>
          </a:prstGeom>
          <a:noFill/>
          <a:ln/>
        </p:spPr>
        <p:txBody>
          <a:bodyPr wrap="square" rtlCol="0" anchor="ctr"/>
          <a:lstStyle/>
          <a:p>
            <a:pPr marL="0" indent="0" algn="ctr">
              <a:buNone/>
            </a:pPr>
            <a:r>
              <a:rPr lang="en-US" sz="1450" b="1" dirty="0">
                <a:solidFill>
                  <a:srgbClr val="1E293B"/>
                </a:solidFill>
                <a:latin typeface="맑은 고딕" pitchFamily="34" charset="0"/>
                <a:ea typeface="맑은 고딕" pitchFamily="34" charset="-122"/>
                <a:cs typeface="맑은 고딕" pitchFamily="34" charset="-120"/>
              </a:rPr>
              <a:t>확장성 · 미래 대응</a:t>
            </a:r>
            <a:endParaRPr lang="en-US" sz="1450" dirty="0"/>
          </a:p>
        </p:txBody>
      </p:sp>
      <p:sp>
        <p:nvSpPr>
          <p:cNvPr id="25" name="Text 20"/>
          <p:cNvSpPr/>
          <p:nvPr/>
        </p:nvSpPr>
        <p:spPr>
          <a:xfrm>
            <a:off x="8631936" y="4800600"/>
            <a:ext cx="2971800" cy="1097280"/>
          </a:xfrm>
          <a:prstGeom prst="rect">
            <a:avLst/>
          </a:prstGeom>
          <a:noFill/>
          <a:ln/>
        </p:spPr>
        <p:txBody>
          <a:bodyPr wrap="square" rtlCol="0" anchor="ctr"/>
          <a:lstStyle/>
          <a:p>
            <a:pPr marL="0" indent="0" algn="ctr">
              <a:lnSpc>
                <a:spcPct val="120000"/>
              </a:lnSpc>
              <a:buNone/>
            </a:pPr>
            <a:r>
              <a:rPr lang="en-US" sz="1250" dirty="0">
                <a:solidFill>
                  <a:srgbClr val="5B6B85"/>
                </a:solidFill>
                <a:latin typeface="맑은 고딕" pitchFamily="34" charset="0"/>
                <a:ea typeface="맑은 고딕" pitchFamily="34" charset="-122"/>
                <a:cs typeface="맑은 고딕" pitchFamily="34" charset="-120"/>
              </a:rPr>
              <a:t>새 업무를 모듈 추가로 빠르게 흡수 → 사업 변화에 신속 대응</a:t>
            </a:r>
            <a:endParaRPr lang="en-US" sz="1250" dirty="0"/>
          </a:p>
        </p:txBody>
      </p:sp>
      <p:sp>
        <p:nvSpPr>
          <p:cNvPr id="27" name="Text 21"/>
          <p:cNvSpPr/>
          <p:nvPr/>
        </p:nvSpPr>
        <p:spPr>
          <a:xfrm>
            <a:off x="502920" y="6473952"/>
            <a:ext cx="7315200" cy="274320"/>
          </a:xfrm>
          <a:prstGeom prst="rect">
            <a:avLst/>
          </a:prstGeom>
          <a:noFill/>
          <a:ln/>
        </p:spPr>
        <p:txBody>
          <a:bodyPr wrap="square" rtlCol="0" anchor="ctr"/>
          <a:lstStyle/>
          <a:p>
            <a:pPr marL="0" indent="0" algn="l">
              <a:buNone/>
            </a:pPr>
            <a:r>
              <a:rPr lang="en-US" sz="900" dirty="0">
                <a:solidFill>
                  <a:srgbClr val="5B6B85"/>
                </a:solidFill>
                <a:latin typeface="맑은 고딕" pitchFamily="34" charset="0"/>
                <a:ea typeface="맑은 고딕" pitchFamily="34" charset="-122"/>
                <a:cs typeface="맑은 고딕" pitchFamily="34" charset="-120"/>
              </a:rPr>
              <a:t>VIMS 프레임워크 · Core 기반 시스템</a:t>
            </a:r>
            <a:endParaRPr lang="en-US" sz="900" dirty="0"/>
          </a:p>
        </p:txBody>
      </p:sp>
      <p:sp>
        <p:nvSpPr>
          <p:cNvPr id="28" name="Text 22"/>
          <p:cNvSpPr/>
          <p:nvPr/>
        </p:nvSpPr>
        <p:spPr>
          <a:xfrm>
            <a:off x="11064240" y="6473952"/>
            <a:ext cx="594360" cy="274320"/>
          </a:xfrm>
          <a:prstGeom prst="rect">
            <a:avLst/>
          </a:prstGeom>
          <a:noFill/>
          <a:ln/>
        </p:spPr>
        <p:txBody>
          <a:bodyPr wrap="square" rtlCol="0" anchor="ctr"/>
          <a:lstStyle/>
          <a:p>
            <a:pPr marL="0" indent="0" algn="r">
              <a:buNone/>
            </a:pPr>
            <a:r>
              <a:rPr lang="en-US" sz="900" dirty="0">
                <a:solidFill>
                  <a:srgbClr val="5B6B85"/>
                </a:solidFill>
                <a:latin typeface="맑은 고딕" pitchFamily="34" charset="0"/>
                <a:ea typeface="맑은 고딕" pitchFamily="34" charset="-122"/>
                <a:cs typeface="맑은 고딕"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F45"/>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4264F"/>
          </a:solidFill>
          <a:ln/>
        </p:spPr>
      </p:sp>
      <p:sp>
        <p:nvSpPr>
          <p:cNvPr id="3" name="Shape 1"/>
          <p:cNvSpPr/>
          <p:nvPr/>
        </p:nvSpPr>
        <p:spPr>
          <a:xfrm>
            <a:off x="9601200" y="3657600"/>
            <a:ext cx="4572000" cy="4572000"/>
          </a:xfrm>
          <a:prstGeom prst="ellipse">
            <a:avLst/>
          </a:prstGeom>
          <a:solidFill>
            <a:srgbClr val="1D4ED8">
              <a:alpha val="20000"/>
            </a:srgbClr>
          </a:solidFill>
          <a:ln/>
        </p:spPr>
      </p:sp>
      <p:sp>
        <p:nvSpPr>
          <p:cNvPr id="4" name="Shape 2"/>
          <p:cNvSpPr/>
          <p:nvPr/>
        </p:nvSpPr>
        <p:spPr>
          <a:xfrm>
            <a:off x="548640" y="1691640"/>
            <a:ext cx="566928" cy="91440"/>
          </a:xfrm>
          <a:prstGeom prst="rect">
            <a:avLst/>
          </a:prstGeom>
          <a:solidFill>
            <a:srgbClr val="F4B740"/>
          </a:solidFill>
          <a:ln/>
        </p:spPr>
      </p:sp>
      <p:sp>
        <p:nvSpPr>
          <p:cNvPr id="5" name="Text 3"/>
          <p:cNvSpPr/>
          <p:nvPr/>
        </p:nvSpPr>
        <p:spPr>
          <a:xfrm>
            <a:off x="548640" y="1188720"/>
            <a:ext cx="5486400" cy="365760"/>
          </a:xfrm>
          <a:prstGeom prst="rect">
            <a:avLst/>
          </a:prstGeom>
          <a:noFill/>
          <a:ln/>
        </p:spPr>
        <p:txBody>
          <a:bodyPr wrap="square" rtlCol="0" anchor="ctr"/>
          <a:lstStyle/>
          <a:p>
            <a:pPr marL="0" indent="0">
              <a:buNone/>
            </a:pPr>
            <a:r>
              <a:rPr lang="en-US" sz="1300" b="1" kern="0" spc="200" dirty="0">
                <a:solidFill>
                  <a:srgbClr val="3B82F6"/>
                </a:solidFill>
                <a:latin typeface="맑은 고딕" pitchFamily="34" charset="0"/>
                <a:ea typeface="맑은 고딕" pitchFamily="34" charset="-122"/>
                <a:cs typeface="맑은 고딕" pitchFamily="34" charset="-120"/>
              </a:rPr>
              <a:t>정리하며</a:t>
            </a:r>
            <a:endParaRPr lang="en-US" sz="1300" dirty="0"/>
          </a:p>
        </p:txBody>
      </p:sp>
      <p:sp>
        <p:nvSpPr>
          <p:cNvPr id="6" name="Text 4"/>
          <p:cNvSpPr/>
          <p:nvPr/>
        </p:nvSpPr>
        <p:spPr>
          <a:xfrm>
            <a:off x="548640" y="1874520"/>
            <a:ext cx="10972800" cy="1554480"/>
          </a:xfrm>
          <a:prstGeom prst="rect">
            <a:avLst/>
          </a:prstGeom>
          <a:noFill/>
          <a:ln/>
        </p:spPr>
        <p:txBody>
          <a:bodyPr wrap="square" rtlCol="0" anchor="ctr"/>
          <a:lstStyle/>
          <a:p>
            <a:pPr marL="0" indent="0">
              <a:lnSpc>
                <a:spcPct val="110000"/>
              </a:lnSpc>
              <a:buNone/>
            </a:pPr>
            <a:r>
              <a:rPr lang="en-US" sz="3800" b="1" dirty="0">
                <a:solidFill>
                  <a:srgbClr val="FFFFFF"/>
                </a:solidFill>
                <a:latin typeface="맑은 고딕" pitchFamily="34" charset="0"/>
                <a:ea typeface="맑은 고딕" pitchFamily="34" charset="-122"/>
                <a:cs typeface="맑은 고딕" pitchFamily="34" charset="-120"/>
              </a:rPr>
              <a:t>하나의 토대로,
</a:t>
            </a:r>
            <a:r>
              <a:rPr lang="en-US" sz="3800" b="1" dirty="0">
                <a:solidFill>
                  <a:srgbClr val="F4B740"/>
                </a:solidFill>
                <a:latin typeface="맑은 고딕" pitchFamily="34" charset="0"/>
                <a:ea typeface="맑은 고딕" pitchFamily="34" charset="-122"/>
                <a:cs typeface="맑은 고딕" pitchFamily="34" charset="-120"/>
              </a:rPr>
              <a:t>더 빠르고 · 안전하고 · 멀리</a:t>
            </a:r>
            <a:endParaRPr lang="en-US" sz="3800" dirty="0"/>
          </a:p>
        </p:txBody>
      </p:sp>
      <p:sp>
        <p:nvSpPr>
          <p:cNvPr id="7" name="Text 5"/>
          <p:cNvSpPr/>
          <p:nvPr/>
        </p:nvSpPr>
        <p:spPr>
          <a:xfrm>
            <a:off x="548640" y="3611880"/>
            <a:ext cx="10607040" cy="1280160"/>
          </a:xfrm>
          <a:prstGeom prst="rect">
            <a:avLst/>
          </a:prstGeom>
          <a:noFill/>
          <a:ln/>
        </p:spPr>
        <p:txBody>
          <a:bodyPr wrap="square" rtlCol="0" anchor="ctr"/>
          <a:lstStyle/>
          <a:p>
            <a:pPr marL="0" indent="0">
              <a:lnSpc>
                <a:spcPct val="135000"/>
              </a:lnSpc>
              <a:buNone/>
            </a:pPr>
            <a:r>
              <a:rPr lang="en-US" sz="1500" dirty="0">
                <a:solidFill>
                  <a:srgbClr val="DBE7FB"/>
                </a:solidFill>
                <a:latin typeface="맑은 고딕" pitchFamily="34" charset="0"/>
                <a:ea typeface="맑은 고딕" pitchFamily="34" charset="-122"/>
                <a:cs typeface="맑은 고딕" pitchFamily="34" charset="-120"/>
              </a:rPr>
              <a:t>VIMS 프레임워크는 Core라는 공용 토대 위에 업무 서비스를 쌓는 구조입니다. 보안과 공통 기능은 한 번만 만들어 모두가 함께 쓰고, 새로운 업무는 모듈 추가만으로 흡수합니다. 이는 곧 더 낮은 비용, 더 높은 품질, 그리고 더 유연한 성장으로 이어집니다.</a:t>
            </a:r>
            <a:endParaRPr lang="en-US" sz="1500" dirty="0"/>
          </a:p>
        </p:txBody>
      </p:sp>
      <p:sp>
        <p:nvSpPr>
          <p:cNvPr id="8" name="Shape 6"/>
          <p:cNvSpPr/>
          <p:nvPr/>
        </p:nvSpPr>
        <p:spPr>
          <a:xfrm>
            <a:off x="548640" y="5212080"/>
            <a:ext cx="2377440" cy="457200"/>
          </a:xfrm>
          <a:prstGeom prst="roundRect">
            <a:avLst>
              <a:gd name="adj" fmla="val 50000"/>
            </a:avLst>
          </a:prstGeom>
          <a:solidFill>
            <a:srgbClr val="14264F"/>
          </a:solidFill>
          <a:ln w="12700">
            <a:solidFill>
              <a:srgbClr val="3B82F6"/>
            </a:solidFill>
            <a:prstDash val="solid"/>
          </a:ln>
        </p:spPr>
      </p:sp>
      <p:sp>
        <p:nvSpPr>
          <p:cNvPr id="9" name="Text 7"/>
          <p:cNvSpPr/>
          <p:nvPr/>
        </p:nvSpPr>
        <p:spPr>
          <a:xfrm>
            <a:off x="548640" y="5212080"/>
            <a:ext cx="237744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개발 효율·비용 절감</a:t>
            </a:r>
            <a:endParaRPr lang="en-US" sz="1200" dirty="0"/>
          </a:p>
        </p:txBody>
      </p:sp>
      <p:sp>
        <p:nvSpPr>
          <p:cNvPr id="10" name="Shape 8"/>
          <p:cNvSpPr/>
          <p:nvPr/>
        </p:nvSpPr>
        <p:spPr>
          <a:xfrm>
            <a:off x="3127248" y="5212080"/>
            <a:ext cx="1463040" cy="457200"/>
          </a:xfrm>
          <a:prstGeom prst="roundRect">
            <a:avLst>
              <a:gd name="adj" fmla="val 50000"/>
            </a:avLst>
          </a:prstGeom>
          <a:solidFill>
            <a:srgbClr val="14264F"/>
          </a:solidFill>
          <a:ln w="12700">
            <a:solidFill>
              <a:srgbClr val="3B82F6"/>
            </a:solidFill>
            <a:prstDash val="solid"/>
          </a:ln>
        </p:spPr>
      </p:sp>
      <p:sp>
        <p:nvSpPr>
          <p:cNvPr id="11" name="Text 9"/>
          <p:cNvSpPr/>
          <p:nvPr/>
        </p:nvSpPr>
        <p:spPr>
          <a:xfrm>
            <a:off x="3127248" y="5212080"/>
            <a:ext cx="146304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보안·안정성</a:t>
            </a:r>
            <a:endParaRPr lang="en-US" sz="1200" dirty="0"/>
          </a:p>
        </p:txBody>
      </p:sp>
      <p:sp>
        <p:nvSpPr>
          <p:cNvPr id="12" name="Shape 10"/>
          <p:cNvSpPr/>
          <p:nvPr/>
        </p:nvSpPr>
        <p:spPr>
          <a:xfrm>
            <a:off x="4791456" y="5212080"/>
            <a:ext cx="1463040" cy="457200"/>
          </a:xfrm>
          <a:prstGeom prst="roundRect">
            <a:avLst>
              <a:gd name="adj" fmla="val 50000"/>
            </a:avLst>
          </a:prstGeom>
          <a:solidFill>
            <a:srgbClr val="14264F"/>
          </a:solidFill>
          <a:ln w="12700">
            <a:solidFill>
              <a:srgbClr val="3B82F6"/>
            </a:solidFill>
            <a:prstDash val="solid"/>
          </a:ln>
        </p:spPr>
      </p:sp>
      <p:sp>
        <p:nvSpPr>
          <p:cNvPr id="13" name="Text 11"/>
          <p:cNvSpPr/>
          <p:nvPr/>
        </p:nvSpPr>
        <p:spPr>
          <a:xfrm>
            <a:off x="4791456" y="5212080"/>
            <a:ext cx="146304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품질·표준화</a:t>
            </a:r>
            <a:endParaRPr lang="en-US" sz="1200" dirty="0"/>
          </a:p>
        </p:txBody>
      </p:sp>
      <p:sp>
        <p:nvSpPr>
          <p:cNvPr id="14" name="Shape 12"/>
          <p:cNvSpPr/>
          <p:nvPr/>
        </p:nvSpPr>
        <p:spPr>
          <a:xfrm>
            <a:off x="6455664" y="5212080"/>
            <a:ext cx="2011680" cy="457200"/>
          </a:xfrm>
          <a:prstGeom prst="roundRect">
            <a:avLst>
              <a:gd name="adj" fmla="val 50000"/>
            </a:avLst>
          </a:prstGeom>
          <a:solidFill>
            <a:srgbClr val="14264F"/>
          </a:solidFill>
          <a:ln w="12700">
            <a:solidFill>
              <a:srgbClr val="3B82F6"/>
            </a:solidFill>
            <a:prstDash val="solid"/>
          </a:ln>
        </p:spPr>
      </p:sp>
      <p:sp>
        <p:nvSpPr>
          <p:cNvPr id="15" name="Text 13"/>
          <p:cNvSpPr/>
          <p:nvPr/>
        </p:nvSpPr>
        <p:spPr>
          <a:xfrm>
            <a:off x="6455664" y="5212080"/>
            <a:ext cx="2011680" cy="457200"/>
          </a:xfrm>
          <a:prstGeom prst="rect">
            <a:avLst/>
          </a:prstGeom>
          <a:noFill/>
          <a:ln/>
        </p:spPr>
        <p:txBody>
          <a:bodyPr wrap="square" rtlCol="0" anchor="ctr"/>
          <a:lstStyle/>
          <a:p>
            <a:pPr marL="0" indent="0" algn="ctr">
              <a:buNone/>
            </a:pPr>
            <a:r>
              <a:rPr lang="en-US" sz="1200" dirty="0">
                <a:solidFill>
                  <a:srgbClr val="DBE7FB"/>
                </a:solidFill>
                <a:latin typeface="맑은 고딕" pitchFamily="34" charset="0"/>
                <a:ea typeface="맑은 고딕" pitchFamily="34" charset="-122"/>
                <a:cs typeface="맑은 고딕" pitchFamily="34" charset="-120"/>
              </a:rPr>
              <a:t>확장성·미래 대응</a:t>
            </a:r>
            <a:endParaRPr lang="en-US" sz="1200" dirty="0"/>
          </a:p>
        </p:txBody>
      </p:sp>
      <p:sp>
        <p:nvSpPr>
          <p:cNvPr id="16" name="Text 14"/>
          <p:cNvSpPr/>
          <p:nvPr/>
        </p:nvSpPr>
        <p:spPr>
          <a:xfrm>
            <a:off x="548640" y="5989320"/>
            <a:ext cx="7315200" cy="457200"/>
          </a:xfrm>
          <a:prstGeom prst="rect">
            <a:avLst/>
          </a:prstGeom>
          <a:noFill/>
          <a:ln/>
        </p:spPr>
        <p:txBody>
          <a:bodyPr wrap="square" rtlCol="0" anchor="ctr"/>
          <a:lstStyle/>
          <a:p>
            <a:pPr marL="0" indent="0">
              <a:buNone/>
            </a:pPr>
            <a:r>
              <a:rPr lang="en-US" sz="1800" b="1" dirty="0">
                <a:solidFill>
                  <a:srgbClr val="FFFFFF"/>
                </a:solidFill>
                <a:latin typeface="맑은 고딕" pitchFamily="34" charset="0"/>
                <a:ea typeface="맑은 고딕" pitchFamily="34" charset="-122"/>
                <a:cs typeface="맑은 고딕" pitchFamily="34" charset="-120"/>
              </a:rPr>
              <a:t>감사합니다.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2339</Words>
  <Application>Microsoft Macintosh PowerPoint</Application>
  <PresentationFormat>와이드스크린</PresentationFormat>
  <Paragraphs>287</Paragraphs>
  <Slides>15</Slides>
  <Notes>15</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15</vt:i4>
      </vt:variant>
    </vt:vector>
  </HeadingPairs>
  <TitlesOfParts>
    <vt:vector size="20" baseType="lpstr">
      <vt:lpstr>맑은 고딕</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VIMS 프레임워크 소개</dc:title>
  <dc:subject>PptxGenJS Presentation</dc:subject>
  <dc:creator>VIMS Team</dc:creator>
  <cp:lastModifiedBy>Microsoft Office User</cp:lastModifiedBy>
  <cp:revision>1</cp:revision>
  <dcterms:created xsi:type="dcterms:W3CDTF">2026-06-16T05:37:08Z</dcterms:created>
  <dcterms:modified xsi:type="dcterms:W3CDTF">2026-06-16T05:39:06Z</dcterms:modified>
</cp:coreProperties>
</file>